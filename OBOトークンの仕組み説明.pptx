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OBO(On-Behalf-Of)フローの全体像を8枚で説明します。多段API構成で、中間APIがユーザーの権限のまま下流APIを呼ぶための、Entra IDのトークン交換の仕組みです。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3つのアプローチの比較。トークン中継はaudience不一致で動かず、セキュリティ的にもNG。app-onlyはユーザーコンテキストが失われる。OBOだけが「ユーザーの代理」を維持できます。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4者間のシーケンス。ポイントは②③:API AがトークンAを『証拠』としてEntra IDに提出し、検証を経て下流あてのトークンBを受け取ります。クライアントはこの交換を意識しません。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交換リクエストの実体は/tokenへの単純なPOST。grant_typeはjwt-bearer、assertionに受け取ったトークンA、requested_token_use=on_behalf_ofの3点セットが核。API A自身の資格情報も必要で、機密クライアント限定です。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トークンBはユーザーの身元(oid/sub)をそのまま引き継ぎ、あて先とスコープだけが変わる。これがOBOの本質。委任スコープのみでアプリロールは載らないため、ユーザーの権限を超えることはありません。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OBOで最もハマるのが同意。交換時にはユーザーがいないため同意画面を出せず、事前設計が必須。管理者同意・結合同意・事前承認の3つの選択肢を紹介します。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実装で踏みやすい制約4つ+細かい落とし穴。特に『トークンBをクライアントへ返さない』はセキュリティレビューで必ず見るポイント。条件付きアクセスのclaimsチャレンジ伝搬も設計に入れておくこと。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まとめ。概念は『同じユーザーのままあて先を変える交換』の一言。実装は各言語のMSAL系ライブラリが吸収してくれるので、手でPOSTを組む必要はほぼありません。キャッシュ構成だけ忘れずに。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MICROSOFT ENTRA ID  /  OAUTH 2.0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OBO トークンの仕組み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2128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On-Behalf-Of フロー — 中間 API が「ユーザーの代理」で下流 API を呼ぶ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39776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213154"/>
          </a:solidFill>
          <a:ln w="12700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10328" y="39776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213154"/>
          </a:solidFill>
          <a:ln w="12700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A(中間層)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22792" y="39776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213154"/>
          </a:solidFill>
          <a:ln w="12700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B(下流)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1880" y="4366260"/>
            <a:ext cx="1252728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33488" y="4366260"/>
            <a:ext cx="1243584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630168" y="3520440"/>
            <a:ext cx="1207008" cy="329184"/>
          </a:xfrm>
          <a:prstGeom prst="roundRect">
            <a:avLst>
              <a:gd name="adj" fmla="val 45455"/>
            </a:avLst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 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51776" y="3520440"/>
            <a:ext cx="1207008" cy="329184"/>
          </a:xfrm>
          <a:prstGeom prst="roundRect">
            <a:avLst>
              <a:gd name="adj" fmla="val 45455"/>
            </a:avLst>
          </a:prstGeom>
          <a:solidFill>
            <a:srgbClr val="0E8A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 A</a:t>
            </a:r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 </a:t>
            </a:r>
            <a:pPr algn="ctr" indent="0" marL="0">
              <a:buNone/>
            </a:pPr>
            <a:r>
              <a:rPr lang="en-US" sz="1500" b="1" dirty="0">
                <a:solidFill>
                  <a:srgbClr val="0E8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 B</a:t>
            </a:r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に交換する仕組みが OBO (On-Behalf-Of)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エンジニア向け技術解説  |  2026年7月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課題:中間 API は「誰として」下流を呼ぶのか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例:SPA / モバイル → 自社 Web API(中間層)→ Microsoft Graph。中間層は「操作しているユーザー本人」の権限でメールや予定表にアクセスしたい。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C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93392"/>
            <a:ext cx="420624" cy="420624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93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案1:トークンを中継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633472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クライアントから受け取ったトークン A をそのまま下流へ転送する。aud が API A あてのため下流は拒否。仮に通しても、条件付きアクセスやトークンバインディングを迂回する危険な設計。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4256" y="17373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C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08576" y="1993392"/>
            <a:ext cx="420624" cy="420624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57216" y="1993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案2:アプリ権限で呼ぶ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08576" y="2633472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client credentials でアプリ自身(app-only)のトークンを取得する。動作はするが「誰の操作か」が消え、全ユーザーのデータに届く過剰権限になりがち。最小権限・監査の面で不適。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28432" y="17373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02752" y="1993392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51392" y="1993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OBO:代理で交換する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02752" y="2633472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 A を assertion として Entra ID に提出し、下流あてのトークン B に交換。ユーザーのアイデンティティと委任スコープを維持したまま、中間 API が下流を呼べる。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7667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OBO は OAuth 2.0 Token Exchange の Entra ID 実装。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鍵は「手元のトークン A を証拠として、あて先の異なる新しいトークン B を得る」こと。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シーケンス:トークン交換の流れ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1623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783080" y="1572768"/>
            <a:ext cx="0" cy="4709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566160" y="1024128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1623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A(中間層)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709160" y="1572768"/>
            <a:ext cx="0" cy="4709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92240" y="1024128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EEF2F8"/>
          </a:solidFill>
          <a:ln w="15875">
            <a:solidFill>
              <a:srgbClr val="1623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Entra ID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635240" y="1572768"/>
            <a:ext cx="0" cy="4709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418320" y="1024128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1623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B(下流)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561320" y="1572768"/>
            <a:ext cx="0" cy="4709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783080" y="2331720"/>
            <a:ext cx="2926080" cy="0"/>
          </a:xfrm>
          <a:prstGeom prst="line">
            <a:avLst/>
          </a:prstGeom>
          <a:noFill/>
          <a:ln w="25400">
            <a:solidFill>
              <a:srgbClr val="16233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874520" y="19293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</a:t>
            </a:r>
            <a:pPr algn="ctr" indent="0" marL="0">
              <a:buNone/>
            </a:pPr>
            <a:r>
              <a:rPr lang="en-US" sz="1250" b="1" dirty="0">
                <a:solidFill>
                  <a:srgbClr val="B97A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 A</a:t>
            </a:r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を添えて呼び出し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3154680"/>
            <a:ext cx="2926080" cy="0"/>
          </a:xfrm>
          <a:prstGeom prst="line">
            <a:avLst/>
          </a:prstGeom>
          <a:noFill/>
          <a:ln w="25400">
            <a:solidFill>
              <a:srgbClr val="16233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800600" y="27523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</a:t>
            </a:r>
            <a:pPr algn="ctr" indent="0" marL="0">
              <a:buNone/>
            </a:pPr>
            <a:r>
              <a:rPr lang="en-US" sz="1250" b="1" dirty="0">
                <a:solidFill>
                  <a:srgbClr val="B97A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 A</a:t>
            </a:r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+ 自身の資格情報で交換を要求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09160" y="3977640"/>
            <a:ext cx="2926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16" name="Text 14"/>
          <p:cNvSpPr/>
          <p:nvPr/>
        </p:nvSpPr>
        <p:spPr>
          <a:xfrm>
            <a:off x="4800600" y="35753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検証して </a:t>
            </a:r>
            <a:pPr algn="ctr" indent="0" marL="0">
              <a:buNone/>
            </a:pPr>
            <a:r>
              <a:rPr lang="en-US" sz="1250" b="1" dirty="0">
                <a:solidFill>
                  <a:srgbClr val="0E8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 B</a:t>
            </a:r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を発行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4800600"/>
            <a:ext cx="5852160" cy="0"/>
          </a:xfrm>
          <a:prstGeom prst="line">
            <a:avLst/>
          </a:prstGeom>
          <a:noFill/>
          <a:ln w="25400">
            <a:solidFill>
              <a:srgbClr val="16233F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800600" y="439826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</a:t>
            </a:r>
            <a:pPr algn="ctr" indent="0" marL="0">
              <a:buNone/>
            </a:pPr>
            <a:r>
              <a:rPr lang="en-US" sz="1250" b="1" dirty="0">
                <a:solidFill>
                  <a:srgbClr val="0E8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Bearer トークン B</a:t>
            </a:r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で下流 API を呼び出す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783080" y="5623560"/>
            <a:ext cx="87782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20" name="Text 18"/>
          <p:cNvSpPr/>
          <p:nvPr/>
        </p:nvSpPr>
        <p:spPr>
          <a:xfrm>
            <a:off x="1874520" y="522122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応答がクライアントまで返る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006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requested_token_use=on_behalf_of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3825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のリクエストの中身は次のスライドで詳しく見る →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トークン要求:/token エンドポイントへの POST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035040" cy="4892040"/>
          </a:xfrm>
          <a:prstGeom prst="roundRect">
            <a:avLst>
              <a:gd name="adj" fmla="val 2243"/>
            </a:avLst>
          </a:prstGeom>
          <a:solidFill>
            <a:srgbClr val="16233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/{tenant}/oauth2/v2.0/token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login.microsoftonline.com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application/x-www-form-urlencoded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grant_type=urn:ietf:params:oauth: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grant-type:jwt-bearer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&amp;client_id=&lt;api-a-client-id&gt;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&amp;client_secret=&lt;api-a-secret&gt;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&amp;assertion=&lt;token-A&gt;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&amp;scope=https://graph.microsoft.com/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User.Read offline_access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&amp;requested_token_use=on_behalf_of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--&gt; 200 OK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7FC9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access_token: &lt;token-B&gt;,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C9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expires_in, refresh_token? 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9516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grant_type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95160" y="1655064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固定値 jwt-bearer。「JWT を根拠にトークンを求める」の意。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95160" y="2176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7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95160" y="2459736"/>
            <a:ext cx="4572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クライアントから受け取ったトークン A。「ユーザーの代理」であることの証拠。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951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7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requested_token_use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95160" y="3483864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on_behalf_of を指定し、OBO フローであることを明示。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95160" y="4005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95160" y="4288536"/>
            <a:ext cx="4572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下流 API の委任スコープ(例: User.Read)。/.default も可(個別スコープとの併記は不可)。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client_secret / client_assertion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95160" y="5312664"/>
            <a:ext cx="4572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A 自身の資格情報。機密クライアントであることが必須(証明書なら client_assertion)。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何が変わり、何が引き継がれるのか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480560" cy="283464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C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1417320" cy="384048"/>
          </a:xfrm>
          <a:prstGeom prst="roundRect">
            <a:avLst>
              <a:gd name="adj" fmla="val 45455"/>
            </a:avLst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68880" y="1645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 → API A あて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3931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450592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B97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aud:   api://api-a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B97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scp:   access_as_user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oid:   3f2e...9a1b (ユーザー)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appid: クライアントの ID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068312" y="1371600"/>
            <a:ext cx="4480560" cy="283464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C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42632" y="1645920"/>
            <a:ext cx="1417320" cy="384048"/>
          </a:xfrm>
          <a:prstGeom prst="roundRect">
            <a:avLst>
              <a:gd name="adj" fmla="val 45455"/>
            </a:avLst>
          </a:prstGeom>
          <a:solidFill>
            <a:srgbClr val="0E8A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 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97112" y="1645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A → 下流 API あて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42632" y="2286000"/>
            <a:ext cx="3931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71232" y="2450592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E8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aud:   graph.microsoft.com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E8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scp:   User.Read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oid:   3f2e...9a1b (同じ!)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appid: API A の ID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57800" y="2404872"/>
            <a:ext cx="1673352" cy="777240"/>
          </a:xfrm>
          <a:prstGeom prst="rightArrow">
            <a:avLst/>
          </a:prstGeom>
          <a:solidFill>
            <a:srgbClr val="1623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交換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3273552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Entra ID が検証して発行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10908792" cy="1234440"/>
          </a:xfrm>
          <a:prstGeom prst="roundRect">
            <a:avLst>
              <a:gd name="adj" fmla="val 8889"/>
            </a:avLst>
          </a:prstGeom>
          <a:solidFill>
            <a:srgbClr val="EEF2F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7375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引き継がれる: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ユーザーのアイデンティティ(oid / sub / upn)と委任の文脈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変わる: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aud・scp・appid。付与されるのは委任スコープのみ — アプリロール(roles)は OBO では取得できない。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同意(Consent)の設計 — 交換時に同意画面は出せない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トークン交換はユーザー不在のサーバー間通信。クライアント→API A、API A→下流 API の 2 段分の同意が事前に揃っている必要がある。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783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管理者同意で静的に付与する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21945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テナント管理者が 2 段分のアクセス許可をまとめて事前承認する。社内システムなどエンタープライズ構成の定石。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308152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結合同意:/.default + knownClientApplications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49300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A のマニフェストにクライアントを登録し、サインイン時に scope=api://api-a/.default を要求すると、初回の同意画面で 2 段分をまとめて取得できる。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471416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437997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preAuthorizedApplications で事前承認する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4791456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下流 API 側のマニフェストでクライアントを事前承認し、そのスコープに関する同意プロンプト自体を不要にする。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7150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BEEE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81558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scope に /.default と個別スコープは併記できない(AADSTS70011)。同意が欠けたまま交換すると invalid_grant / consent_required で失敗する。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制約と落とし穴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C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8132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4447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app-only トークンは交換できない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71600" y="193852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assertion に使えるのはユーザーのトークンのみ。バッチ処理などアプリとして呼ぶ場合は client credentials フローを使う。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C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48132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03720" y="14447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 B をクライアントへ返さない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03720" y="193852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 B は中間層の中で使い切る。クライアントに返すと、条件付きアクセスやトークンバインディングを迂回してしまう。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44728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41071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条件付きアクセスは交換時に発火する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71600" y="390448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MFA 要求などで interaction_required(例: AADSTS50079)が返ったら、claims を添えた 401 でクライアントに再認証を促す。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2461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/>
          <a:effectLst>
            <a:outerShdw sx="100000" sy="100000" kx="0" ky="0" algn="bl" rotWithShape="0" blurRad="76200" dist="25400" dir="5400000">
              <a:srgbClr val="9AA7BC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344728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341071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機密クライアントのみ利用可能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03720" y="390448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A はシークレット / 証明書を保持できる機密クライアントであること。SPA が暗黙フローで得たトークンは OBO に使えない。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10927080" cy="1005840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422392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ワイルドカード Reply URL のアプリでは id_token を assertion にできない / 中間 API がカスタム署名鍵を使うと下流でトークンを検証できない / 長時間処理には long-running OBO セッションを検討する。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OBO は「受け取ったトークン A を証拠(assertion)に、同じユーザーのまま、あて先だけ変えたトークン B を得る」仕組み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実装の鍵は requested_token_use=on_behalf_of と、交換時に同意画面を出せない前提での事前の同意設計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ユーザートークン限定・機密クライアント必須・条件付きアクセスの伝搬 — 制約を押さえれば多段 API 連携を最小権限で組める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92240" y="137160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213154"/>
          </a:solidFill>
          <a:ln/>
        </p:spPr>
      </p:sp>
      <p:sp>
        <p:nvSpPr>
          <p:cNvPr id="5" name="Text 3"/>
          <p:cNvSpPr/>
          <p:nvPr/>
        </p:nvSpPr>
        <p:spPr>
          <a:xfrm>
            <a:off x="681228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実装はライブラリに任せる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12280" y="21488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MSAL.NET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12280" y="24140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AcquireTokenOnBehalfOf(...)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12280" y="28072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Microsoft.Identity.Web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12280" y="3072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GetAccessTokenForUserAsync(...)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12280" y="34655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MSAL Node / Python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12280" y="3730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acquireTokenOnBehalfOf / acquire_token_on_behalf_of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2280" y="41239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 SDK (@azure/identity)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12280" y="4389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OnBehalfOfCredential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12280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トークンキャッシュを構成し、リクエストごとの交換を避けるのが実運用のポイント。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参考: Microsoft Learn — Microsoft identity platform and OAuth 2.0 On-Behalf-Of flow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2026-07-23T04:03:02Z</dcterms:created>
  <dcterms:modified xsi:type="dcterms:W3CDTF">2026-07-23T04:03:02Z</dcterms:modified>
</cp:coreProperties>
</file>