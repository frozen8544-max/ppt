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3ffe9c48-fc85-05ba-b0d5-d705c89971a9}">
          <p14:sldIdLst>
            <p14:sldId id="256"/>
          </p14:sldIdLst>
        </p14:section>
        <p14:section name="概要" id="{a6aa8d5f-a240-63b7-2420-bc945305f4d8}">
          <p14:sldIdLst>
            <p14:sldId id="257"/>
          </p14:sldIdLst>
        </p14:section>
        <p14:section name="前提" id="{6046a002-1eb7-ec3b-d4c3-62f1cc1a6d00}">
          <p14:sldIdLst>
            <p14:sldId id="258"/>
          </p14:sldIdLst>
        </p14:section>
        <p14:section name="構成" id="{56055fb6-1389-9319-9ecd-1baf25514497}">
          <p14:sldIdLst>
            <p14:sldId id="259"/>
            <p14:sldId id="260"/>
          </p14:sldIdLst>
        </p14:section>
        <p14:section name="サービスと守り" id="{849da740-4087-ca05-086a-c44faece47d9}">
          <p14:sldIdLst>
            <p14:sldId id="261"/>
            <p14:sldId id="262"/>
          </p14:sldIdLst>
        </p14:section>
        <p14:section name="費用と比較" id="{10e4481e-1f9d-6be0-f95d-04b0717fa521}">
          <p14:sldIdLst>
            <p14:sldId id="263"/>
            <p14:sldId id="264"/>
          </p14:sldIdLst>
        </p14:section>
        <p14:section name="進め方" id="{8e704d32-3f44-fd31-09fb-2b9c02069dbb}">
          <p14:sldIdLst>
            <p14:sldId id="265"/>
            <p14:sldId id="266"/>
          </p14:sldIdLst>
        </p14:section>
        <p14:section name="結び" id="{38eed755-ca65-f2a3-63f1-4a7e9c954b55}">
          <p14:sldIdLst>
            <p14:sldId id="267"/>
          </p14:sldIdLst>
        </p14:section>
        <p14:section name="付録" id="{3faa19aa-9a3f-a621-9279-a89a32806815}">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本日は、サンプルデータを解析して画面に表示する Web アプリケーションについて、まず検証用のモック環境を AWS 上に構築するための構成をご提案いたします。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要点は四つです。費用は使った分だけ、データの受け渡しは安全に、セキュリティは六つの層で、そして環境はコードで管理するため、検証の終了後は短時間で撤去できます。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ご要件は、サンプルデータ(XML)の提供、バックエンドでの解析、検索報告書利用システムでの表示の三つの段階です。今回はモックですので少人数での利用を前提とし、利用者の認証の仕組みは設けません。本番に向けた冗長化などは次の段階でご相談させてください。AWS アカウントのご用意と担当範囲も、別途ご相談のうえ決めさせていただきます。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画面と API はどちらも CloudFront を入口とし、WAF で守ります。今回は利用者の認証の仕組みは設けません。ファイルは API を通さず、署名付き URL で S3 に直接アップロードします。S3 にファイルが届くと、解析用の Lambda が自動で起動し、結果を DynamoDB と S3 に保存します。画面からは、受付用の Lambda を通じて処理状態と結果を参照します。全体の動作は CloudWatch と CloudTrail で記録し、費用は Budgets で監視します。下の段は、業務データの流れです。サンプルデータの XML をアップロードし、バックエンドで解析し、その結果を検索報告書利用システムの画面で表示・利用します。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利用者から見た操作は、アップロードと結果の確認の二つだけです。裏側では、アップロード先の発行、XML の自動解析、結果の保存が順に行われます。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採用するサービスは、構築用の CDK を除き、いずれも AWS が運用を担うマネージドサービスです。サーバーの OS 更新や容量の管理が不要になり、使った分だけの費用になります。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モックであっても、実際のデータをお預かりする可能性があります。そのため、アカウント、入口、アクセス、データ、権限、記録の六つの層で、AWS が推奨する標準的な対策を最初から組み込みます。今回は利用者の認証は設けませんので、必要に応じて、アクセス元を IP アドレスで限定します。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仮の利用量で試算しますと、ほとんどが無料利用枠に収まり、AWS の利用料は月に 10 セント前後の見込みです。CloudFront の定額プランを使わない場合は、WAF の利用料として月 8 ドルほどが加わります。なお、こちらは AWS の利用料のみで、構築・運用の作業費用は別途お見積りいたします。実際のデータ量と回数をお伺いした上で、改めてお見積りいたします。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解析が 15 分を超える場合や、大きなライブラリを使う場合は、コンテナで実行する構成もお選びいただけます。その場合は、常時起動の分の費用が発生します。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四つの段階で進めます。ご要件を確認し、AWS CDK で環境を構築し、動作・セキュリティ・費用を検証した上で、結果を踏まえて本番化を検討します。検証の終了後は、お預かりしたデータを含めて環境を撤去します。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最後に、四点お伺いしたく存じます。画面の形態、データの大きさと解析の内容、利用者の範囲、データの機密性です。これらを踏まえ、構成と費用を確定いたします。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ご清聴ありがとうございました。ご質問がございましたら、お受けいたします。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097280"/>
            <a:ext cx="8229600" cy="457200"/>
          </a:xfrm>
          <a:prstGeom prst="rect">
            <a:avLst/>
          </a:prstGeom>
          <a:noFill/>
          <a:ln/>
        </p:spPr>
        <p:txBody>
          <a:bodyPr wrap="square" rtlCol="0"/>
          <a:lstStyle>
            <a:lvl1pPr indent="0" marL="0">
              <a:buNone/>
              <a:defRPr lang="en-US" sz="1800" dirty="0">
                <a:solidFill>
                  <a:schemeClr val="bg1"/>
                </a:solidFill>
              </a:defRPr>
            </a:lvl1pPr>
          </a:lstStyle>
          <a:p>
            <a:pPr indent="0" marL="0">
              <a:buNone/>
            </a:pPr>
            <a:r>
              <a:rPr lang="en-US" sz="1800" dirty="0">
                <a:solidFill>
                  <a:schemeClr val="bg1"/>
                </a:solidFill>
              </a:rPr>
              <a:t>(お客様名) 御中</a:t>
            </a:r>
            <a:endParaRPr lang="en-US" sz="1800" dirty="0"/>
          </a:p>
        </p:txBody>
      </p:sp>
      <p:sp>
        <p:nvSpPr>
          <p:cNvPr id="3" name="Text 0"/>
          <p:cNvSpPr/>
          <p:nvPr>
            <p:ph idx="101" type="body" hasCustomPrompt="1"/>
          </p:nvPr>
        </p:nvSpPr>
        <p:spPr>
          <a:xfrm>
            <a:off x="822960" y="1874520"/>
            <a:ext cx="8229600" cy="457200"/>
          </a:xfrm>
          <a:prstGeom prst="rect">
            <a:avLst/>
          </a:prstGeom>
          <a:noFill/>
          <a:ln/>
        </p:spPr>
        <p:txBody>
          <a:bodyPr wrap="square" rtlCol="0"/>
          <a:lstStyle>
            <a:lvl1pPr indent="0" marL="0">
              <a:buNone/>
              <a:defRPr lang="en-US" sz="1800" b="1" dirty="0">
                <a:solidFill>
                  <a:schemeClr val="accent3"/>
                </a:solidFill>
              </a:defRPr>
            </a:lvl1pPr>
          </a:lstStyle>
          <a:p>
            <a:pPr indent="0" marL="0">
              <a:buNone/>
            </a:pPr>
            <a:endParaRPr lang="en-US" sz="1800" dirty="0"/>
          </a:p>
        </p:txBody>
      </p:sp>
      <p:sp>
        <p:nvSpPr>
          <p:cNvPr id="4" name="Text 0"/>
          <p:cNvSpPr/>
          <p:nvPr>
            <p:ph idx="102" type="title" hasCustomPrompt="1"/>
          </p:nvPr>
        </p:nvSpPr>
        <p:spPr>
          <a:xfrm>
            <a:off x="822960" y="2423160"/>
            <a:ext cx="8229600" cy="13716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5" name="Text 0"/>
          <p:cNvSpPr/>
          <p:nvPr>
            <p:ph idx="103" type="body" hasCustomPrompt="1"/>
          </p:nvPr>
        </p:nvSpPr>
        <p:spPr>
          <a:xfrm>
            <a:off x="822960" y="5120640"/>
            <a:ext cx="6400800" cy="365760"/>
          </a:xfrm>
          <a:prstGeom prst="rect">
            <a:avLst/>
          </a:prstGeom>
          <a:noFill/>
          <a:ln/>
        </p:spPr>
        <p:txBody>
          <a:bodyPr wrap="square" rtlCol="0"/>
          <a:lstStyle>
            <a:lvl1pPr indent="0" marL="0">
              <a:buNone/>
              <a:defRPr lang="en-US" sz="1400" dirty="0">
                <a:solidFill>
                  <a:schemeClr val="bg1"/>
                </a:solidFill>
              </a:defRPr>
            </a:lvl1pPr>
          </a:lstStyle>
          <a:p>
            <a:pPr indent="0" marL="0">
              <a:buNone/>
            </a:pPr>
            <a:endParaRPr lang="en-US" sz="1400" dirty="0"/>
          </a:p>
        </p:txBody>
      </p:sp>
      <p:sp>
        <p:nvSpPr>
          <p:cNvPr id="6" name="Text 0"/>
          <p:cNvSpPr/>
          <p:nvPr>
            <p:ph idx="104" type="body" hasCustomPrompt="1"/>
          </p:nvPr>
        </p:nvSpPr>
        <p:spPr>
          <a:xfrm>
            <a:off x="822960" y="5532120"/>
            <a:ext cx="8229600" cy="365760"/>
          </a:xfrm>
          <a:prstGeom prst="rect">
            <a:avLst/>
          </a:prstGeom>
          <a:noFill/>
          <a:ln/>
        </p:spPr>
        <p:txBody>
          <a:bodyPr wrap="square" rtlCol="0"/>
          <a:lstStyle>
            <a:lvl1pPr indent="0" marL="0">
              <a:buNone/>
              <a:defRPr lang="en-US" sz="1400" dirty="0">
                <a:solidFill>
                  <a:schemeClr val="bg1"/>
                </a:solidFill>
              </a:defRPr>
            </a:lvl1pPr>
          </a:lstStyle>
          <a:p>
            <a:pPr indent="0" marL="0">
              <a:buNone/>
            </a:pPr>
            <a:r>
              <a:rPr lang="en-US" sz="1400" dirty="0">
                <a:solidFill>
                  <a:schemeClr val="bg1"/>
                </a:solidFill>
              </a:rPr>
              <a:t>(提案会社名・担当者名)</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548640" y="1005840"/>
            <a:ext cx="11094415" cy="457200"/>
          </a:xfrm>
          <a:prstGeom prst="rect">
            <a:avLst/>
          </a:prstGeom>
          <a:noFill/>
          <a:ln/>
        </p:spPr>
        <p:txBody>
          <a:bodyPr wrap="square" rtlCol="0"/>
          <a:lstStyle>
            <a:lvl1pPr algn="l" indent="0" marL="0">
              <a:buNone/>
              <a:defRPr lang="en-US" sz="1500" dirty="0">
                <a:solidFill>
                  <a:schemeClr val="tx1"/>
                </a:solidFill>
              </a:defRPr>
            </a:lvl1pPr>
          </a:lstStyle>
          <a:p>
            <a:pPr algn="l" indent="0" marL="0">
              <a:buNone/>
            </a:pPr>
            <a:endParaRPr lang="en-US" sz="1500" dirty="0"/>
          </a:p>
        </p:txBody>
      </p:sp>
      <p:sp>
        <p:nvSpPr>
          <p:cNvPr id="4" name="Text 0"/>
          <p:cNvSpPr/>
          <p:nvPr/>
        </p:nvSpPr>
        <p:spPr>
          <a:xfrm>
            <a:off x="548640" y="6419088"/>
            <a:ext cx="7315200" cy="274320"/>
          </a:xfrm>
          <a:prstGeom prst="rect">
            <a:avLst/>
          </a:prstGeom>
          <a:noFill/>
          <a:ln/>
        </p:spPr>
        <p:txBody>
          <a:bodyPr wrap="square" lIns="0" tIns="0" rIns="0" bIns="0" rtlCol="0" anchor="t"/>
          <a:lstStyle/>
          <a:p>
            <a:pPr indent="0" marL="0">
              <a:buNone/>
            </a:pPr>
            <a:r>
              <a:rPr lang="en-US" sz="900" dirty="0">
                <a:solidFill>
                  <a:schemeClr val="accent4"/>
                </a:solidFill>
              </a:rPr>
              <a:t>AWS モック環境 システム構成のご提案</a:t>
            </a:r>
            <a:endParaRPr lang="en-US" sz="9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514600"/>
            <a:ext cx="10515600" cy="914400"/>
          </a:xfrm>
          <a:prstGeom prst="rect">
            <a:avLst/>
          </a:prstGeom>
          <a:noFill/>
          <a:ln/>
        </p:spPr>
        <p:txBody>
          <a:bodyPr wrap="square" rtlCol="0"/>
          <a:lstStyle>
            <a:lvl1pPr algn="ctr" indent="0" marL="0">
              <a:buNone/>
              <a:defRPr lang="en-US" sz="3200" b="1" dirty="0">
                <a:solidFill>
                  <a:schemeClr val="bg1"/>
                </a:solidFill>
              </a:defRPr>
            </a:lvl1pPr>
          </a:lstStyle>
          <a:p>
            <a:pPr algn="ctr" indent="0" marL="0">
              <a:buNone/>
            </a:pPr>
            <a:endParaRPr lang="en-US" sz="3200" dirty="0"/>
          </a:p>
        </p:txBody>
      </p:sp>
      <p:sp>
        <p:nvSpPr>
          <p:cNvPr id="3" name="Text 0"/>
          <p:cNvSpPr/>
          <p:nvPr>
            <p:ph idx="101" type="body" hasCustomPrompt="1"/>
          </p:nvPr>
        </p:nvSpPr>
        <p:spPr>
          <a:xfrm>
            <a:off x="822960" y="3566160"/>
            <a:ext cx="10515600" cy="457200"/>
          </a:xfrm>
          <a:prstGeom prst="rect">
            <a:avLst/>
          </a:prstGeom>
          <a:noFill/>
          <a:ln/>
        </p:spPr>
        <p:txBody>
          <a:bodyPr wrap="square" rtlCol="0"/>
          <a:lstStyle>
            <a:lvl1pPr algn="ctr" indent="0" marL="0">
              <a:buNone/>
              <a:defRPr lang="en-US" sz="1500" dirty="0">
                <a:solidFill>
                  <a:schemeClr val="bg1"/>
                </a:solidFill>
              </a:defRPr>
            </a:lvl1pPr>
          </a:lstStyle>
          <a:p>
            <a:pPr algn="ctr" indent="0" marL="0">
              <a:buNone/>
            </a:pPr>
            <a:endParaRPr lang="en-US" sz="1500" dirty="0"/>
          </a:p>
        </p:txBody>
      </p:sp>
      <p:sp>
        <p:nvSpPr>
          <p:cNvPr id="4" name="Text 0"/>
          <p:cNvSpPr/>
          <p:nvPr>
            <p:ph idx="102" type="body" hasCustomPrompt="1"/>
          </p:nvPr>
        </p:nvSpPr>
        <p:spPr>
          <a:xfrm>
            <a:off x="822960" y="5532120"/>
            <a:ext cx="10515600" cy="365760"/>
          </a:xfrm>
          <a:prstGeom prst="rect">
            <a:avLst/>
          </a:prstGeom>
          <a:noFill/>
          <a:ln/>
        </p:spPr>
        <p:txBody>
          <a:bodyPr wrap="square" rtlCol="0"/>
          <a:lstStyle>
            <a:lvl1pPr algn="ctr" indent="0" marL="0">
              <a:buNone/>
              <a:defRPr lang="en-US" sz="1300" dirty="0">
                <a:solidFill>
                  <a:schemeClr val="bg1"/>
                </a:solidFill>
              </a:defRPr>
            </a:lvl1pPr>
          </a:lstStyle>
          <a:p>
            <a:pPr algn="ctr" indent="0" marL="0">
              <a:buNone/>
            </a:pPr>
            <a:r>
              <a:rPr lang="en-US" sz="1300" dirty="0">
                <a:solidFill>
                  <a:schemeClr val="bg1"/>
                </a:solidFill>
              </a:rPr>
              <a:t>(提案会社名・担当者名・連絡先)</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3.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ocs.aws.amazon.com/lambda/latest/dg/lambda-runtimes.html" TargetMode="External"/><Relationship Id="rId2" Type="http://schemas.openxmlformats.org/officeDocument/2006/relationships/hyperlink" Target="https://docs.aws.amazon.com/lambda/latest/dg/gettingstarted-limits.html" TargetMode="External"/><Relationship Id="rId3" Type="http://schemas.openxmlformats.org/officeDocument/2006/relationships/hyperlink" Target="https://aws.amazon.com/lambda/pricing/" TargetMode="External"/><Relationship Id="rId4" Type="http://schemas.openxmlformats.org/officeDocument/2006/relationships/hyperlink" Target="https://docs.aws.amazon.com/apigateway/latest/developerguide/http-api-quotas.html" TargetMode="External"/><Relationship Id="rId5" Type="http://schemas.openxmlformats.org/officeDocument/2006/relationships/hyperlink" Target="https://aws.amazon.com/api-gateway/pricing/" TargetMode="External"/><Relationship Id="rId6" Type="http://schemas.openxmlformats.org/officeDocument/2006/relationships/hyperlink" Target="https://docs.aws.amazon.com/AmazonS3/latest/userguide/using-presigned-url.html" TargetMode="External"/><Relationship Id="rId7" Type="http://schemas.openxmlformats.org/officeDocument/2006/relationships/hyperlink" Target="https://aws.amazon.com/s3/pricing/" TargetMode="External"/><Relationship Id="rId8" Type="http://schemas.openxmlformats.org/officeDocument/2006/relationships/hyperlink" Target="https://aws.amazon.com/dynamodb/pricing/" TargetMode="External"/><Relationship Id="rId9" Type="http://schemas.openxmlformats.org/officeDocument/2006/relationships/hyperlink" Target="https://docs.aws.amazon.com/PricingPlanManager/latest/UserGuide/plans.html" TargetMode="External"/><Relationship Id="rId10" Type="http://schemas.openxmlformats.org/officeDocument/2006/relationships/hyperlink" Target="https://docs.aws.amazon.com/AmazonCloudFront/latest/DeveloperGuide/private-content-restricting-access-to-s3.html" TargetMode="External"/><Relationship Id="rId11" Type="http://schemas.openxmlformats.org/officeDocument/2006/relationships/hyperlink" Target="https://aws.amazon.com/waf/pricing/" TargetMode="External"/><Relationship Id="rId12" Type="http://schemas.openxmlformats.org/officeDocument/2006/relationships/hyperlink" Target="https://docs.aws.amazon.com/waf/latest/developerguide/waf-rule-statement-type-ipset-match.html" TargetMode="External"/><Relationship Id="rId13" Type="http://schemas.openxmlformats.org/officeDocument/2006/relationships/hyperlink" Target="https://docs.aws.amazon.com/awscloudtrail/latest/userguide/view-cloudtrail-events.html" TargetMode="External"/><Relationship Id="rId14" Type="http://schemas.openxmlformats.org/officeDocument/2006/relationships/hyperlink" Target="https://aws.amazon.com/aws-cost-management/aws-budgets/pricing/" TargetMode="External"/><Relationship Id="rId15" Type="http://schemas.openxmlformats.org/officeDocument/2006/relationships/hyperlink" Target="https://docs.aws.amazon.com/AmazonECS/latest/developerguide/express-service-overview.html" TargetMode="External"/><Relationship Id="rId16" Type="http://schemas.openxmlformats.org/officeDocument/2006/relationships/hyperlink" Target="https://docs.aws.amazon.com/apprunner/latest/dg/apprunner-availability-change.html" TargetMode="External"/><Relationship Id="rId17" Type="http://schemas.openxmlformats.org/officeDocument/2006/relationships/slideLayout" Target="../slideLayouts/slideLayout3.xml"/><Relationship Id="rId1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097280"/>
            <a:ext cx="8229600" cy="457200"/>
          </a:xfrm>
          <a:prstGeom prst="rect">
            <a:avLst/>
          </a:prstGeom>
          <a:noFill/>
          <a:ln/>
        </p:spPr>
        <p:txBody>
          <a:bodyPr wrap="square" lIns="0" tIns="0" rIns="0" bIns="0" rtlCol="0"/>
          <a:lstStyle/>
          <a:p>
            <a:pPr indent="0" marL="0">
              <a:buNone/>
            </a:pPr>
            <a:r>
              <a:rPr lang="en-US" sz="1800" dirty="0">
                <a:solidFill>
                  <a:schemeClr val="bg1"/>
                </a:solidFill>
              </a:rPr>
              <a:t>(お客様名) 御中</a:t>
            </a:r>
            <a:endParaRPr lang="en-US" sz="1800" dirty="0"/>
          </a:p>
        </p:txBody>
      </p:sp>
      <p:sp>
        <p:nvSpPr>
          <p:cNvPr id="3" name="Text 0"/>
          <p:cNvSpPr/>
          <p:nvPr>
            <p:ph idx="101" type="body" hasCustomPrompt="1"/>
          </p:nvPr>
        </p:nvSpPr>
        <p:spPr>
          <a:xfrm>
            <a:off x="822960" y="1874520"/>
            <a:ext cx="8229600" cy="457200"/>
          </a:xfrm>
          <a:prstGeom prst="rect">
            <a:avLst/>
          </a:prstGeom>
          <a:noFill/>
          <a:ln/>
        </p:spPr>
        <p:txBody>
          <a:bodyPr wrap="square" lIns="0" tIns="0" rIns="0" bIns="0" rtlCol="0"/>
          <a:lstStyle/>
          <a:p>
            <a:pPr indent="0" marL="0">
              <a:buNone/>
            </a:pPr>
            <a:r>
              <a:rPr lang="en-US" sz="1800" b="1" dirty="0">
                <a:solidFill>
                  <a:schemeClr val="accent3"/>
                </a:solidFill>
              </a:rPr>
              <a:t>サンプルデータ解析 Web アプリケーション</a:t>
            </a:r>
            <a:endParaRPr lang="en-US" sz="1800" dirty="0"/>
          </a:p>
        </p:txBody>
      </p:sp>
      <p:sp>
        <p:nvSpPr>
          <p:cNvPr id="4" name="Text 0"/>
          <p:cNvSpPr/>
          <p:nvPr>
            <p:ph idx="102" type="title" hasCustomPrompt="1"/>
          </p:nvPr>
        </p:nvSpPr>
        <p:spPr>
          <a:xfrm>
            <a:off x="822960" y="2423160"/>
            <a:ext cx="8229600" cy="1371600"/>
          </a:xfrm>
          <a:prstGeom prst="rect">
            <a:avLst/>
          </a:prstGeom>
          <a:noFill/>
          <a:ln/>
        </p:spPr>
        <p:txBody>
          <a:bodyPr wrap="square" lIns="0" tIns="0" rIns="0" bIns="0" rtlCol="0" anchor="t"/>
          <a:lstStyle/>
          <a:p>
            <a:pPr algn="l" indent="0" marL="0">
              <a:buNone/>
            </a:pPr>
            <a:r>
              <a:rPr lang="en-US" sz="3800" b="1" dirty="0">
                <a:solidFill>
                  <a:schemeClr val="bg1"/>
                </a:solidFill>
              </a:rPr>
              <a:t>AWS モック環境</a:t>
            </a:r>
            <a:endParaRPr lang="en-US" sz="3800" dirty="0"/>
          </a:p>
          <a:p>
            <a:pPr algn="l" indent="0" marL="0">
              <a:buNone/>
            </a:pPr>
            <a:r>
              <a:rPr lang="en-US" sz="3800" b="1" dirty="0">
                <a:solidFill>
                  <a:schemeClr val="bg1"/>
                </a:solidFill>
              </a:rPr>
              <a:t>システム構成のご提案</a:t>
            </a:r>
            <a:endParaRPr lang="en-US" sz="3800" dirty="0"/>
          </a:p>
        </p:txBody>
      </p:sp>
      <p:sp>
        <p:nvSpPr>
          <p:cNvPr id="5" name="Text 0"/>
          <p:cNvSpPr/>
          <p:nvPr>
            <p:ph idx="103" type="body" hasCustomPrompt="1"/>
          </p:nvPr>
        </p:nvSpPr>
        <p:spPr>
          <a:xfrm>
            <a:off x="822960" y="5120640"/>
            <a:ext cx="6400800" cy="365760"/>
          </a:xfrm>
          <a:prstGeom prst="rect">
            <a:avLst/>
          </a:prstGeom>
          <a:noFill/>
          <a:ln/>
        </p:spPr>
        <p:txBody>
          <a:bodyPr wrap="square" lIns="0" tIns="0" rIns="0" bIns="0" rtlCol="0"/>
          <a:lstStyle/>
          <a:p>
            <a:pPr indent="0" marL="0">
              <a:buNone/>
            </a:pPr>
            <a:r>
              <a:rPr lang="en-US" sz="1400" dirty="0">
                <a:solidFill>
                  <a:schemeClr val="bg1"/>
                </a:solidFill>
              </a:rPr>
              <a:t>2026年10月</a:t>
            </a:r>
            <a:endParaRPr lang="en-US" sz="1400" dirty="0"/>
          </a:p>
        </p:txBody>
      </p:sp>
      <p:sp>
        <p:nvSpPr>
          <p:cNvPr id="6" name="Text 0"/>
          <p:cNvSpPr/>
          <p:nvPr>
            <p:ph idx="104" type="body" hasCustomPrompt="1"/>
          </p:nvPr>
        </p:nvSpPr>
        <p:spPr>
          <a:xfrm>
            <a:off x="822960" y="5532120"/>
            <a:ext cx="8229600" cy="365760"/>
          </a:xfrm>
          <a:prstGeom prst="rect">
            <a:avLst/>
          </a:prstGeom>
          <a:noFill/>
          <a:ln/>
        </p:spPr>
        <p:txBody>
          <a:bodyPr wrap="square" lIns="0" tIns="0" rIns="0" bIns="0" rtlCol="0"/>
          <a:lstStyle/>
          <a:p>
            <a:pPr indent="0" marL="0">
              <a:buNone/>
            </a:pPr>
            <a:r>
              <a:rPr lang="en-US" sz="1400" dirty="0">
                <a:solidFill>
                  <a:schemeClr val="bg1"/>
                </a:solidFill>
              </a:rPr>
              <a:t>(提案会社名・担当者名)</a:t>
            </a:r>
            <a:endParaRPr lang="en-US" sz="1400" dirty="0"/>
          </a:p>
        </p:txBody>
      </p:sp>
      <p:sp>
        <p:nvSpPr>
          <p:cNvPr id="7" name="motif-line"/>
          <p:cNvSpPr/>
          <p:nvPr/>
        </p:nvSpPr>
        <p:spPr>
          <a:xfrm>
            <a:off x="9692640" y="1097280"/>
            <a:ext cx="1371600" cy="640080"/>
          </a:xfrm>
          <a:prstGeom prst="line">
            <a:avLst/>
          </a:prstGeom>
          <a:noFill/>
          <a:ln w="12700">
            <a:solidFill>
              <a:schemeClr val="bg1">
                <a:alpha val="30000"/>
              </a:schemeClr>
            </a:solidFill>
            <a:prstDash val="solid"/>
            <a:headEnd type="none"/>
            <a:tailEnd type="none"/>
          </a:ln>
        </p:spPr>
      </p:sp>
      <p:sp>
        <p:nvSpPr>
          <p:cNvPr id="8" name="motif-line"/>
          <p:cNvSpPr/>
          <p:nvPr/>
        </p:nvSpPr>
        <p:spPr>
          <a:xfrm flipV="1">
            <a:off x="10241280" y="1737360"/>
            <a:ext cx="822960" cy="1097280"/>
          </a:xfrm>
          <a:prstGeom prst="line">
            <a:avLst/>
          </a:prstGeom>
          <a:noFill/>
          <a:ln w="12700">
            <a:solidFill>
              <a:schemeClr val="bg1">
                <a:alpha val="30000"/>
              </a:schemeClr>
            </a:solidFill>
            <a:prstDash val="solid"/>
            <a:headEnd type="none"/>
            <a:tailEnd type="none"/>
          </a:ln>
        </p:spPr>
      </p:sp>
      <p:sp>
        <p:nvSpPr>
          <p:cNvPr id="9" name="motif-line"/>
          <p:cNvSpPr/>
          <p:nvPr/>
        </p:nvSpPr>
        <p:spPr>
          <a:xfrm>
            <a:off x="9692640" y="1097280"/>
            <a:ext cx="548640" cy="1737360"/>
          </a:xfrm>
          <a:prstGeom prst="line">
            <a:avLst/>
          </a:prstGeom>
          <a:noFill/>
          <a:ln w="12700">
            <a:solidFill>
              <a:schemeClr val="bg1">
                <a:alpha val="30000"/>
              </a:schemeClr>
            </a:solidFill>
            <a:prstDash val="solid"/>
            <a:headEnd type="none"/>
            <a:tailEnd type="none"/>
          </a:ln>
        </p:spPr>
      </p:sp>
      <p:sp>
        <p:nvSpPr>
          <p:cNvPr id="10" name="motif-line"/>
          <p:cNvSpPr/>
          <p:nvPr/>
        </p:nvSpPr>
        <p:spPr>
          <a:xfrm>
            <a:off x="10241280" y="2834640"/>
            <a:ext cx="1188720" cy="457200"/>
          </a:xfrm>
          <a:prstGeom prst="line">
            <a:avLst/>
          </a:prstGeom>
          <a:noFill/>
          <a:ln w="12700">
            <a:solidFill>
              <a:schemeClr val="bg1">
                <a:alpha val="30000"/>
              </a:schemeClr>
            </a:solidFill>
            <a:prstDash val="solid"/>
            <a:headEnd type="none"/>
            <a:tailEnd type="none"/>
          </a:ln>
        </p:spPr>
      </p:sp>
      <p:sp>
        <p:nvSpPr>
          <p:cNvPr id="11" name="motif-line"/>
          <p:cNvSpPr/>
          <p:nvPr/>
        </p:nvSpPr>
        <p:spPr>
          <a:xfrm>
            <a:off x="10241280" y="2834640"/>
            <a:ext cx="182880" cy="1371600"/>
          </a:xfrm>
          <a:prstGeom prst="line">
            <a:avLst/>
          </a:prstGeom>
          <a:noFill/>
          <a:ln w="12700">
            <a:solidFill>
              <a:schemeClr val="bg1">
                <a:alpha val="30000"/>
              </a:schemeClr>
            </a:solidFill>
            <a:prstDash val="solid"/>
            <a:headEnd type="none"/>
            <a:tailEnd type="none"/>
          </a:ln>
        </p:spPr>
      </p:sp>
      <p:sp>
        <p:nvSpPr>
          <p:cNvPr id="12" name="motif-line"/>
          <p:cNvSpPr/>
          <p:nvPr/>
        </p:nvSpPr>
        <p:spPr>
          <a:xfrm flipV="1">
            <a:off x="10424160" y="3291840"/>
            <a:ext cx="1005840" cy="914400"/>
          </a:xfrm>
          <a:prstGeom prst="line">
            <a:avLst/>
          </a:prstGeom>
          <a:noFill/>
          <a:ln w="12700">
            <a:solidFill>
              <a:schemeClr val="bg1">
                <a:alpha val="30000"/>
              </a:schemeClr>
            </a:solidFill>
            <a:prstDash val="solid"/>
            <a:headEnd type="none"/>
            <a:tailEnd type="none"/>
          </a:ln>
        </p:spPr>
      </p:sp>
      <p:sp>
        <p:nvSpPr>
          <p:cNvPr id="13" name="motif-line"/>
          <p:cNvSpPr/>
          <p:nvPr/>
        </p:nvSpPr>
        <p:spPr>
          <a:xfrm>
            <a:off x="10424160" y="4206240"/>
            <a:ext cx="1097280" cy="914400"/>
          </a:xfrm>
          <a:prstGeom prst="line">
            <a:avLst/>
          </a:prstGeom>
          <a:noFill/>
          <a:ln w="12700">
            <a:solidFill>
              <a:schemeClr val="bg1">
                <a:alpha val="30000"/>
              </a:schemeClr>
            </a:solidFill>
            <a:prstDash val="solid"/>
            <a:headEnd type="none"/>
            <a:tailEnd type="none"/>
          </a:ln>
        </p:spPr>
      </p:sp>
      <p:sp>
        <p:nvSpPr>
          <p:cNvPr id="14" name="motif-node"/>
          <p:cNvSpPr/>
          <p:nvPr/>
        </p:nvSpPr>
        <p:spPr>
          <a:xfrm>
            <a:off x="9592056" y="996696"/>
            <a:ext cx="201168" cy="201168"/>
          </a:xfrm>
          <a:prstGeom prst="ellipse">
            <a:avLst/>
          </a:prstGeom>
          <a:solidFill>
            <a:schemeClr val="accent4"/>
          </a:solidFill>
          <a:ln w="12700">
            <a:solidFill>
              <a:schemeClr val="bg1"/>
            </a:solidFill>
            <a:prstDash val="solid"/>
          </a:ln>
        </p:spPr>
      </p:sp>
      <p:sp>
        <p:nvSpPr>
          <p:cNvPr id="15" name="motif-node"/>
          <p:cNvSpPr/>
          <p:nvPr/>
        </p:nvSpPr>
        <p:spPr>
          <a:xfrm>
            <a:off x="10963656" y="1636776"/>
            <a:ext cx="201168" cy="201168"/>
          </a:xfrm>
          <a:prstGeom prst="ellipse">
            <a:avLst/>
          </a:prstGeom>
          <a:solidFill>
            <a:schemeClr val="accent4"/>
          </a:solidFill>
          <a:ln w="12700">
            <a:solidFill>
              <a:schemeClr val="bg1"/>
            </a:solidFill>
            <a:prstDash val="solid"/>
          </a:ln>
        </p:spPr>
      </p:sp>
      <p:sp>
        <p:nvSpPr>
          <p:cNvPr id="16" name="motif-node"/>
          <p:cNvSpPr/>
          <p:nvPr/>
        </p:nvSpPr>
        <p:spPr>
          <a:xfrm>
            <a:off x="10140696" y="2734056"/>
            <a:ext cx="201168" cy="201168"/>
          </a:xfrm>
          <a:prstGeom prst="ellipse">
            <a:avLst/>
          </a:prstGeom>
          <a:solidFill>
            <a:schemeClr val="accent3"/>
          </a:solidFill>
          <a:ln w="12700">
            <a:solidFill>
              <a:schemeClr val="bg1"/>
            </a:solidFill>
            <a:prstDash val="solid"/>
          </a:ln>
        </p:spPr>
      </p:sp>
      <p:sp>
        <p:nvSpPr>
          <p:cNvPr id="17" name="motif-node"/>
          <p:cNvSpPr/>
          <p:nvPr/>
        </p:nvSpPr>
        <p:spPr>
          <a:xfrm>
            <a:off x="11329416" y="3191256"/>
            <a:ext cx="201168" cy="201168"/>
          </a:xfrm>
          <a:prstGeom prst="ellipse">
            <a:avLst/>
          </a:prstGeom>
          <a:solidFill>
            <a:schemeClr val="accent4"/>
          </a:solidFill>
          <a:ln w="12700">
            <a:solidFill>
              <a:schemeClr val="bg1"/>
            </a:solidFill>
            <a:prstDash val="solid"/>
          </a:ln>
        </p:spPr>
      </p:sp>
      <p:sp>
        <p:nvSpPr>
          <p:cNvPr id="18" name="motif-node"/>
          <p:cNvSpPr/>
          <p:nvPr/>
        </p:nvSpPr>
        <p:spPr>
          <a:xfrm>
            <a:off x="10323576" y="4105656"/>
            <a:ext cx="201168" cy="201168"/>
          </a:xfrm>
          <a:prstGeom prst="ellipse">
            <a:avLst/>
          </a:prstGeom>
          <a:solidFill>
            <a:schemeClr val="accent4"/>
          </a:solidFill>
          <a:ln w="12700">
            <a:solidFill>
              <a:schemeClr val="bg1"/>
            </a:solidFill>
            <a:prstDash val="solid"/>
          </a:ln>
        </p:spPr>
      </p:sp>
      <p:sp>
        <p:nvSpPr>
          <p:cNvPr id="19" name="motif-node"/>
          <p:cNvSpPr/>
          <p:nvPr/>
        </p:nvSpPr>
        <p:spPr>
          <a:xfrm>
            <a:off x="11420856" y="5020056"/>
            <a:ext cx="201168" cy="201168"/>
          </a:xfrm>
          <a:prstGeom prst="ellipse">
            <a:avLst/>
          </a:prstGeom>
          <a:solidFill>
            <a:schemeClr val="accent4"/>
          </a:solidFill>
          <a:ln w="12700">
            <a:solidFill>
              <a:schemeClr val="bg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40080"/>
          </a:xfrm>
          <a:prstGeom prst="rect">
            <a:avLst/>
          </a:prstGeom>
          <a:noFill/>
          <a:ln/>
        </p:spPr>
        <p:txBody>
          <a:bodyPr wrap="square" lIns="0" tIns="0" rIns="0" bIns="0" rtlCol="0" anchor="ctr"/>
          <a:lstStyle/>
          <a:p>
            <a:pPr algn="l" indent="0" marL="0">
              <a:buNone/>
            </a:pPr>
            <a:r>
              <a:rPr lang="en-US" sz="2800" b="1" dirty="0">
                <a:solidFill>
                  <a:schemeClr val="tx2"/>
                </a:solidFill>
              </a:rPr>
              <a:t>ご提案の概要</a:t>
            </a:r>
            <a:endParaRPr lang="en-US" sz="28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ctr"/>
          <a:lstStyle/>
          <a:p>
            <a:pPr algn="l" indent="0" marL="0">
              <a:buNone/>
            </a:pPr>
            <a:r>
              <a:rPr lang="en-US" sz="1500" dirty="0">
                <a:solidFill>
                  <a:schemeClr val="tx1"/>
                </a:solidFill>
              </a:rPr>
              <a:t>サーバーを持たない構成(サーバーレス)で、モック環境を低コスト・短期間・安全に立ち上げます</a:t>
            </a:r>
            <a:endParaRPr lang="en-US" sz="1500" dirty="0"/>
          </a:p>
        </p:txBody>
      </p:sp>
      <p:sp>
        <p:nvSpPr>
          <p:cNvPr id="4" name="summary-card-1"/>
          <p:cNvSpPr/>
          <p:nvPr/>
        </p:nvSpPr>
        <p:spPr>
          <a:xfrm>
            <a:off x="548640" y="1737360"/>
            <a:ext cx="5387188" cy="2103120"/>
          </a:xfrm>
          <a:prstGeom prst="roundRect">
            <a:avLst>
              <a:gd name="adj" fmla="val 3478"/>
            </a:avLst>
          </a:prstGeom>
          <a:solidFill>
            <a:schemeClr val="bg2"/>
          </a:solidFill>
          <a:ln w="9525">
            <a:solidFill>
              <a:schemeClr val="bg2"/>
            </a:solidFill>
            <a:prstDash val="solid"/>
          </a:ln>
        </p:spPr>
      </p:sp>
      <p:sp>
        <p:nvSpPr>
          <p:cNvPr id="5" name="summary-1-circle"/>
          <p:cNvSpPr/>
          <p:nvPr/>
        </p:nvSpPr>
        <p:spPr>
          <a:xfrm>
            <a:off x="914400" y="2103120"/>
            <a:ext cx="731520" cy="731520"/>
          </a:xfrm>
          <a:prstGeom prst="ellipse">
            <a:avLst/>
          </a:prstGeom>
          <a:solidFill>
            <a:schemeClr val="accent1"/>
          </a:solidFill>
          <a:ln w="12700">
            <a:solidFill>
              <a:schemeClr val="accent1"/>
            </a:solidFill>
            <a:prstDash val="solid"/>
          </a:ln>
        </p:spPr>
      </p:sp>
      <p:pic>
        <p:nvPicPr>
          <p:cNvPr id="6" name="summary-1-icon" descr="preencoded.png">    </p:cNvPr>
          <p:cNvPicPr>
            <a:picLocks noChangeAspect="1"/>
          </p:cNvPicPr>
          <p:nvPr/>
        </p:nvPicPr>
        <p:blipFill>
          <a:blip r:embed="rId1"/>
          <a:stretch>
            <a:fillRect/>
          </a:stretch>
        </p:blipFill>
        <p:spPr>
          <a:xfrm>
            <a:off x="1075334" y="2264054"/>
            <a:ext cx="409651" cy="409651"/>
          </a:xfrm>
          <a:prstGeom prst="rect">
            <a:avLst/>
          </a:prstGeom>
        </p:spPr>
      </p:pic>
      <p:sp>
        <p:nvSpPr>
          <p:cNvPr id="7" name="summary-head-1"/>
          <p:cNvSpPr txBox="1"/>
          <p:nvPr/>
        </p:nvSpPr>
        <p:spPr>
          <a:xfrm>
            <a:off x="1874520" y="2103120"/>
            <a:ext cx="3832708" cy="548640"/>
          </a:xfrm>
          <a:prstGeom prst="rect">
            <a:avLst/>
          </a:prstGeom>
          <a:noFill/>
          <a:ln/>
        </p:spPr>
        <p:txBody>
          <a:bodyPr wrap="square" lIns="0" tIns="0" rIns="0" bIns="0" rtlCol="0" anchor="ctr"/>
          <a:lstStyle/>
          <a:p>
            <a:pPr indent="0" marL="0">
              <a:buNone/>
            </a:pPr>
            <a:r>
              <a:rPr lang="en-US" sz="1900" b="1" dirty="0">
                <a:solidFill>
                  <a:schemeClr val="tx2"/>
                </a:solidFill>
              </a:rPr>
              <a:t>使った分だけの費用</a:t>
            </a:r>
            <a:endParaRPr lang="en-US" sz="1900" dirty="0"/>
          </a:p>
        </p:txBody>
      </p:sp>
      <p:sp>
        <p:nvSpPr>
          <p:cNvPr id="8" name="summary-body-1"/>
          <p:cNvSpPr txBox="1"/>
          <p:nvPr/>
        </p:nvSpPr>
        <p:spPr>
          <a:xfrm>
            <a:off x="1874520" y="2724912"/>
            <a:ext cx="3832708" cy="1005840"/>
          </a:xfrm>
          <a:prstGeom prst="rect">
            <a:avLst/>
          </a:prstGeom>
          <a:noFill/>
          <a:ln/>
        </p:spPr>
        <p:txBody>
          <a:bodyPr wrap="square" lIns="0" tIns="0" rIns="0" bIns="0" rtlCol="0" anchor="t"/>
          <a:lstStyle/>
          <a:p>
            <a:pPr indent="0" marL="0">
              <a:buNone/>
            </a:pPr>
            <a:r>
              <a:rPr lang="en-US" sz="1400" dirty="0">
                <a:solidFill>
                  <a:schemeClr val="tx1"/>
                </a:solidFill>
              </a:rPr>
              <a:t>処理のない時間には費用がほとんど発生せず、</a:t>
            </a:r>
            <a:endParaRPr lang="en-US" sz="1400" dirty="0"/>
          </a:p>
          <a:p>
            <a:pPr indent="0" marL="0">
              <a:buNone/>
            </a:pPr>
            <a:r>
              <a:rPr lang="en-US" sz="1400" dirty="0">
                <a:solidFill>
                  <a:schemeClr val="tx1"/>
                </a:solidFill>
              </a:rPr>
              <a:t>検証段階のコストを抑えます。</a:t>
            </a:r>
            <a:endParaRPr lang="en-US" sz="1400" dirty="0"/>
          </a:p>
        </p:txBody>
      </p:sp>
      <p:sp>
        <p:nvSpPr>
          <p:cNvPr id="9" name="summary-card-2"/>
          <p:cNvSpPr/>
          <p:nvPr/>
        </p:nvSpPr>
        <p:spPr>
          <a:xfrm>
            <a:off x="6255868" y="1737360"/>
            <a:ext cx="5387188" cy="2103120"/>
          </a:xfrm>
          <a:prstGeom prst="roundRect">
            <a:avLst>
              <a:gd name="adj" fmla="val 3478"/>
            </a:avLst>
          </a:prstGeom>
          <a:solidFill>
            <a:schemeClr val="bg2"/>
          </a:solidFill>
          <a:ln w="9525">
            <a:solidFill>
              <a:schemeClr val="bg2"/>
            </a:solidFill>
            <a:prstDash val="solid"/>
          </a:ln>
        </p:spPr>
      </p:sp>
      <p:sp>
        <p:nvSpPr>
          <p:cNvPr id="10" name="summary-2-circle"/>
          <p:cNvSpPr/>
          <p:nvPr/>
        </p:nvSpPr>
        <p:spPr>
          <a:xfrm>
            <a:off x="6621628" y="2103120"/>
            <a:ext cx="731520" cy="731520"/>
          </a:xfrm>
          <a:prstGeom prst="ellipse">
            <a:avLst/>
          </a:prstGeom>
          <a:solidFill>
            <a:schemeClr val="accent1"/>
          </a:solidFill>
          <a:ln w="12700">
            <a:solidFill>
              <a:schemeClr val="accent1"/>
            </a:solidFill>
            <a:prstDash val="solid"/>
          </a:ln>
        </p:spPr>
      </p:sp>
      <p:pic>
        <p:nvPicPr>
          <p:cNvPr id="11" name="summary-2-icon" descr="preencoded.png">    </p:cNvPr>
          <p:cNvPicPr>
            <a:picLocks noChangeAspect="1"/>
          </p:cNvPicPr>
          <p:nvPr/>
        </p:nvPicPr>
        <p:blipFill>
          <a:blip r:embed="rId2"/>
          <a:stretch>
            <a:fillRect/>
          </a:stretch>
        </p:blipFill>
        <p:spPr>
          <a:xfrm>
            <a:off x="6782562" y="2264054"/>
            <a:ext cx="409651" cy="409651"/>
          </a:xfrm>
          <a:prstGeom prst="rect">
            <a:avLst/>
          </a:prstGeom>
        </p:spPr>
      </p:pic>
      <p:sp>
        <p:nvSpPr>
          <p:cNvPr id="12" name="summary-head-2"/>
          <p:cNvSpPr txBox="1"/>
          <p:nvPr/>
        </p:nvSpPr>
        <p:spPr>
          <a:xfrm>
            <a:off x="7581748" y="2103120"/>
            <a:ext cx="3832708" cy="548640"/>
          </a:xfrm>
          <a:prstGeom prst="rect">
            <a:avLst/>
          </a:prstGeom>
          <a:noFill/>
          <a:ln/>
        </p:spPr>
        <p:txBody>
          <a:bodyPr wrap="square" lIns="0" tIns="0" rIns="0" bIns="0" rtlCol="0" anchor="ctr"/>
          <a:lstStyle/>
          <a:p>
            <a:pPr indent="0" marL="0">
              <a:buNone/>
            </a:pPr>
            <a:r>
              <a:rPr lang="en-US" sz="1900" b="1" dirty="0">
                <a:solidFill>
                  <a:schemeClr val="tx2"/>
                </a:solidFill>
              </a:rPr>
              <a:t>大きなデータも安全に受領</a:t>
            </a:r>
            <a:endParaRPr lang="en-US" sz="1900" dirty="0"/>
          </a:p>
        </p:txBody>
      </p:sp>
      <p:sp>
        <p:nvSpPr>
          <p:cNvPr id="13" name="summary-body-2"/>
          <p:cNvSpPr txBox="1"/>
          <p:nvPr/>
        </p:nvSpPr>
        <p:spPr>
          <a:xfrm>
            <a:off x="7581748" y="2724912"/>
            <a:ext cx="3832708" cy="1005840"/>
          </a:xfrm>
          <a:prstGeom prst="rect">
            <a:avLst/>
          </a:prstGeom>
          <a:noFill/>
          <a:ln/>
        </p:spPr>
        <p:txBody>
          <a:bodyPr wrap="square" lIns="0" tIns="0" rIns="0" bIns="0" rtlCol="0" anchor="t"/>
          <a:lstStyle/>
          <a:p>
            <a:pPr indent="0" marL="0">
              <a:buNone/>
            </a:pPr>
            <a:r>
              <a:rPr lang="en-US" sz="1400" dirty="0">
                <a:solidFill>
                  <a:schemeClr val="tx1"/>
                </a:solidFill>
              </a:rPr>
              <a:t>有効期限付きの専用アップロード先</a:t>
            </a:r>
            <a:endParaRPr lang="en-US" sz="1400" dirty="0"/>
          </a:p>
          <a:p>
            <a:pPr indent="0" marL="0">
              <a:buNone/>
            </a:pPr>
            <a:r>
              <a:rPr lang="en-US" sz="1400" dirty="0">
                <a:solidFill>
                  <a:schemeClr val="tx1"/>
                </a:solidFill>
              </a:rPr>
              <a:t>(署名付き URL)を発行し、ブラウザから</a:t>
            </a:r>
            <a:endParaRPr lang="en-US" sz="1400" dirty="0"/>
          </a:p>
          <a:p>
            <a:pPr indent="0" marL="0">
              <a:buNone/>
            </a:pPr>
            <a:r>
              <a:rPr lang="en-US" sz="1400" dirty="0">
                <a:solidFill>
                  <a:schemeClr val="tx1"/>
                </a:solidFill>
              </a:rPr>
              <a:t>保存領域へ直接アップロードします。</a:t>
            </a:r>
            <a:endParaRPr lang="en-US" sz="1400" dirty="0"/>
          </a:p>
        </p:txBody>
      </p:sp>
      <p:sp>
        <p:nvSpPr>
          <p:cNvPr id="14" name="summary-card-3"/>
          <p:cNvSpPr/>
          <p:nvPr/>
        </p:nvSpPr>
        <p:spPr>
          <a:xfrm>
            <a:off x="548640" y="4114800"/>
            <a:ext cx="5387188" cy="2103120"/>
          </a:xfrm>
          <a:prstGeom prst="roundRect">
            <a:avLst>
              <a:gd name="adj" fmla="val 3478"/>
            </a:avLst>
          </a:prstGeom>
          <a:solidFill>
            <a:schemeClr val="bg2"/>
          </a:solidFill>
          <a:ln w="9525">
            <a:solidFill>
              <a:schemeClr val="bg2"/>
            </a:solidFill>
            <a:prstDash val="solid"/>
          </a:ln>
        </p:spPr>
      </p:sp>
      <p:sp>
        <p:nvSpPr>
          <p:cNvPr id="15" name="summary-3-circle"/>
          <p:cNvSpPr/>
          <p:nvPr/>
        </p:nvSpPr>
        <p:spPr>
          <a:xfrm>
            <a:off x="914400" y="4480560"/>
            <a:ext cx="731520" cy="731520"/>
          </a:xfrm>
          <a:prstGeom prst="ellipse">
            <a:avLst/>
          </a:prstGeom>
          <a:solidFill>
            <a:schemeClr val="accent1"/>
          </a:solidFill>
          <a:ln w="12700">
            <a:solidFill>
              <a:schemeClr val="accent1"/>
            </a:solidFill>
            <a:prstDash val="solid"/>
          </a:ln>
        </p:spPr>
      </p:sp>
      <p:pic>
        <p:nvPicPr>
          <p:cNvPr id="16" name="summary-3-icon" descr="preencoded.png">    </p:cNvPr>
          <p:cNvPicPr>
            <a:picLocks noChangeAspect="1"/>
          </p:cNvPicPr>
          <p:nvPr/>
        </p:nvPicPr>
        <p:blipFill>
          <a:blip r:embed="rId3"/>
          <a:stretch>
            <a:fillRect/>
          </a:stretch>
        </p:blipFill>
        <p:spPr>
          <a:xfrm>
            <a:off x="1075334" y="4641494"/>
            <a:ext cx="409651" cy="409651"/>
          </a:xfrm>
          <a:prstGeom prst="rect">
            <a:avLst/>
          </a:prstGeom>
        </p:spPr>
      </p:pic>
      <p:sp>
        <p:nvSpPr>
          <p:cNvPr id="17" name="summary-head-3"/>
          <p:cNvSpPr txBox="1"/>
          <p:nvPr/>
        </p:nvSpPr>
        <p:spPr>
          <a:xfrm>
            <a:off x="1874520" y="4480560"/>
            <a:ext cx="3832708" cy="548640"/>
          </a:xfrm>
          <a:prstGeom prst="rect">
            <a:avLst/>
          </a:prstGeom>
          <a:noFill/>
          <a:ln/>
        </p:spPr>
        <p:txBody>
          <a:bodyPr wrap="square" lIns="0" tIns="0" rIns="0" bIns="0" rtlCol="0" anchor="ctr"/>
          <a:lstStyle/>
          <a:p>
            <a:pPr indent="0" marL="0">
              <a:buNone/>
            </a:pPr>
            <a:r>
              <a:rPr lang="en-US" sz="1900" b="1" dirty="0">
                <a:solidFill>
                  <a:schemeClr val="tx2"/>
                </a:solidFill>
              </a:rPr>
              <a:t>多層の基本セキュリティ</a:t>
            </a:r>
            <a:endParaRPr lang="en-US" sz="1900" dirty="0"/>
          </a:p>
        </p:txBody>
      </p:sp>
      <p:sp>
        <p:nvSpPr>
          <p:cNvPr id="18" name="summary-body-3"/>
          <p:cNvSpPr txBox="1"/>
          <p:nvPr/>
        </p:nvSpPr>
        <p:spPr>
          <a:xfrm>
            <a:off x="1874520" y="5102352"/>
            <a:ext cx="3832708" cy="1005840"/>
          </a:xfrm>
          <a:prstGeom prst="rect">
            <a:avLst/>
          </a:prstGeom>
          <a:noFill/>
          <a:ln/>
        </p:spPr>
        <p:txBody>
          <a:bodyPr wrap="square" lIns="0" tIns="0" rIns="0" bIns="0" rtlCol="0" anchor="t"/>
          <a:lstStyle/>
          <a:p>
            <a:pPr indent="0" marL="0">
              <a:buNone/>
            </a:pPr>
            <a:r>
              <a:rPr lang="en-US" sz="1400" dirty="0">
                <a:solidFill>
                  <a:schemeClr val="tx1"/>
                </a:solidFill>
              </a:rPr>
              <a:t>アカウント・入口・アクセス・データ・</a:t>
            </a:r>
            <a:endParaRPr lang="en-US" sz="1400" dirty="0"/>
          </a:p>
          <a:p>
            <a:pPr indent="0" marL="0">
              <a:buNone/>
            </a:pPr>
            <a:r>
              <a:rPr lang="en-US" sz="1400" dirty="0">
                <a:solidFill>
                  <a:schemeClr val="tx1"/>
                </a:solidFill>
              </a:rPr>
              <a:t>権限・記録の六つの層に、</a:t>
            </a:r>
            <a:endParaRPr lang="en-US" sz="1400" dirty="0"/>
          </a:p>
          <a:p>
            <a:pPr indent="0" marL="0">
              <a:buNone/>
            </a:pPr>
            <a:r>
              <a:rPr lang="en-US" sz="1400" dirty="0">
                <a:solidFill>
                  <a:schemeClr val="tx1"/>
                </a:solidFill>
              </a:rPr>
              <a:t>標準的な対策を備えます。</a:t>
            </a:r>
            <a:endParaRPr lang="en-US" sz="1400" dirty="0"/>
          </a:p>
        </p:txBody>
      </p:sp>
      <p:sp>
        <p:nvSpPr>
          <p:cNvPr id="19" name="summary-card-4"/>
          <p:cNvSpPr/>
          <p:nvPr/>
        </p:nvSpPr>
        <p:spPr>
          <a:xfrm>
            <a:off x="6255868" y="4114800"/>
            <a:ext cx="5387188" cy="2103120"/>
          </a:xfrm>
          <a:prstGeom prst="roundRect">
            <a:avLst>
              <a:gd name="adj" fmla="val 3478"/>
            </a:avLst>
          </a:prstGeom>
          <a:solidFill>
            <a:schemeClr val="bg2"/>
          </a:solidFill>
          <a:ln w="9525">
            <a:solidFill>
              <a:schemeClr val="bg2"/>
            </a:solidFill>
            <a:prstDash val="solid"/>
          </a:ln>
        </p:spPr>
      </p:sp>
      <p:sp>
        <p:nvSpPr>
          <p:cNvPr id="20" name="summary-4-circle"/>
          <p:cNvSpPr/>
          <p:nvPr/>
        </p:nvSpPr>
        <p:spPr>
          <a:xfrm>
            <a:off x="6621628" y="4480560"/>
            <a:ext cx="731520" cy="731520"/>
          </a:xfrm>
          <a:prstGeom prst="ellipse">
            <a:avLst/>
          </a:prstGeom>
          <a:solidFill>
            <a:schemeClr val="accent1"/>
          </a:solidFill>
          <a:ln w="12700">
            <a:solidFill>
              <a:schemeClr val="accent1"/>
            </a:solidFill>
            <a:prstDash val="solid"/>
          </a:ln>
        </p:spPr>
      </p:sp>
      <p:pic>
        <p:nvPicPr>
          <p:cNvPr id="21" name="summary-4-icon" descr="preencoded.png">    </p:cNvPr>
          <p:cNvPicPr>
            <a:picLocks noChangeAspect="1"/>
          </p:cNvPicPr>
          <p:nvPr/>
        </p:nvPicPr>
        <p:blipFill>
          <a:blip r:embed="rId4"/>
          <a:stretch>
            <a:fillRect/>
          </a:stretch>
        </p:blipFill>
        <p:spPr>
          <a:xfrm>
            <a:off x="6782562" y="4641494"/>
            <a:ext cx="409651" cy="409651"/>
          </a:xfrm>
          <a:prstGeom prst="rect">
            <a:avLst/>
          </a:prstGeom>
        </p:spPr>
      </p:pic>
      <p:sp>
        <p:nvSpPr>
          <p:cNvPr id="22" name="summary-head-4"/>
          <p:cNvSpPr txBox="1"/>
          <p:nvPr/>
        </p:nvSpPr>
        <p:spPr>
          <a:xfrm>
            <a:off x="7581748" y="4480560"/>
            <a:ext cx="3832708" cy="548640"/>
          </a:xfrm>
          <a:prstGeom prst="rect">
            <a:avLst/>
          </a:prstGeom>
          <a:noFill/>
          <a:ln/>
        </p:spPr>
        <p:txBody>
          <a:bodyPr wrap="square" lIns="0" tIns="0" rIns="0" bIns="0" rtlCol="0" anchor="ctr"/>
          <a:lstStyle/>
          <a:p>
            <a:pPr indent="0" marL="0">
              <a:buNone/>
            </a:pPr>
            <a:r>
              <a:rPr lang="en-US" sz="1900" b="1" dirty="0">
                <a:solidFill>
                  <a:schemeClr val="tx2"/>
                </a:solidFill>
              </a:rPr>
              <a:t>コードによる迅速な構築と撤去</a:t>
            </a:r>
            <a:endParaRPr lang="en-US" sz="1900" dirty="0"/>
          </a:p>
        </p:txBody>
      </p:sp>
      <p:sp>
        <p:nvSpPr>
          <p:cNvPr id="23" name="summary-body-4"/>
          <p:cNvSpPr txBox="1"/>
          <p:nvPr/>
        </p:nvSpPr>
        <p:spPr>
          <a:xfrm>
            <a:off x="7581748" y="5102352"/>
            <a:ext cx="3832708" cy="1005840"/>
          </a:xfrm>
          <a:prstGeom prst="rect">
            <a:avLst/>
          </a:prstGeom>
          <a:noFill/>
          <a:ln/>
        </p:spPr>
        <p:txBody>
          <a:bodyPr wrap="square" lIns="0" tIns="0" rIns="0" bIns="0" rtlCol="0" anchor="t"/>
          <a:lstStyle/>
          <a:p>
            <a:pPr indent="0" marL="0">
              <a:buNone/>
            </a:pPr>
            <a:r>
              <a:rPr lang="en-US" sz="1400" dirty="0">
                <a:solidFill>
                  <a:schemeClr val="tx1"/>
                </a:solidFill>
              </a:rPr>
              <a:t>構成をすべてコード(AWS CDK)で</a:t>
            </a:r>
            <a:endParaRPr lang="en-US" sz="1400" dirty="0"/>
          </a:p>
          <a:p>
            <a:pPr indent="0" marL="0">
              <a:buNone/>
            </a:pPr>
            <a:r>
              <a:rPr lang="en-US" sz="1400" dirty="0">
                <a:solidFill>
                  <a:schemeClr val="tx1"/>
                </a:solidFill>
              </a:rPr>
              <a:t>管理するため、環境の再作成や撤去を</a:t>
            </a:r>
            <a:endParaRPr lang="en-US" sz="1400" dirty="0"/>
          </a:p>
          <a:p>
            <a:pPr indent="0" marL="0">
              <a:buNone/>
            </a:pPr>
            <a:r>
              <a:rPr lang="en-US" sz="1400" dirty="0">
                <a:solidFill>
                  <a:schemeClr val="tx1"/>
                </a:solidFill>
              </a:rPr>
              <a:t>短時間で行えます。</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40080"/>
          </a:xfrm>
          <a:prstGeom prst="rect">
            <a:avLst/>
          </a:prstGeom>
          <a:noFill/>
          <a:ln/>
        </p:spPr>
        <p:txBody>
          <a:bodyPr wrap="square" lIns="0" tIns="0" rIns="0" bIns="0" rtlCol="0" anchor="ctr"/>
          <a:lstStyle/>
          <a:p>
            <a:pPr algn="l" indent="0" marL="0">
              <a:buNone/>
            </a:pPr>
            <a:r>
              <a:rPr lang="en-US" sz="2800" b="1" dirty="0">
                <a:solidFill>
                  <a:schemeClr val="tx2"/>
                </a:solidFill>
              </a:rPr>
              <a:t>前提とご要件</a:t>
            </a:r>
            <a:endParaRPr lang="en-US" sz="28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ctr"/>
          <a:lstStyle/>
          <a:p>
            <a:pPr algn="l" indent="0" marL="0">
              <a:buNone/>
            </a:pPr>
            <a:r>
              <a:rPr lang="en-US" sz="1500" dirty="0">
                <a:solidFill>
                  <a:schemeClr val="tx1"/>
                </a:solidFill>
              </a:rPr>
              <a:t>利用者が提供したサンプルデータ(XML)を Python で解析し、検索報告書利用システムの画面に結果を表示します</a:t>
            </a:r>
            <a:endParaRPr lang="en-US" sz="1500" dirty="0"/>
          </a:p>
        </p:txBody>
      </p:sp>
      <p:sp>
        <p:nvSpPr>
          <p:cNvPr id="4" name="req-step-1"/>
          <p:cNvSpPr/>
          <p:nvPr/>
        </p:nvSpPr>
        <p:spPr>
          <a:xfrm>
            <a:off x="548640" y="1737360"/>
            <a:ext cx="3271418" cy="2057400"/>
          </a:xfrm>
          <a:prstGeom prst="roundRect">
            <a:avLst>
              <a:gd name="adj" fmla="val 3556"/>
            </a:avLst>
          </a:prstGeom>
          <a:solidFill>
            <a:schemeClr val="bg2"/>
          </a:solidFill>
          <a:ln w="9525">
            <a:solidFill>
              <a:schemeClr val="bg2"/>
            </a:solidFill>
            <a:prstDash val="solid"/>
          </a:ln>
        </p:spPr>
      </p:sp>
      <p:sp>
        <p:nvSpPr>
          <p:cNvPr id="5" name="req-1-circle"/>
          <p:cNvSpPr/>
          <p:nvPr/>
        </p:nvSpPr>
        <p:spPr>
          <a:xfrm>
            <a:off x="868680" y="2011680"/>
            <a:ext cx="685800" cy="685800"/>
          </a:xfrm>
          <a:prstGeom prst="ellipse">
            <a:avLst/>
          </a:prstGeom>
          <a:solidFill>
            <a:schemeClr val="accent2"/>
          </a:solidFill>
          <a:ln w="12700">
            <a:solidFill>
              <a:schemeClr val="accent2"/>
            </a:solidFill>
            <a:prstDash val="solid"/>
          </a:ln>
        </p:spPr>
      </p:sp>
      <p:pic>
        <p:nvPicPr>
          <p:cNvPr id="6" name="req-1-icon" descr="preencoded.png">    </p:cNvPr>
          <p:cNvPicPr>
            <a:picLocks noChangeAspect="1"/>
          </p:cNvPicPr>
          <p:nvPr/>
        </p:nvPicPr>
        <p:blipFill>
          <a:blip r:embed="rId1"/>
          <a:stretch>
            <a:fillRect/>
          </a:stretch>
        </p:blipFill>
        <p:spPr>
          <a:xfrm>
            <a:off x="1019556" y="2162556"/>
            <a:ext cx="384048" cy="384048"/>
          </a:xfrm>
          <a:prstGeom prst="rect">
            <a:avLst/>
          </a:prstGeom>
        </p:spPr>
      </p:pic>
      <p:sp>
        <p:nvSpPr>
          <p:cNvPr id="7" name="req-head-1"/>
          <p:cNvSpPr txBox="1"/>
          <p:nvPr/>
        </p:nvSpPr>
        <p:spPr>
          <a:xfrm>
            <a:off x="1737360" y="2011680"/>
            <a:ext cx="1899818" cy="685800"/>
          </a:xfrm>
          <a:prstGeom prst="rect">
            <a:avLst/>
          </a:prstGeom>
          <a:noFill/>
          <a:ln/>
        </p:spPr>
        <p:txBody>
          <a:bodyPr wrap="square" lIns="0" tIns="0" rIns="0" bIns="0" rtlCol="0" anchor="ctr"/>
          <a:lstStyle/>
          <a:p>
            <a:pPr indent="0" marL="0">
              <a:buNone/>
            </a:pPr>
            <a:r>
              <a:rPr lang="en-US" sz="1800" b="1" dirty="0">
                <a:solidFill>
                  <a:schemeClr val="tx2"/>
                </a:solidFill>
              </a:rPr>
              <a:t>データの提供</a:t>
            </a:r>
            <a:endParaRPr lang="en-US" sz="1800" dirty="0"/>
          </a:p>
        </p:txBody>
      </p:sp>
      <p:sp>
        <p:nvSpPr>
          <p:cNvPr id="8" name="req-body-1"/>
          <p:cNvSpPr txBox="1"/>
          <p:nvPr/>
        </p:nvSpPr>
        <p:spPr>
          <a:xfrm>
            <a:off x="868680" y="2788920"/>
            <a:ext cx="2768498" cy="960120"/>
          </a:xfrm>
          <a:prstGeom prst="rect">
            <a:avLst/>
          </a:prstGeom>
          <a:noFill/>
          <a:ln/>
        </p:spPr>
        <p:txBody>
          <a:bodyPr wrap="square" lIns="0" tIns="0" rIns="0" bIns="0" rtlCol="0" anchor="t"/>
          <a:lstStyle/>
          <a:p>
            <a:pPr indent="0" marL="0">
              <a:buNone/>
            </a:pPr>
            <a:r>
              <a:rPr lang="en-US" sz="1400" dirty="0">
                <a:solidFill>
                  <a:schemeClr val="tx1"/>
                </a:solidFill>
              </a:rPr>
              <a:t>利用者がブラウザから</a:t>
            </a:r>
            <a:endParaRPr lang="en-US" sz="1400" dirty="0"/>
          </a:p>
          <a:p>
            <a:pPr indent="0" marL="0">
              <a:buNone/>
            </a:pPr>
            <a:r>
              <a:rPr lang="en-US" sz="1400" dirty="0">
                <a:solidFill>
                  <a:schemeClr val="tx1"/>
                </a:solidFill>
              </a:rPr>
              <a:t>サンプルデータ(XML)を</a:t>
            </a:r>
            <a:endParaRPr lang="en-US" sz="1400" dirty="0"/>
          </a:p>
          <a:p>
            <a:pPr indent="0" marL="0">
              <a:buNone/>
            </a:pPr>
            <a:r>
              <a:rPr lang="en-US" sz="1400" dirty="0">
                <a:solidFill>
                  <a:schemeClr val="tx1"/>
                </a:solidFill>
              </a:rPr>
              <a:t>アップロードします。</a:t>
            </a:r>
            <a:endParaRPr lang="en-US" sz="1400" dirty="0"/>
          </a:p>
        </p:txBody>
      </p:sp>
      <p:sp>
        <p:nvSpPr>
          <p:cNvPr id="9" name="req-arrow-1"/>
          <p:cNvSpPr/>
          <p:nvPr/>
        </p:nvSpPr>
        <p:spPr>
          <a:xfrm>
            <a:off x="3929786" y="2766060"/>
            <a:ext cx="420624" cy="914"/>
          </a:xfrm>
          <a:prstGeom prst="line">
            <a:avLst/>
          </a:prstGeom>
          <a:noFill/>
          <a:ln w="31750">
            <a:solidFill>
              <a:schemeClr val="accent3"/>
            </a:solidFill>
            <a:prstDash val="solid"/>
            <a:headEnd type="none"/>
            <a:tailEnd type="triangle"/>
          </a:ln>
        </p:spPr>
      </p:sp>
      <p:sp>
        <p:nvSpPr>
          <p:cNvPr id="10" name="req-step-2"/>
          <p:cNvSpPr/>
          <p:nvPr/>
        </p:nvSpPr>
        <p:spPr>
          <a:xfrm>
            <a:off x="4460138" y="1737360"/>
            <a:ext cx="3271418" cy="2057400"/>
          </a:xfrm>
          <a:prstGeom prst="roundRect">
            <a:avLst>
              <a:gd name="adj" fmla="val 3556"/>
            </a:avLst>
          </a:prstGeom>
          <a:solidFill>
            <a:schemeClr val="bg2"/>
          </a:solidFill>
          <a:ln w="9525">
            <a:solidFill>
              <a:schemeClr val="bg2"/>
            </a:solidFill>
            <a:prstDash val="solid"/>
          </a:ln>
        </p:spPr>
      </p:sp>
      <p:sp>
        <p:nvSpPr>
          <p:cNvPr id="11" name="req-2-circle"/>
          <p:cNvSpPr/>
          <p:nvPr/>
        </p:nvSpPr>
        <p:spPr>
          <a:xfrm>
            <a:off x="4780178" y="2011680"/>
            <a:ext cx="685800" cy="685800"/>
          </a:xfrm>
          <a:prstGeom prst="ellipse">
            <a:avLst/>
          </a:prstGeom>
          <a:solidFill>
            <a:schemeClr val="accent2"/>
          </a:solidFill>
          <a:ln w="12700">
            <a:solidFill>
              <a:schemeClr val="accent2"/>
            </a:solidFill>
            <a:prstDash val="solid"/>
          </a:ln>
        </p:spPr>
      </p:sp>
      <p:pic>
        <p:nvPicPr>
          <p:cNvPr id="12" name="req-2-icon" descr="preencoded.png">    </p:cNvPr>
          <p:cNvPicPr>
            <a:picLocks noChangeAspect="1"/>
          </p:cNvPicPr>
          <p:nvPr/>
        </p:nvPicPr>
        <p:blipFill>
          <a:blip r:embed="rId2"/>
          <a:stretch>
            <a:fillRect/>
          </a:stretch>
        </p:blipFill>
        <p:spPr>
          <a:xfrm>
            <a:off x="4931054" y="2162556"/>
            <a:ext cx="384048" cy="384048"/>
          </a:xfrm>
          <a:prstGeom prst="rect">
            <a:avLst/>
          </a:prstGeom>
        </p:spPr>
      </p:pic>
      <p:sp>
        <p:nvSpPr>
          <p:cNvPr id="13" name="req-head-2"/>
          <p:cNvSpPr txBox="1"/>
          <p:nvPr/>
        </p:nvSpPr>
        <p:spPr>
          <a:xfrm>
            <a:off x="5648858" y="2011680"/>
            <a:ext cx="1899818" cy="685800"/>
          </a:xfrm>
          <a:prstGeom prst="rect">
            <a:avLst/>
          </a:prstGeom>
          <a:noFill/>
          <a:ln/>
        </p:spPr>
        <p:txBody>
          <a:bodyPr wrap="square" lIns="0" tIns="0" rIns="0" bIns="0" rtlCol="0" anchor="ctr"/>
          <a:lstStyle/>
          <a:p>
            <a:pPr indent="0" marL="0">
              <a:buNone/>
            </a:pPr>
            <a:r>
              <a:rPr lang="en-US" sz="1800" b="1" dirty="0">
                <a:solidFill>
                  <a:schemeClr val="tx2"/>
                </a:solidFill>
              </a:rPr>
              <a:t>バックエンド解析</a:t>
            </a:r>
            <a:endParaRPr lang="en-US" sz="1800" dirty="0"/>
          </a:p>
        </p:txBody>
      </p:sp>
      <p:sp>
        <p:nvSpPr>
          <p:cNvPr id="14" name="req-body-2"/>
          <p:cNvSpPr txBox="1"/>
          <p:nvPr/>
        </p:nvSpPr>
        <p:spPr>
          <a:xfrm>
            <a:off x="4780178" y="2788920"/>
            <a:ext cx="2768498" cy="960120"/>
          </a:xfrm>
          <a:prstGeom prst="rect">
            <a:avLst/>
          </a:prstGeom>
          <a:noFill/>
          <a:ln/>
        </p:spPr>
        <p:txBody>
          <a:bodyPr wrap="square" lIns="0" tIns="0" rIns="0" bIns="0" rtlCol="0" anchor="t"/>
          <a:lstStyle/>
          <a:p>
            <a:pPr indent="0" marL="0">
              <a:buNone/>
            </a:pPr>
            <a:r>
              <a:rPr lang="en-US" sz="1400" dirty="0">
                <a:solidFill>
                  <a:schemeClr val="tx1"/>
                </a:solidFill>
              </a:rPr>
              <a:t>Python のプログラムが</a:t>
            </a:r>
            <a:endParaRPr lang="en-US" sz="1400" dirty="0"/>
          </a:p>
          <a:p>
            <a:pPr indent="0" marL="0">
              <a:buNone/>
            </a:pPr>
            <a:r>
              <a:rPr lang="en-US" sz="1400" dirty="0">
                <a:solidFill>
                  <a:schemeClr val="tx1"/>
                </a:solidFill>
              </a:rPr>
              <a:t>XML を自動で解析します。</a:t>
            </a:r>
            <a:endParaRPr lang="en-US" sz="1400" dirty="0"/>
          </a:p>
        </p:txBody>
      </p:sp>
      <p:sp>
        <p:nvSpPr>
          <p:cNvPr id="15" name="req-arrow-2"/>
          <p:cNvSpPr/>
          <p:nvPr/>
        </p:nvSpPr>
        <p:spPr>
          <a:xfrm>
            <a:off x="7841285" y="2766060"/>
            <a:ext cx="420624" cy="914"/>
          </a:xfrm>
          <a:prstGeom prst="line">
            <a:avLst/>
          </a:prstGeom>
          <a:noFill/>
          <a:ln w="31750">
            <a:solidFill>
              <a:schemeClr val="accent3"/>
            </a:solidFill>
            <a:prstDash val="solid"/>
            <a:headEnd type="none"/>
            <a:tailEnd type="triangle"/>
          </a:ln>
        </p:spPr>
      </p:sp>
      <p:sp>
        <p:nvSpPr>
          <p:cNvPr id="16" name="req-step-3"/>
          <p:cNvSpPr/>
          <p:nvPr/>
        </p:nvSpPr>
        <p:spPr>
          <a:xfrm>
            <a:off x="8371637" y="1737360"/>
            <a:ext cx="3271418" cy="2057400"/>
          </a:xfrm>
          <a:prstGeom prst="roundRect">
            <a:avLst>
              <a:gd name="adj" fmla="val 3556"/>
            </a:avLst>
          </a:prstGeom>
          <a:solidFill>
            <a:schemeClr val="bg2"/>
          </a:solidFill>
          <a:ln w="9525">
            <a:solidFill>
              <a:schemeClr val="bg2"/>
            </a:solidFill>
            <a:prstDash val="solid"/>
          </a:ln>
        </p:spPr>
      </p:sp>
      <p:sp>
        <p:nvSpPr>
          <p:cNvPr id="17" name="req-3-circle"/>
          <p:cNvSpPr/>
          <p:nvPr/>
        </p:nvSpPr>
        <p:spPr>
          <a:xfrm>
            <a:off x="8691677" y="2011680"/>
            <a:ext cx="685800" cy="685800"/>
          </a:xfrm>
          <a:prstGeom prst="ellipse">
            <a:avLst/>
          </a:prstGeom>
          <a:solidFill>
            <a:schemeClr val="accent2"/>
          </a:solidFill>
          <a:ln w="12700">
            <a:solidFill>
              <a:schemeClr val="accent2"/>
            </a:solidFill>
            <a:prstDash val="solid"/>
          </a:ln>
        </p:spPr>
      </p:sp>
      <p:pic>
        <p:nvPicPr>
          <p:cNvPr id="18" name="req-3-icon" descr="preencoded.png">    </p:cNvPr>
          <p:cNvPicPr>
            <a:picLocks noChangeAspect="1"/>
          </p:cNvPicPr>
          <p:nvPr/>
        </p:nvPicPr>
        <p:blipFill>
          <a:blip r:embed="rId3"/>
          <a:stretch>
            <a:fillRect/>
          </a:stretch>
        </p:blipFill>
        <p:spPr>
          <a:xfrm>
            <a:off x="8842553" y="2162556"/>
            <a:ext cx="384048" cy="384048"/>
          </a:xfrm>
          <a:prstGeom prst="rect">
            <a:avLst/>
          </a:prstGeom>
        </p:spPr>
      </p:pic>
      <p:sp>
        <p:nvSpPr>
          <p:cNvPr id="19" name="req-head-3"/>
          <p:cNvSpPr txBox="1"/>
          <p:nvPr/>
        </p:nvSpPr>
        <p:spPr>
          <a:xfrm>
            <a:off x="9560357" y="2011680"/>
            <a:ext cx="1899818" cy="685800"/>
          </a:xfrm>
          <a:prstGeom prst="rect">
            <a:avLst/>
          </a:prstGeom>
          <a:noFill/>
          <a:ln/>
        </p:spPr>
        <p:txBody>
          <a:bodyPr wrap="square" lIns="0" tIns="0" rIns="0" bIns="0" rtlCol="0" anchor="ctr"/>
          <a:lstStyle/>
          <a:p>
            <a:pPr indent="0" marL="0">
              <a:buNone/>
            </a:pPr>
            <a:r>
              <a:rPr lang="en-US" sz="1800" b="1" dirty="0">
                <a:solidFill>
                  <a:schemeClr val="tx2"/>
                </a:solidFill>
              </a:rPr>
              <a:t>結果の表示</a:t>
            </a:r>
            <a:endParaRPr lang="en-US" sz="1800" dirty="0"/>
          </a:p>
        </p:txBody>
      </p:sp>
      <p:sp>
        <p:nvSpPr>
          <p:cNvPr id="20" name="req-body-3"/>
          <p:cNvSpPr txBox="1"/>
          <p:nvPr/>
        </p:nvSpPr>
        <p:spPr>
          <a:xfrm>
            <a:off x="8691677" y="2788920"/>
            <a:ext cx="2768498" cy="960120"/>
          </a:xfrm>
          <a:prstGeom prst="rect">
            <a:avLst/>
          </a:prstGeom>
          <a:noFill/>
          <a:ln/>
        </p:spPr>
        <p:txBody>
          <a:bodyPr wrap="square" lIns="0" tIns="0" rIns="0" bIns="0" rtlCol="0" anchor="t"/>
          <a:lstStyle/>
          <a:p>
            <a:pPr indent="0" marL="0">
              <a:buNone/>
            </a:pPr>
            <a:r>
              <a:rPr lang="en-US" sz="1400" dirty="0">
                <a:solidFill>
                  <a:schemeClr val="tx1"/>
                </a:solidFill>
              </a:rPr>
              <a:t>検索報告書利用システム</a:t>
            </a:r>
            <a:endParaRPr lang="en-US" sz="1400" dirty="0"/>
          </a:p>
          <a:p>
            <a:pPr indent="0" marL="0">
              <a:buNone/>
            </a:pPr>
            <a:r>
              <a:rPr lang="en-US" sz="1400" dirty="0">
                <a:solidFill>
                  <a:schemeClr val="tx1"/>
                </a:solidFill>
              </a:rPr>
              <a:t>(Node.js の画面)で、</a:t>
            </a:r>
            <a:endParaRPr lang="en-US" sz="1400" dirty="0"/>
          </a:p>
          <a:p>
            <a:pPr indent="0" marL="0">
              <a:buNone/>
            </a:pPr>
            <a:r>
              <a:rPr lang="en-US" sz="1400" dirty="0">
                <a:solidFill>
                  <a:schemeClr val="tx1"/>
                </a:solidFill>
              </a:rPr>
              <a:t>解析結果を確認します。</a:t>
            </a:r>
            <a:endParaRPr lang="en-US" sz="1400" dirty="0"/>
          </a:p>
        </p:txBody>
      </p:sp>
      <p:sp>
        <p:nvSpPr>
          <p:cNvPr id="21" name="req-premise"/>
          <p:cNvSpPr/>
          <p:nvPr/>
        </p:nvSpPr>
        <p:spPr>
          <a:xfrm>
            <a:off x="548640" y="4023360"/>
            <a:ext cx="11094415" cy="2148840"/>
          </a:xfrm>
          <a:prstGeom prst="roundRect">
            <a:avLst>
              <a:gd name="adj" fmla="val 3404"/>
            </a:avLst>
          </a:prstGeom>
          <a:solidFill>
            <a:schemeClr val="bg1"/>
          </a:solidFill>
          <a:ln w="9525">
            <a:solidFill>
              <a:schemeClr val="accent4"/>
            </a:solidFill>
            <a:prstDash val="solid"/>
          </a:ln>
        </p:spPr>
      </p:sp>
      <p:sp>
        <p:nvSpPr>
          <p:cNvPr id="22" name="req-premise-head"/>
          <p:cNvSpPr txBox="1"/>
          <p:nvPr/>
        </p:nvSpPr>
        <p:spPr>
          <a:xfrm>
            <a:off x="868680" y="4187952"/>
            <a:ext cx="2743200" cy="384048"/>
          </a:xfrm>
          <a:prstGeom prst="rect">
            <a:avLst/>
          </a:prstGeom>
          <a:noFill/>
          <a:ln/>
        </p:spPr>
        <p:txBody>
          <a:bodyPr wrap="square" lIns="0" tIns="0" rIns="0" bIns="0" rtlCol="0" anchor="ctr"/>
          <a:lstStyle/>
          <a:p>
            <a:pPr indent="0" marL="0">
              <a:buNone/>
            </a:pPr>
            <a:r>
              <a:rPr lang="en-US" sz="1600" b="1" dirty="0">
                <a:solidFill>
                  <a:schemeClr val="tx2"/>
                </a:solidFill>
              </a:rPr>
              <a:t>本提案の前提</a:t>
            </a:r>
            <a:endParaRPr lang="en-US" sz="1600" dirty="0"/>
          </a:p>
        </p:txBody>
      </p:sp>
      <p:sp>
        <p:nvSpPr>
          <p:cNvPr id="23" name="req-premise-list"/>
          <p:cNvSpPr txBox="1"/>
          <p:nvPr/>
        </p:nvSpPr>
        <p:spPr>
          <a:xfrm>
            <a:off x="868680" y="4590288"/>
            <a:ext cx="10454335" cy="149047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検証用のモック環境として少人数での利用を想定し、基本的なセキュリティ対策を備えます</a:t>
            </a:r>
            <a:endParaRPr lang="en-US" sz="1400" dirty="0"/>
          </a:p>
          <a:p>
            <a:pPr marL="177800" indent="-177800">
              <a:spcAft>
                <a:spcPts val="300"/>
              </a:spcAft>
              <a:buSzPct val="100000"/>
              <a:buChar char="•"/>
            </a:pPr>
            <a:r>
              <a:rPr lang="en-US" sz="1400" dirty="0">
                <a:solidFill>
                  <a:schemeClr val="tx1"/>
                </a:solidFill>
              </a:rPr>
              <a:t>本番運用に向けた冗長化・運用設計は、検証の結果を踏まえて次の段階で検討します</a:t>
            </a:r>
            <a:endParaRPr lang="en-US" sz="1400" dirty="0"/>
          </a:p>
          <a:p>
            <a:pPr marL="177800" indent="-177800">
              <a:spcAft>
                <a:spcPts val="300"/>
              </a:spcAft>
              <a:buSzPct val="100000"/>
              <a:buChar char="•"/>
            </a:pPr>
            <a:r>
              <a:rPr lang="en-US" sz="1400" dirty="0">
                <a:solidFill>
                  <a:schemeClr val="tx1"/>
                </a:solidFill>
              </a:rPr>
              <a:t>利用者の認証(ログイン)の仕組みは今回の対象外とし、必要に応じて次の段階で検討します</a:t>
            </a:r>
            <a:endParaRPr lang="en-US" sz="1400" dirty="0"/>
          </a:p>
          <a:p>
            <a:pPr marL="177800" indent="-177800">
              <a:spcAft>
                <a:spcPts val="300"/>
              </a:spcAft>
              <a:buSzPct val="100000"/>
              <a:buChar char="•"/>
            </a:pPr>
            <a:r>
              <a:rPr lang="en-US" sz="1400" dirty="0">
                <a:solidFill>
                  <a:schemeClr val="tx1"/>
                </a:solidFill>
              </a:rPr>
              <a:t>AWS アカウントのご用意と、構築・運用のご担当範囲は、別途ご相談のうえ決定します</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40080"/>
          </a:xfrm>
          <a:prstGeom prst="rect">
            <a:avLst/>
          </a:prstGeom>
          <a:noFill/>
          <a:ln/>
        </p:spPr>
        <p:txBody>
          <a:bodyPr wrap="square" lIns="0" tIns="0" rIns="0" bIns="0" rtlCol="0" anchor="ctr"/>
          <a:lstStyle/>
          <a:p>
            <a:pPr algn="l" indent="0" marL="0">
              <a:buNone/>
            </a:pPr>
            <a:r>
              <a:rPr lang="en-US" sz="2800" b="1" dirty="0">
                <a:solidFill>
                  <a:schemeClr val="tx2"/>
                </a:solidFill>
              </a:rPr>
              <a:t>全体構成図</a:t>
            </a:r>
            <a:endParaRPr lang="en-US" sz="28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ctr"/>
          <a:lstStyle/>
          <a:p>
            <a:pPr algn="l" indent="0" marL="0">
              <a:buNone/>
            </a:pPr>
            <a:r>
              <a:rPr lang="en-US" sz="1500" dirty="0">
                <a:solidFill>
                  <a:schemeClr val="tx1"/>
                </a:solidFill>
              </a:rPr>
              <a:t>入口・処理・データを AWS のマネージドサービスで構成し、サーバーの管理を不要にします</a:t>
            </a:r>
            <a:endParaRPr lang="en-US" sz="1500" dirty="0"/>
          </a:p>
        </p:txBody>
      </p:sp>
      <p:sp>
        <p:nvSpPr>
          <p:cNvPr id="4" name="aws-boundary"/>
          <p:cNvSpPr/>
          <p:nvPr/>
        </p:nvSpPr>
        <p:spPr>
          <a:xfrm>
            <a:off x="2331720" y="1572768"/>
            <a:ext cx="9311335" cy="3163824"/>
          </a:xfrm>
          <a:prstGeom prst="roundRect">
            <a:avLst>
              <a:gd name="adj" fmla="val 1734"/>
            </a:avLst>
          </a:prstGeom>
          <a:solidFill>
            <a:schemeClr val="bg1"/>
          </a:solidFill>
          <a:ln w="12700">
            <a:solidFill>
              <a:schemeClr val="accent4"/>
            </a:solidFill>
            <a:prstDash val="dash"/>
          </a:ln>
        </p:spPr>
      </p:sp>
      <p:sp>
        <p:nvSpPr>
          <p:cNvPr id="5" name="aws-boundary-label"/>
          <p:cNvSpPr txBox="1"/>
          <p:nvPr/>
        </p:nvSpPr>
        <p:spPr>
          <a:xfrm>
            <a:off x="2514600" y="1645920"/>
            <a:ext cx="3383280" cy="292608"/>
          </a:xfrm>
          <a:prstGeom prst="rect">
            <a:avLst/>
          </a:prstGeom>
          <a:noFill/>
          <a:ln/>
        </p:spPr>
        <p:txBody>
          <a:bodyPr wrap="square" lIns="0" tIns="0" rIns="0" bIns="0" rtlCol="0" anchor="ctr"/>
          <a:lstStyle/>
          <a:p>
            <a:pPr indent="0" marL="0">
              <a:buNone/>
            </a:pPr>
            <a:r>
              <a:rPr lang="en-US" sz="1100" b="1" dirty="0">
                <a:solidFill>
                  <a:schemeClr val="accent4"/>
                </a:solidFill>
              </a:rPr>
              <a:t>AWS クラウド(保存先: 東京リージョン)</a:t>
            </a:r>
            <a:endParaRPr lang="en-US" sz="1100" dirty="0"/>
          </a:p>
        </p:txBody>
      </p:sp>
      <p:sp>
        <p:nvSpPr>
          <p:cNvPr id="6" name="box-user"/>
          <p:cNvSpPr/>
          <p:nvPr/>
        </p:nvSpPr>
        <p:spPr>
          <a:xfrm>
            <a:off x="548640" y="2011680"/>
            <a:ext cx="1234440" cy="2560320"/>
          </a:xfrm>
          <a:prstGeom prst="roundRect">
            <a:avLst>
              <a:gd name="adj" fmla="val 5185"/>
            </a:avLst>
          </a:prstGeom>
          <a:solidFill>
            <a:schemeClr val="bg2"/>
          </a:solidFill>
          <a:ln w="12700">
            <a:solidFill>
              <a:schemeClr val="tx2"/>
            </a:solidFill>
            <a:prstDash val="solid"/>
          </a:ln>
        </p:spPr>
      </p:sp>
      <p:sp>
        <p:nvSpPr>
          <p:cNvPr id="7" name="box-user-circle"/>
          <p:cNvSpPr/>
          <p:nvPr/>
        </p:nvSpPr>
        <p:spPr>
          <a:xfrm>
            <a:off x="845820" y="2286000"/>
            <a:ext cx="640080" cy="640080"/>
          </a:xfrm>
          <a:prstGeom prst="ellipse">
            <a:avLst/>
          </a:prstGeom>
          <a:solidFill>
            <a:schemeClr val="tx2"/>
          </a:solidFill>
          <a:ln w="12700">
            <a:solidFill>
              <a:schemeClr val="tx2"/>
            </a:solidFill>
            <a:prstDash val="solid"/>
          </a:ln>
        </p:spPr>
      </p:sp>
      <p:pic>
        <p:nvPicPr>
          <p:cNvPr id="8" name="box-user-icon" descr="preencoded.png">    </p:cNvPr>
          <p:cNvPicPr>
            <a:picLocks noChangeAspect="1"/>
          </p:cNvPicPr>
          <p:nvPr/>
        </p:nvPicPr>
        <p:blipFill>
          <a:blip r:embed="rId1"/>
          <a:stretch>
            <a:fillRect/>
          </a:stretch>
        </p:blipFill>
        <p:spPr>
          <a:xfrm>
            <a:off x="986638" y="2426818"/>
            <a:ext cx="358445" cy="358445"/>
          </a:xfrm>
          <a:prstGeom prst="rect">
            <a:avLst/>
          </a:prstGeom>
        </p:spPr>
      </p:pic>
      <p:sp>
        <p:nvSpPr>
          <p:cNvPr id="9" name="box-user-text"/>
          <p:cNvSpPr txBox="1"/>
          <p:nvPr/>
        </p:nvSpPr>
        <p:spPr>
          <a:xfrm>
            <a:off x="594360" y="3017520"/>
            <a:ext cx="1143000" cy="731520"/>
          </a:xfrm>
          <a:prstGeom prst="rect">
            <a:avLst/>
          </a:prstGeom>
          <a:noFill/>
          <a:ln/>
        </p:spPr>
        <p:txBody>
          <a:bodyPr wrap="square" lIns="0" tIns="0" rIns="0" bIns="0" rtlCol="0" anchor="t"/>
          <a:lstStyle/>
          <a:p>
            <a:pPr algn="ctr" indent="0" marL="0">
              <a:buNone/>
            </a:pPr>
            <a:r>
              <a:rPr lang="en-US" sz="1300" b="1" dirty="0">
                <a:solidFill>
                  <a:schemeClr val="tx1"/>
                </a:solidFill>
              </a:rPr>
              <a:t>利用者</a:t>
            </a:r>
            <a:endParaRPr lang="en-US" sz="1300" dirty="0"/>
          </a:p>
          <a:p>
            <a:pPr algn="ctr" indent="0" marL="0">
              <a:buNone/>
            </a:pPr>
            <a:r>
              <a:rPr lang="en-US" sz="1000" dirty="0">
                <a:solidFill>
                  <a:schemeClr val="tx1"/>
                </a:solidFill>
              </a:rPr>
              <a:t>ブラウザ</a:t>
            </a:r>
            <a:endParaRPr lang="en-US" sz="1300" dirty="0"/>
          </a:p>
        </p:txBody>
      </p:sp>
      <p:sp>
        <p:nvSpPr>
          <p:cNvPr id="10" name="box-cloudfront"/>
          <p:cNvSpPr/>
          <p:nvPr/>
        </p:nvSpPr>
        <p:spPr>
          <a:xfrm>
            <a:off x="2606040" y="2011680"/>
            <a:ext cx="1920240" cy="731520"/>
          </a:xfrm>
          <a:prstGeom prst="roundRect">
            <a:avLst>
              <a:gd name="adj" fmla="val 8750"/>
            </a:avLst>
          </a:prstGeom>
          <a:solidFill>
            <a:schemeClr val="accent1">
              <a:alpha val="12000"/>
            </a:schemeClr>
          </a:solidFill>
          <a:ln w="12700">
            <a:solidFill>
              <a:schemeClr val="accent1"/>
            </a:solidFill>
            <a:prstDash val="solid"/>
          </a:ln>
        </p:spPr>
      </p:sp>
      <p:sp>
        <p:nvSpPr>
          <p:cNvPr id="11" name="box-cloudfront-circle"/>
          <p:cNvSpPr/>
          <p:nvPr/>
        </p:nvSpPr>
        <p:spPr>
          <a:xfrm>
            <a:off x="2715768" y="2203704"/>
            <a:ext cx="347472" cy="347472"/>
          </a:xfrm>
          <a:prstGeom prst="ellipse">
            <a:avLst/>
          </a:prstGeom>
          <a:solidFill>
            <a:schemeClr val="accent1"/>
          </a:solidFill>
          <a:ln w="12700">
            <a:solidFill>
              <a:schemeClr val="accent1"/>
            </a:solidFill>
            <a:prstDash val="solid"/>
          </a:ln>
        </p:spPr>
      </p:sp>
      <p:pic>
        <p:nvPicPr>
          <p:cNvPr id="12" name="box-cloudfront-icon" descr="preencoded.png">    </p:cNvPr>
          <p:cNvPicPr>
            <a:picLocks noChangeAspect="1"/>
          </p:cNvPicPr>
          <p:nvPr/>
        </p:nvPicPr>
        <p:blipFill>
          <a:blip r:embed="rId2"/>
          <a:stretch>
            <a:fillRect/>
          </a:stretch>
        </p:blipFill>
        <p:spPr>
          <a:xfrm>
            <a:off x="2792212" y="2280148"/>
            <a:ext cx="194584" cy="194584"/>
          </a:xfrm>
          <a:prstGeom prst="rect">
            <a:avLst/>
          </a:prstGeom>
        </p:spPr>
      </p:pic>
      <p:sp>
        <p:nvSpPr>
          <p:cNvPr id="13" name="box-cloudfront-text"/>
          <p:cNvSpPr txBox="1"/>
          <p:nvPr/>
        </p:nvSpPr>
        <p:spPr>
          <a:xfrm>
            <a:off x="3136392" y="2066544"/>
            <a:ext cx="1335024" cy="621792"/>
          </a:xfrm>
          <a:prstGeom prst="rect">
            <a:avLst/>
          </a:prstGeom>
          <a:noFill/>
          <a:ln/>
        </p:spPr>
        <p:txBody>
          <a:bodyPr wrap="square" lIns="0" tIns="0" rIns="0" bIns="0" rtlCol="0" anchor="ctr"/>
          <a:lstStyle/>
          <a:p>
            <a:pPr indent="0" marL="0">
              <a:buNone/>
            </a:pPr>
            <a:r>
              <a:rPr lang="en-US" sz="1100" b="1" dirty="0">
                <a:solidFill>
                  <a:schemeClr val="tx1"/>
                </a:solidFill>
              </a:rPr>
              <a:t>CloudFront + WAF</a:t>
            </a:r>
            <a:endParaRPr lang="en-US" sz="1100" dirty="0"/>
          </a:p>
          <a:p>
            <a:pPr indent="0" marL="0">
              <a:buNone/>
            </a:pPr>
            <a:r>
              <a:rPr lang="en-US" sz="1000" dirty="0">
                <a:solidFill>
                  <a:schemeClr val="tx1"/>
                </a:solidFill>
              </a:rPr>
              <a:t>HTTPS の入口と防御</a:t>
            </a:r>
            <a:endParaRPr lang="en-US" sz="1100" dirty="0"/>
          </a:p>
        </p:txBody>
      </p:sp>
      <p:sp>
        <p:nvSpPr>
          <p:cNvPr id="14" name="box-s3web"/>
          <p:cNvSpPr/>
          <p:nvPr/>
        </p:nvSpPr>
        <p:spPr>
          <a:xfrm>
            <a:off x="5074920" y="2011680"/>
            <a:ext cx="1920240" cy="731520"/>
          </a:xfrm>
          <a:prstGeom prst="roundRect">
            <a:avLst>
              <a:gd name="adj" fmla="val 8750"/>
            </a:avLst>
          </a:prstGeom>
          <a:solidFill>
            <a:schemeClr val="accent2">
              <a:alpha val="12000"/>
            </a:schemeClr>
          </a:solidFill>
          <a:ln w="12700">
            <a:solidFill>
              <a:schemeClr val="accent2"/>
            </a:solidFill>
            <a:prstDash val="solid"/>
          </a:ln>
        </p:spPr>
      </p:sp>
      <p:sp>
        <p:nvSpPr>
          <p:cNvPr id="15" name="box-s3web-circle"/>
          <p:cNvSpPr/>
          <p:nvPr/>
        </p:nvSpPr>
        <p:spPr>
          <a:xfrm>
            <a:off x="5184648" y="2203704"/>
            <a:ext cx="347472" cy="347472"/>
          </a:xfrm>
          <a:prstGeom prst="ellipse">
            <a:avLst/>
          </a:prstGeom>
          <a:solidFill>
            <a:schemeClr val="accent2"/>
          </a:solidFill>
          <a:ln w="12700">
            <a:solidFill>
              <a:schemeClr val="accent2"/>
            </a:solidFill>
            <a:prstDash val="solid"/>
          </a:ln>
        </p:spPr>
      </p:sp>
      <p:pic>
        <p:nvPicPr>
          <p:cNvPr id="16" name="box-s3web-icon" descr="preencoded.png">    </p:cNvPr>
          <p:cNvPicPr>
            <a:picLocks noChangeAspect="1"/>
          </p:cNvPicPr>
          <p:nvPr/>
        </p:nvPicPr>
        <p:blipFill>
          <a:blip r:embed="rId3"/>
          <a:stretch>
            <a:fillRect/>
          </a:stretch>
        </p:blipFill>
        <p:spPr>
          <a:xfrm>
            <a:off x="5261092" y="2280148"/>
            <a:ext cx="194584" cy="194584"/>
          </a:xfrm>
          <a:prstGeom prst="rect">
            <a:avLst/>
          </a:prstGeom>
        </p:spPr>
      </p:pic>
      <p:sp>
        <p:nvSpPr>
          <p:cNvPr id="17" name="box-s3web-text"/>
          <p:cNvSpPr txBox="1"/>
          <p:nvPr/>
        </p:nvSpPr>
        <p:spPr>
          <a:xfrm>
            <a:off x="5605272" y="2066544"/>
            <a:ext cx="1335024" cy="621792"/>
          </a:xfrm>
          <a:prstGeom prst="rect">
            <a:avLst/>
          </a:prstGeom>
          <a:noFill/>
          <a:ln/>
        </p:spPr>
        <p:txBody>
          <a:bodyPr wrap="square" lIns="0" tIns="0" rIns="0" bIns="0" rtlCol="0" anchor="ctr"/>
          <a:lstStyle/>
          <a:p>
            <a:pPr indent="0" marL="0">
              <a:buNone/>
            </a:pPr>
            <a:r>
              <a:rPr lang="en-US" sz="1100" b="1" dirty="0">
                <a:solidFill>
                  <a:schemeClr val="tx1"/>
                </a:solidFill>
              </a:rPr>
              <a:t>Amazon S3(画面)</a:t>
            </a:r>
            <a:endParaRPr lang="en-US" sz="1100" dirty="0"/>
          </a:p>
          <a:p>
            <a:pPr indent="0" marL="0">
              <a:buNone/>
            </a:pPr>
            <a:r>
              <a:rPr lang="en-US" sz="1000" dirty="0">
                <a:solidFill>
                  <a:schemeClr val="tx1"/>
                </a:solidFill>
              </a:rPr>
              <a:t>画面ファイルの配置</a:t>
            </a:r>
            <a:endParaRPr lang="en-US" sz="1100" dirty="0"/>
          </a:p>
        </p:txBody>
      </p:sp>
      <p:sp>
        <p:nvSpPr>
          <p:cNvPr id="18" name="box-apigw"/>
          <p:cNvSpPr/>
          <p:nvPr/>
        </p:nvSpPr>
        <p:spPr>
          <a:xfrm>
            <a:off x="5074920" y="2926080"/>
            <a:ext cx="1920240" cy="731520"/>
          </a:xfrm>
          <a:prstGeom prst="roundRect">
            <a:avLst>
              <a:gd name="adj" fmla="val 8750"/>
            </a:avLst>
          </a:prstGeom>
          <a:solidFill>
            <a:schemeClr val="accent1">
              <a:alpha val="12000"/>
            </a:schemeClr>
          </a:solidFill>
          <a:ln w="12700">
            <a:solidFill>
              <a:schemeClr val="accent1"/>
            </a:solidFill>
            <a:prstDash val="solid"/>
          </a:ln>
        </p:spPr>
      </p:sp>
      <p:sp>
        <p:nvSpPr>
          <p:cNvPr id="19" name="box-apigw-circle"/>
          <p:cNvSpPr/>
          <p:nvPr/>
        </p:nvSpPr>
        <p:spPr>
          <a:xfrm>
            <a:off x="5184648" y="3118104"/>
            <a:ext cx="347472" cy="347472"/>
          </a:xfrm>
          <a:prstGeom prst="ellipse">
            <a:avLst/>
          </a:prstGeom>
          <a:solidFill>
            <a:schemeClr val="accent1"/>
          </a:solidFill>
          <a:ln w="12700">
            <a:solidFill>
              <a:schemeClr val="accent1"/>
            </a:solidFill>
            <a:prstDash val="solid"/>
          </a:ln>
        </p:spPr>
      </p:sp>
      <p:pic>
        <p:nvPicPr>
          <p:cNvPr id="20" name="box-apigw-icon" descr="preencoded.png">    </p:cNvPr>
          <p:cNvPicPr>
            <a:picLocks noChangeAspect="1"/>
          </p:cNvPicPr>
          <p:nvPr/>
        </p:nvPicPr>
        <p:blipFill>
          <a:blip r:embed="rId4"/>
          <a:stretch>
            <a:fillRect/>
          </a:stretch>
        </p:blipFill>
        <p:spPr>
          <a:xfrm>
            <a:off x="5261092" y="3194548"/>
            <a:ext cx="194584" cy="194584"/>
          </a:xfrm>
          <a:prstGeom prst="rect">
            <a:avLst/>
          </a:prstGeom>
        </p:spPr>
      </p:pic>
      <p:sp>
        <p:nvSpPr>
          <p:cNvPr id="21" name="box-apigw-text"/>
          <p:cNvSpPr txBox="1"/>
          <p:nvPr/>
        </p:nvSpPr>
        <p:spPr>
          <a:xfrm>
            <a:off x="5605272" y="2980944"/>
            <a:ext cx="1335024" cy="621792"/>
          </a:xfrm>
          <a:prstGeom prst="rect">
            <a:avLst/>
          </a:prstGeom>
          <a:noFill/>
          <a:ln/>
        </p:spPr>
        <p:txBody>
          <a:bodyPr wrap="square" lIns="0" tIns="0" rIns="0" bIns="0" rtlCol="0" anchor="ctr"/>
          <a:lstStyle/>
          <a:p>
            <a:pPr indent="0" marL="0">
              <a:buNone/>
            </a:pPr>
            <a:r>
              <a:rPr lang="en-US" sz="1100" b="1" dirty="0">
                <a:solidFill>
                  <a:schemeClr val="tx1"/>
                </a:solidFill>
              </a:rPr>
              <a:t>API Gateway</a:t>
            </a:r>
            <a:endParaRPr lang="en-US" sz="1100" dirty="0"/>
          </a:p>
          <a:p>
            <a:pPr indent="0" marL="0">
              <a:buNone/>
            </a:pPr>
            <a:r>
              <a:rPr lang="en-US" sz="1000" dirty="0">
                <a:solidFill>
                  <a:schemeClr val="tx1"/>
                </a:solidFill>
              </a:rPr>
              <a:t>画面からの要求の受付</a:t>
            </a:r>
            <a:endParaRPr lang="en-US" sz="1100" dirty="0"/>
          </a:p>
        </p:txBody>
      </p:sp>
      <p:sp>
        <p:nvSpPr>
          <p:cNvPr id="22" name="box-s3in"/>
          <p:cNvSpPr/>
          <p:nvPr/>
        </p:nvSpPr>
        <p:spPr>
          <a:xfrm>
            <a:off x="5074920" y="3840480"/>
            <a:ext cx="1920240" cy="731520"/>
          </a:xfrm>
          <a:prstGeom prst="roundRect">
            <a:avLst>
              <a:gd name="adj" fmla="val 8750"/>
            </a:avLst>
          </a:prstGeom>
          <a:solidFill>
            <a:schemeClr val="accent2">
              <a:alpha val="12000"/>
            </a:schemeClr>
          </a:solidFill>
          <a:ln w="12700">
            <a:solidFill>
              <a:schemeClr val="accent2"/>
            </a:solidFill>
            <a:prstDash val="solid"/>
          </a:ln>
        </p:spPr>
      </p:sp>
      <p:sp>
        <p:nvSpPr>
          <p:cNvPr id="23" name="box-s3in-circle"/>
          <p:cNvSpPr/>
          <p:nvPr/>
        </p:nvSpPr>
        <p:spPr>
          <a:xfrm>
            <a:off x="5184648" y="4032504"/>
            <a:ext cx="347472" cy="347472"/>
          </a:xfrm>
          <a:prstGeom prst="ellipse">
            <a:avLst/>
          </a:prstGeom>
          <a:solidFill>
            <a:schemeClr val="accent2"/>
          </a:solidFill>
          <a:ln w="12700">
            <a:solidFill>
              <a:schemeClr val="accent2"/>
            </a:solidFill>
            <a:prstDash val="solid"/>
          </a:ln>
        </p:spPr>
      </p:sp>
      <p:pic>
        <p:nvPicPr>
          <p:cNvPr id="24" name="box-s3in-icon" descr="preencoded.png">    </p:cNvPr>
          <p:cNvPicPr>
            <a:picLocks noChangeAspect="1"/>
          </p:cNvPicPr>
          <p:nvPr/>
        </p:nvPicPr>
        <p:blipFill>
          <a:blip r:embed="rId5"/>
          <a:stretch>
            <a:fillRect/>
          </a:stretch>
        </p:blipFill>
        <p:spPr>
          <a:xfrm>
            <a:off x="5261092" y="4108948"/>
            <a:ext cx="194584" cy="194584"/>
          </a:xfrm>
          <a:prstGeom prst="rect">
            <a:avLst/>
          </a:prstGeom>
        </p:spPr>
      </p:pic>
      <p:sp>
        <p:nvSpPr>
          <p:cNvPr id="25" name="box-s3in-text"/>
          <p:cNvSpPr txBox="1"/>
          <p:nvPr/>
        </p:nvSpPr>
        <p:spPr>
          <a:xfrm>
            <a:off x="5605272" y="3895344"/>
            <a:ext cx="1335024" cy="621792"/>
          </a:xfrm>
          <a:prstGeom prst="rect">
            <a:avLst/>
          </a:prstGeom>
          <a:noFill/>
          <a:ln/>
        </p:spPr>
        <p:txBody>
          <a:bodyPr wrap="square" lIns="0" tIns="0" rIns="0" bIns="0" rtlCol="0" anchor="ctr"/>
          <a:lstStyle/>
          <a:p>
            <a:pPr indent="0" marL="0">
              <a:buNone/>
            </a:pPr>
            <a:r>
              <a:rPr lang="en-US" sz="1100" b="1" dirty="0">
                <a:solidFill>
                  <a:schemeClr val="tx1"/>
                </a:solidFill>
              </a:rPr>
              <a:t>Amazon S3(受領)</a:t>
            </a:r>
            <a:endParaRPr lang="en-US" sz="1100" dirty="0"/>
          </a:p>
          <a:p>
            <a:pPr indent="0" marL="0">
              <a:buNone/>
            </a:pPr>
            <a:r>
              <a:rPr lang="en-US" sz="1000" dirty="0">
                <a:solidFill>
                  <a:schemeClr val="tx1"/>
                </a:solidFill>
              </a:rPr>
              <a:t>ファイルの受け取り</a:t>
            </a:r>
            <a:endParaRPr lang="en-US" sz="1100" dirty="0"/>
          </a:p>
        </p:txBody>
      </p:sp>
      <p:sp>
        <p:nvSpPr>
          <p:cNvPr id="26" name="box-lambdaApi"/>
          <p:cNvSpPr/>
          <p:nvPr/>
        </p:nvSpPr>
        <p:spPr>
          <a:xfrm>
            <a:off x="7543800" y="2926080"/>
            <a:ext cx="1920240" cy="731520"/>
          </a:xfrm>
          <a:prstGeom prst="roundRect">
            <a:avLst>
              <a:gd name="adj" fmla="val 8750"/>
            </a:avLst>
          </a:prstGeom>
          <a:solidFill>
            <a:schemeClr val="accent2">
              <a:alpha val="12000"/>
            </a:schemeClr>
          </a:solidFill>
          <a:ln w="12700">
            <a:solidFill>
              <a:schemeClr val="accent2"/>
            </a:solidFill>
            <a:prstDash val="solid"/>
          </a:ln>
        </p:spPr>
      </p:sp>
      <p:sp>
        <p:nvSpPr>
          <p:cNvPr id="27" name="box-lambdaApi-circle"/>
          <p:cNvSpPr/>
          <p:nvPr/>
        </p:nvSpPr>
        <p:spPr>
          <a:xfrm>
            <a:off x="7653528" y="3118104"/>
            <a:ext cx="347472" cy="347472"/>
          </a:xfrm>
          <a:prstGeom prst="ellipse">
            <a:avLst/>
          </a:prstGeom>
          <a:solidFill>
            <a:schemeClr val="accent2"/>
          </a:solidFill>
          <a:ln w="12700">
            <a:solidFill>
              <a:schemeClr val="accent2"/>
            </a:solidFill>
            <a:prstDash val="solid"/>
          </a:ln>
        </p:spPr>
      </p:sp>
      <p:pic>
        <p:nvPicPr>
          <p:cNvPr id="28" name="box-lambdaApi-icon" descr="preencoded.png">    </p:cNvPr>
          <p:cNvPicPr>
            <a:picLocks noChangeAspect="1"/>
          </p:cNvPicPr>
          <p:nvPr/>
        </p:nvPicPr>
        <p:blipFill>
          <a:blip r:embed="rId6"/>
          <a:stretch>
            <a:fillRect/>
          </a:stretch>
        </p:blipFill>
        <p:spPr>
          <a:xfrm>
            <a:off x="7729972" y="3194548"/>
            <a:ext cx="194584" cy="194584"/>
          </a:xfrm>
          <a:prstGeom prst="rect">
            <a:avLst/>
          </a:prstGeom>
        </p:spPr>
      </p:pic>
      <p:sp>
        <p:nvSpPr>
          <p:cNvPr id="29" name="box-lambdaApi-text"/>
          <p:cNvSpPr txBox="1"/>
          <p:nvPr/>
        </p:nvSpPr>
        <p:spPr>
          <a:xfrm>
            <a:off x="8074152" y="2980944"/>
            <a:ext cx="1335024" cy="621792"/>
          </a:xfrm>
          <a:prstGeom prst="rect">
            <a:avLst/>
          </a:prstGeom>
          <a:noFill/>
          <a:ln/>
        </p:spPr>
        <p:txBody>
          <a:bodyPr wrap="square" lIns="0" tIns="0" rIns="0" bIns="0" rtlCol="0" anchor="ctr"/>
          <a:lstStyle/>
          <a:p>
            <a:pPr indent="0" marL="0">
              <a:buNone/>
            </a:pPr>
            <a:r>
              <a:rPr lang="en-US" sz="1100" b="1" dirty="0">
                <a:solidFill>
                  <a:schemeClr val="tx1"/>
                </a:solidFill>
              </a:rPr>
              <a:t>AWS Lambda</a:t>
            </a:r>
            <a:endParaRPr lang="en-US" sz="1100" dirty="0"/>
          </a:p>
          <a:p>
            <a:pPr indent="0" marL="0">
              <a:buNone/>
            </a:pPr>
            <a:r>
              <a:rPr lang="en-US" sz="1000" dirty="0">
                <a:solidFill>
                  <a:schemeClr val="tx1"/>
                </a:solidFill>
              </a:rPr>
              <a:t>受付(Python)</a:t>
            </a:r>
            <a:endParaRPr lang="en-US" sz="1100" dirty="0"/>
          </a:p>
        </p:txBody>
      </p:sp>
      <p:sp>
        <p:nvSpPr>
          <p:cNvPr id="30" name="box-lambdaJob"/>
          <p:cNvSpPr/>
          <p:nvPr/>
        </p:nvSpPr>
        <p:spPr>
          <a:xfrm>
            <a:off x="7543800" y="3840480"/>
            <a:ext cx="1920240" cy="731520"/>
          </a:xfrm>
          <a:prstGeom prst="roundRect">
            <a:avLst>
              <a:gd name="adj" fmla="val 8750"/>
            </a:avLst>
          </a:prstGeom>
          <a:solidFill>
            <a:schemeClr val="accent2">
              <a:alpha val="12000"/>
            </a:schemeClr>
          </a:solidFill>
          <a:ln w="12700">
            <a:solidFill>
              <a:schemeClr val="accent2"/>
            </a:solidFill>
            <a:prstDash val="solid"/>
          </a:ln>
        </p:spPr>
      </p:sp>
      <p:sp>
        <p:nvSpPr>
          <p:cNvPr id="31" name="box-lambdaJob-circle"/>
          <p:cNvSpPr/>
          <p:nvPr/>
        </p:nvSpPr>
        <p:spPr>
          <a:xfrm>
            <a:off x="7653528" y="4032504"/>
            <a:ext cx="347472" cy="347472"/>
          </a:xfrm>
          <a:prstGeom prst="ellipse">
            <a:avLst/>
          </a:prstGeom>
          <a:solidFill>
            <a:schemeClr val="accent2"/>
          </a:solidFill>
          <a:ln w="12700">
            <a:solidFill>
              <a:schemeClr val="accent2"/>
            </a:solidFill>
            <a:prstDash val="solid"/>
          </a:ln>
        </p:spPr>
      </p:sp>
      <p:pic>
        <p:nvPicPr>
          <p:cNvPr id="32" name="box-lambdaJob-icon" descr="preencoded.png">    </p:cNvPr>
          <p:cNvPicPr>
            <a:picLocks noChangeAspect="1"/>
          </p:cNvPicPr>
          <p:nvPr/>
        </p:nvPicPr>
        <p:blipFill>
          <a:blip r:embed="rId7"/>
          <a:stretch>
            <a:fillRect/>
          </a:stretch>
        </p:blipFill>
        <p:spPr>
          <a:xfrm>
            <a:off x="7729972" y="4108948"/>
            <a:ext cx="194584" cy="194584"/>
          </a:xfrm>
          <a:prstGeom prst="rect">
            <a:avLst/>
          </a:prstGeom>
        </p:spPr>
      </p:pic>
      <p:sp>
        <p:nvSpPr>
          <p:cNvPr id="33" name="box-lambdaJob-text"/>
          <p:cNvSpPr txBox="1"/>
          <p:nvPr/>
        </p:nvSpPr>
        <p:spPr>
          <a:xfrm>
            <a:off x="8074152" y="3895344"/>
            <a:ext cx="1335024" cy="621792"/>
          </a:xfrm>
          <a:prstGeom prst="rect">
            <a:avLst/>
          </a:prstGeom>
          <a:noFill/>
          <a:ln/>
        </p:spPr>
        <p:txBody>
          <a:bodyPr wrap="square" lIns="0" tIns="0" rIns="0" bIns="0" rtlCol="0" anchor="ctr"/>
          <a:lstStyle/>
          <a:p>
            <a:pPr indent="0" marL="0">
              <a:buNone/>
            </a:pPr>
            <a:r>
              <a:rPr lang="en-US" sz="1100" b="1" dirty="0">
                <a:solidFill>
                  <a:schemeClr val="tx1"/>
                </a:solidFill>
              </a:rPr>
              <a:t>AWS Lambda</a:t>
            </a:r>
            <a:endParaRPr lang="en-US" sz="1100" dirty="0"/>
          </a:p>
          <a:p>
            <a:pPr indent="0" marL="0">
              <a:buNone/>
            </a:pPr>
            <a:r>
              <a:rPr lang="en-US" sz="1000" dirty="0">
                <a:solidFill>
                  <a:schemeClr val="tx1"/>
                </a:solidFill>
              </a:rPr>
              <a:t>解析(Python)</a:t>
            </a:r>
            <a:endParaRPr lang="en-US" sz="1100" dirty="0"/>
          </a:p>
        </p:txBody>
      </p:sp>
      <p:sp>
        <p:nvSpPr>
          <p:cNvPr id="34" name="box-watch"/>
          <p:cNvSpPr/>
          <p:nvPr/>
        </p:nvSpPr>
        <p:spPr>
          <a:xfrm>
            <a:off x="7543800" y="2011680"/>
            <a:ext cx="3840480" cy="731520"/>
          </a:xfrm>
          <a:prstGeom prst="roundRect">
            <a:avLst>
              <a:gd name="adj" fmla="val 8750"/>
            </a:avLst>
          </a:prstGeom>
          <a:solidFill>
            <a:schemeClr val="bg1"/>
          </a:solidFill>
          <a:ln w="12700">
            <a:solidFill>
              <a:schemeClr val="accent4"/>
            </a:solidFill>
            <a:prstDash val="dash"/>
          </a:ln>
        </p:spPr>
      </p:sp>
      <p:sp>
        <p:nvSpPr>
          <p:cNvPr id="35" name="box-watch-circle"/>
          <p:cNvSpPr/>
          <p:nvPr/>
        </p:nvSpPr>
        <p:spPr>
          <a:xfrm>
            <a:off x="7653528" y="2203704"/>
            <a:ext cx="347472" cy="347472"/>
          </a:xfrm>
          <a:prstGeom prst="ellipse">
            <a:avLst/>
          </a:prstGeom>
          <a:solidFill>
            <a:schemeClr val="accent4"/>
          </a:solidFill>
          <a:ln w="12700">
            <a:solidFill>
              <a:schemeClr val="accent4"/>
            </a:solidFill>
            <a:prstDash val="solid"/>
          </a:ln>
        </p:spPr>
      </p:sp>
      <p:pic>
        <p:nvPicPr>
          <p:cNvPr id="36" name="box-watch-icon" descr="preencoded.png">    </p:cNvPr>
          <p:cNvPicPr>
            <a:picLocks noChangeAspect="1"/>
          </p:cNvPicPr>
          <p:nvPr/>
        </p:nvPicPr>
        <p:blipFill>
          <a:blip r:embed="rId8"/>
          <a:stretch>
            <a:fillRect/>
          </a:stretch>
        </p:blipFill>
        <p:spPr>
          <a:xfrm>
            <a:off x="7729972" y="2280148"/>
            <a:ext cx="194584" cy="194584"/>
          </a:xfrm>
          <a:prstGeom prst="rect">
            <a:avLst/>
          </a:prstGeom>
        </p:spPr>
      </p:pic>
      <p:sp>
        <p:nvSpPr>
          <p:cNvPr id="37" name="box-watch-text"/>
          <p:cNvSpPr txBox="1"/>
          <p:nvPr/>
        </p:nvSpPr>
        <p:spPr>
          <a:xfrm>
            <a:off x="8074152" y="2066544"/>
            <a:ext cx="3255264" cy="621792"/>
          </a:xfrm>
          <a:prstGeom prst="rect">
            <a:avLst/>
          </a:prstGeom>
          <a:noFill/>
          <a:ln/>
        </p:spPr>
        <p:txBody>
          <a:bodyPr wrap="square" lIns="0" tIns="0" rIns="0" bIns="0" rtlCol="0" anchor="ctr"/>
          <a:lstStyle/>
          <a:p>
            <a:pPr indent="0" marL="0">
              <a:buNone/>
            </a:pPr>
            <a:r>
              <a:rPr lang="en-US" sz="1100" b="1" dirty="0">
                <a:solidFill>
                  <a:schemeClr val="tx1"/>
                </a:solidFill>
              </a:rPr>
              <a:t>CloudWatch / CloudTrail / Budgets</a:t>
            </a:r>
            <a:endParaRPr lang="en-US" sz="1100" dirty="0"/>
          </a:p>
          <a:p>
            <a:pPr indent="0" marL="0">
              <a:buNone/>
            </a:pPr>
            <a:r>
              <a:rPr lang="en-US" sz="1000" dirty="0">
                <a:solidFill>
                  <a:schemeClr val="tx1"/>
                </a:solidFill>
              </a:rPr>
              <a:t>環境全体の動作記録・操作履歴・予算の通知</a:t>
            </a:r>
            <a:endParaRPr lang="en-US" sz="1100" dirty="0"/>
          </a:p>
        </p:txBody>
      </p:sp>
      <p:sp>
        <p:nvSpPr>
          <p:cNvPr id="38" name="box-result"/>
          <p:cNvSpPr/>
          <p:nvPr/>
        </p:nvSpPr>
        <p:spPr>
          <a:xfrm>
            <a:off x="10012680" y="2926080"/>
            <a:ext cx="1371600" cy="1645920"/>
          </a:xfrm>
          <a:prstGeom prst="roundRect">
            <a:avLst>
              <a:gd name="adj" fmla="val 4667"/>
            </a:avLst>
          </a:prstGeom>
          <a:solidFill>
            <a:schemeClr val="accent2">
              <a:alpha val="12000"/>
            </a:schemeClr>
          </a:solidFill>
          <a:ln w="12700">
            <a:solidFill>
              <a:schemeClr val="accent2"/>
            </a:solidFill>
            <a:prstDash val="solid"/>
          </a:ln>
        </p:spPr>
      </p:sp>
      <p:sp>
        <p:nvSpPr>
          <p:cNvPr id="39" name="box-result-circle"/>
          <p:cNvSpPr/>
          <p:nvPr/>
        </p:nvSpPr>
        <p:spPr>
          <a:xfrm>
            <a:off x="10492740" y="3127248"/>
            <a:ext cx="411480" cy="411480"/>
          </a:xfrm>
          <a:prstGeom prst="ellipse">
            <a:avLst/>
          </a:prstGeom>
          <a:solidFill>
            <a:schemeClr val="accent2"/>
          </a:solidFill>
          <a:ln w="12700">
            <a:solidFill>
              <a:schemeClr val="accent2"/>
            </a:solidFill>
            <a:prstDash val="solid"/>
          </a:ln>
        </p:spPr>
      </p:sp>
      <p:pic>
        <p:nvPicPr>
          <p:cNvPr id="40" name="box-result-icon" descr="preencoded.png">    </p:cNvPr>
          <p:cNvPicPr>
            <a:picLocks noChangeAspect="1"/>
          </p:cNvPicPr>
          <p:nvPr/>
        </p:nvPicPr>
        <p:blipFill>
          <a:blip r:embed="rId9"/>
          <a:stretch>
            <a:fillRect/>
          </a:stretch>
        </p:blipFill>
        <p:spPr>
          <a:xfrm>
            <a:off x="10583266" y="3217774"/>
            <a:ext cx="230429" cy="230429"/>
          </a:xfrm>
          <a:prstGeom prst="rect">
            <a:avLst/>
          </a:prstGeom>
        </p:spPr>
      </p:pic>
      <p:sp>
        <p:nvSpPr>
          <p:cNvPr id="41" name="box-result-text"/>
          <p:cNvSpPr txBox="1"/>
          <p:nvPr/>
        </p:nvSpPr>
        <p:spPr>
          <a:xfrm>
            <a:off x="10104120" y="3639312"/>
            <a:ext cx="1188720" cy="841248"/>
          </a:xfrm>
          <a:prstGeom prst="rect">
            <a:avLst/>
          </a:prstGeom>
          <a:noFill/>
          <a:ln/>
        </p:spPr>
        <p:txBody>
          <a:bodyPr wrap="square" lIns="0" tIns="0" rIns="0" bIns="0" rtlCol="0" anchor="t"/>
          <a:lstStyle/>
          <a:p>
            <a:pPr algn="ctr" indent="0" marL="0">
              <a:buNone/>
            </a:pPr>
            <a:r>
              <a:rPr lang="en-US" sz="1100" b="1" dirty="0">
                <a:solidFill>
                  <a:schemeClr val="tx1"/>
                </a:solidFill>
              </a:rPr>
              <a:t>DynamoDB</a:t>
            </a:r>
            <a:endParaRPr lang="en-US" sz="1100" dirty="0"/>
          </a:p>
          <a:p>
            <a:pPr algn="ctr" indent="0" marL="0">
              <a:buNone/>
            </a:pPr>
            <a:r>
              <a:rPr lang="en-US" sz="1100" b="1" dirty="0">
                <a:solidFill>
                  <a:schemeClr val="tx1"/>
                </a:solidFill>
              </a:rPr>
              <a:t>Amazon S3</a:t>
            </a:r>
            <a:endParaRPr lang="en-US" sz="1100" dirty="0"/>
          </a:p>
          <a:p>
            <a:pPr algn="ctr" indent="0" marL="0">
              <a:buNone/>
            </a:pPr>
            <a:r>
              <a:rPr lang="en-US" sz="1000" dirty="0">
                <a:solidFill>
                  <a:schemeClr val="tx1"/>
                </a:solidFill>
              </a:rPr>
              <a:t>処理状態と</a:t>
            </a:r>
            <a:endParaRPr lang="en-US" sz="1100" dirty="0"/>
          </a:p>
          <a:p>
            <a:pPr algn="ctr" indent="0" marL="0">
              <a:buNone/>
            </a:pPr>
            <a:r>
              <a:rPr lang="en-US" sz="1000" dirty="0">
                <a:solidFill>
                  <a:schemeClr val="tx1"/>
                </a:solidFill>
              </a:rPr>
              <a:t>解析結果</a:t>
            </a:r>
            <a:endParaRPr lang="en-US" sz="1100" dirty="0"/>
          </a:p>
        </p:txBody>
      </p:sp>
      <p:sp>
        <p:nvSpPr>
          <p:cNvPr id="42" name="a-entry"/>
          <p:cNvSpPr/>
          <p:nvPr/>
        </p:nvSpPr>
        <p:spPr>
          <a:xfrm>
            <a:off x="1783080" y="2377440"/>
            <a:ext cx="822960" cy="914"/>
          </a:xfrm>
          <a:prstGeom prst="line">
            <a:avLst/>
          </a:prstGeom>
          <a:noFill/>
          <a:ln w="19050">
            <a:solidFill>
              <a:schemeClr val="tx1"/>
            </a:solidFill>
            <a:prstDash val="solid"/>
            <a:headEnd type="none"/>
            <a:tailEnd type="triangle"/>
          </a:ln>
        </p:spPr>
      </p:sp>
      <p:sp>
        <p:nvSpPr>
          <p:cNvPr id="43" name="badge-1"/>
          <p:cNvSpPr txBox="1"/>
          <p:nvPr/>
        </p:nvSpPr>
        <p:spPr>
          <a:xfrm>
            <a:off x="1920240" y="2240280"/>
            <a:ext cx="274320" cy="274320"/>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44" name="a-upload"/>
          <p:cNvSpPr/>
          <p:nvPr/>
        </p:nvSpPr>
        <p:spPr>
          <a:xfrm>
            <a:off x="1783080" y="4206240"/>
            <a:ext cx="3291840" cy="914"/>
          </a:xfrm>
          <a:prstGeom prst="line">
            <a:avLst/>
          </a:prstGeom>
          <a:noFill/>
          <a:ln w="19050">
            <a:solidFill>
              <a:schemeClr val="tx1"/>
            </a:solidFill>
            <a:prstDash val="solid"/>
            <a:headEnd type="none"/>
            <a:tailEnd type="triangle"/>
          </a:ln>
        </p:spPr>
      </p:sp>
      <p:sp>
        <p:nvSpPr>
          <p:cNvPr id="45" name="badge-2"/>
          <p:cNvSpPr txBox="1"/>
          <p:nvPr/>
        </p:nvSpPr>
        <p:spPr>
          <a:xfrm>
            <a:off x="1920240" y="4069080"/>
            <a:ext cx="274320" cy="274320"/>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46" name="a-upload-label"/>
          <p:cNvSpPr txBox="1"/>
          <p:nvPr/>
        </p:nvSpPr>
        <p:spPr>
          <a:xfrm>
            <a:off x="2606040" y="3877056"/>
            <a:ext cx="2377440" cy="274320"/>
          </a:xfrm>
          <a:prstGeom prst="rect">
            <a:avLst/>
          </a:prstGeom>
          <a:noFill/>
          <a:ln/>
        </p:spPr>
        <p:txBody>
          <a:bodyPr wrap="square" lIns="0" tIns="0" rIns="0" bIns="0" rtlCol="0" anchor="b"/>
          <a:lstStyle/>
          <a:p>
            <a:pPr indent="0" marL="0">
              <a:buNone/>
            </a:pPr>
            <a:r>
              <a:rPr lang="en-US" sz="1000" dirty="0">
                <a:solidFill>
                  <a:schemeClr val="tx1"/>
                </a:solidFill>
              </a:rPr>
              <a:t>署名付き URL で直接アップロード</a:t>
            </a:r>
            <a:endParaRPr lang="en-US" sz="1000" dirty="0"/>
          </a:p>
        </p:txBody>
      </p:sp>
      <p:sp>
        <p:nvSpPr>
          <p:cNvPr id="47" name="a-web"/>
          <p:cNvSpPr/>
          <p:nvPr/>
        </p:nvSpPr>
        <p:spPr>
          <a:xfrm>
            <a:off x="4526280" y="2377440"/>
            <a:ext cx="548640" cy="914"/>
          </a:xfrm>
          <a:prstGeom prst="line">
            <a:avLst/>
          </a:prstGeom>
          <a:noFill/>
          <a:ln w="19050">
            <a:solidFill>
              <a:schemeClr val="tx1"/>
            </a:solidFill>
            <a:prstDash val="solid"/>
            <a:headEnd type="none"/>
            <a:tailEnd type="triangle"/>
          </a:ln>
        </p:spPr>
      </p:sp>
      <p:sp>
        <p:nvSpPr>
          <p:cNvPr id="48" name="a-web-label"/>
          <p:cNvSpPr txBox="1"/>
          <p:nvPr/>
        </p:nvSpPr>
        <p:spPr>
          <a:xfrm>
            <a:off x="4526280" y="2121408"/>
            <a:ext cx="548640" cy="219456"/>
          </a:xfrm>
          <a:prstGeom prst="rect">
            <a:avLst/>
          </a:prstGeom>
          <a:noFill/>
          <a:ln/>
        </p:spPr>
        <p:txBody>
          <a:bodyPr wrap="square" lIns="0" tIns="0" rIns="0" bIns="0" rtlCol="0" anchor="ctr"/>
          <a:lstStyle/>
          <a:p>
            <a:pPr algn="ctr" indent="0" marL="0">
              <a:buNone/>
            </a:pPr>
            <a:r>
              <a:rPr lang="en-US" sz="900" dirty="0">
                <a:solidFill>
                  <a:schemeClr val="tx1"/>
                </a:solidFill>
              </a:rPr>
              <a:t>画面</a:t>
            </a:r>
            <a:endParaRPr lang="en-US" sz="900" dirty="0"/>
          </a:p>
        </p:txBody>
      </p:sp>
      <p:sp>
        <p:nvSpPr>
          <p:cNvPr id="49" name="a-api-1"/>
          <p:cNvSpPr/>
          <p:nvPr/>
        </p:nvSpPr>
        <p:spPr>
          <a:xfrm>
            <a:off x="3566160" y="2743200"/>
            <a:ext cx="914" cy="548640"/>
          </a:xfrm>
          <a:prstGeom prst="line">
            <a:avLst/>
          </a:prstGeom>
          <a:noFill/>
          <a:ln w="19050">
            <a:solidFill>
              <a:schemeClr val="tx1"/>
            </a:solidFill>
            <a:prstDash val="solid"/>
            <a:headEnd type="none"/>
            <a:tailEnd type="none"/>
          </a:ln>
        </p:spPr>
      </p:sp>
      <p:sp>
        <p:nvSpPr>
          <p:cNvPr id="50" name="a-api-2"/>
          <p:cNvSpPr/>
          <p:nvPr/>
        </p:nvSpPr>
        <p:spPr>
          <a:xfrm>
            <a:off x="3566160" y="3291840"/>
            <a:ext cx="1508760" cy="914"/>
          </a:xfrm>
          <a:prstGeom prst="line">
            <a:avLst/>
          </a:prstGeom>
          <a:noFill/>
          <a:ln w="19050">
            <a:solidFill>
              <a:schemeClr val="tx1"/>
            </a:solidFill>
            <a:prstDash val="solid"/>
            <a:headEnd type="none"/>
            <a:tailEnd type="triangle"/>
          </a:ln>
        </p:spPr>
      </p:sp>
      <p:sp>
        <p:nvSpPr>
          <p:cNvPr id="51" name="a-api-label"/>
          <p:cNvSpPr txBox="1"/>
          <p:nvPr/>
        </p:nvSpPr>
        <p:spPr>
          <a:xfrm>
            <a:off x="3657600" y="3328416"/>
            <a:ext cx="548640" cy="219456"/>
          </a:xfrm>
          <a:prstGeom prst="rect">
            <a:avLst/>
          </a:prstGeom>
          <a:noFill/>
          <a:ln/>
        </p:spPr>
        <p:txBody>
          <a:bodyPr wrap="square" lIns="0" tIns="0" rIns="0" bIns="0" rtlCol="0" anchor="ctr"/>
          <a:lstStyle/>
          <a:p>
            <a:pPr indent="0" marL="0">
              <a:buNone/>
            </a:pPr>
            <a:r>
              <a:rPr lang="en-US" sz="1000" dirty="0">
                <a:solidFill>
                  <a:schemeClr val="tx1"/>
                </a:solidFill>
              </a:rPr>
              <a:t>/api</a:t>
            </a:r>
            <a:endParaRPr lang="en-US" sz="1000" dirty="0"/>
          </a:p>
        </p:txBody>
      </p:sp>
      <p:sp>
        <p:nvSpPr>
          <p:cNvPr id="52" name="a-apigw-lambda"/>
          <p:cNvSpPr/>
          <p:nvPr/>
        </p:nvSpPr>
        <p:spPr>
          <a:xfrm>
            <a:off x="6995160" y="3291840"/>
            <a:ext cx="548640" cy="914"/>
          </a:xfrm>
          <a:prstGeom prst="line">
            <a:avLst/>
          </a:prstGeom>
          <a:noFill/>
          <a:ln w="19050">
            <a:solidFill>
              <a:schemeClr val="tx1"/>
            </a:solidFill>
            <a:prstDash val="solid"/>
            <a:headEnd type="none"/>
            <a:tailEnd type="triangle"/>
          </a:ln>
        </p:spPr>
      </p:sp>
      <p:sp>
        <p:nvSpPr>
          <p:cNvPr id="53" name="a-lambda-result"/>
          <p:cNvSpPr/>
          <p:nvPr/>
        </p:nvSpPr>
        <p:spPr>
          <a:xfrm>
            <a:off x="9464040" y="3291840"/>
            <a:ext cx="548640" cy="914"/>
          </a:xfrm>
          <a:prstGeom prst="line">
            <a:avLst/>
          </a:prstGeom>
          <a:noFill/>
          <a:ln w="19050">
            <a:solidFill>
              <a:schemeClr val="tx1"/>
            </a:solidFill>
            <a:prstDash val="solid"/>
            <a:headEnd type="triangle"/>
            <a:tailEnd type="triangle"/>
          </a:ln>
        </p:spPr>
      </p:sp>
      <p:sp>
        <p:nvSpPr>
          <p:cNvPr id="54" name="a-read-label"/>
          <p:cNvSpPr txBox="1"/>
          <p:nvPr/>
        </p:nvSpPr>
        <p:spPr>
          <a:xfrm>
            <a:off x="9464040" y="3017520"/>
            <a:ext cx="548640" cy="219456"/>
          </a:xfrm>
          <a:prstGeom prst="rect">
            <a:avLst/>
          </a:prstGeom>
          <a:noFill/>
          <a:ln/>
        </p:spPr>
        <p:txBody>
          <a:bodyPr wrap="square" lIns="0" tIns="0" rIns="0" bIns="0" rtlCol="0" anchor="ctr"/>
          <a:lstStyle/>
          <a:p>
            <a:pPr algn="ctr" indent="0" marL="0">
              <a:buNone/>
            </a:pPr>
            <a:r>
              <a:rPr lang="en-US" sz="900" dirty="0">
                <a:solidFill>
                  <a:schemeClr val="tx1"/>
                </a:solidFill>
              </a:rPr>
              <a:t>参照</a:t>
            </a:r>
            <a:endParaRPr lang="en-US" sz="900" dirty="0"/>
          </a:p>
        </p:txBody>
      </p:sp>
      <p:sp>
        <p:nvSpPr>
          <p:cNvPr id="55" name="a-trigger"/>
          <p:cNvSpPr/>
          <p:nvPr/>
        </p:nvSpPr>
        <p:spPr>
          <a:xfrm>
            <a:off x="6995160" y="4206240"/>
            <a:ext cx="548640" cy="914"/>
          </a:xfrm>
          <a:prstGeom prst="line">
            <a:avLst/>
          </a:prstGeom>
          <a:noFill/>
          <a:ln w="19050">
            <a:solidFill>
              <a:schemeClr val="tx1"/>
            </a:solidFill>
            <a:prstDash val="solid"/>
            <a:headEnd type="none"/>
            <a:tailEnd type="triangle"/>
          </a:ln>
        </p:spPr>
      </p:sp>
      <p:sp>
        <p:nvSpPr>
          <p:cNvPr id="56" name="badge-3"/>
          <p:cNvSpPr txBox="1"/>
          <p:nvPr/>
        </p:nvSpPr>
        <p:spPr>
          <a:xfrm>
            <a:off x="7132320" y="4069080"/>
            <a:ext cx="274320" cy="274320"/>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100" b="1" dirty="0">
                <a:solidFill>
                  <a:schemeClr val="tx2"/>
                </a:solidFill>
              </a:rPr>
              <a:t>3</a:t>
            </a:r>
            <a:endParaRPr lang="en-US" sz="1100" dirty="0"/>
          </a:p>
        </p:txBody>
      </p:sp>
      <p:sp>
        <p:nvSpPr>
          <p:cNvPr id="57" name="a-save"/>
          <p:cNvSpPr/>
          <p:nvPr/>
        </p:nvSpPr>
        <p:spPr>
          <a:xfrm>
            <a:off x="9464040" y="4206240"/>
            <a:ext cx="548640" cy="914"/>
          </a:xfrm>
          <a:prstGeom prst="line">
            <a:avLst/>
          </a:prstGeom>
          <a:noFill/>
          <a:ln w="19050">
            <a:solidFill>
              <a:schemeClr val="tx1"/>
            </a:solidFill>
            <a:prstDash val="solid"/>
            <a:headEnd type="none"/>
            <a:tailEnd type="triangle"/>
          </a:ln>
        </p:spPr>
      </p:sp>
      <p:sp>
        <p:nvSpPr>
          <p:cNvPr id="58" name="badge-4"/>
          <p:cNvSpPr txBox="1"/>
          <p:nvPr/>
        </p:nvSpPr>
        <p:spPr>
          <a:xfrm>
            <a:off x="9601200" y="4069080"/>
            <a:ext cx="274320" cy="274320"/>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100" b="1" dirty="0">
                <a:solidFill>
                  <a:schemeClr val="tx2"/>
                </a:solidFill>
              </a:rPr>
              <a:t>4</a:t>
            </a:r>
            <a:endParaRPr lang="en-US" sz="1100" dirty="0"/>
          </a:p>
        </p:txBody>
      </p:sp>
      <p:sp>
        <p:nvSpPr>
          <p:cNvPr id="59" name="legend-swatch"/>
          <p:cNvSpPr/>
          <p:nvPr/>
        </p:nvSpPr>
        <p:spPr>
          <a:xfrm>
            <a:off x="5989320" y="1709928"/>
            <a:ext cx="237744" cy="164592"/>
          </a:xfrm>
          <a:prstGeom prst="roundRect">
            <a:avLst>
              <a:gd name="adj" fmla="val 16667"/>
            </a:avLst>
          </a:prstGeom>
          <a:solidFill>
            <a:schemeClr val="accent1">
              <a:alpha val="12000"/>
            </a:schemeClr>
          </a:solidFill>
          <a:ln w="12700">
            <a:solidFill>
              <a:schemeClr val="accent1"/>
            </a:solidFill>
            <a:prstDash val="solid"/>
          </a:ln>
        </p:spPr>
      </p:sp>
      <p:sp>
        <p:nvSpPr>
          <p:cNvPr id="60" name="legend-label"/>
          <p:cNvSpPr txBox="1"/>
          <p:nvPr/>
        </p:nvSpPr>
        <p:spPr>
          <a:xfrm>
            <a:off x="6281928" y="1645920"/>
            <a:ext cx="1051560" cy="292608"/>
          </a:xfrm>
          <a:prstGeom prst="rect">
            <a:avLst/>
          </a:prstGeom>
          <a:noFill/>
          <a:ln/>
        </p:spPr>
        <p:txBody>
          <a:bodyPr wrap="square" lIns="0" tIns="0" rIns="0" bIns="0" rtlCol="0" anchor="ctr"/>
          <a:lstStyle/>
          <a:p>
            <a:pPr indent="0" marL="0">
              <a:buNone/>
            </a:pPr>
            <a:r>
              <a:rPr lang="en-US" sz="1000" dirty="0">
                <a:solidFill>
                  <a:schemeClr val="tx1"/>
                </a:solidFill>
              </a:rPr>
              <a:t>入口と守り</a:t>
            </a:r>
            <a:endParaRPr lang="en-US" sz="1000" dirty="0"/>
          </a:p>
        </p:txBody>
      </p:sp>
      <p:sp>
        <p:nvSpPr>
          <p:cNvPr id="61" name="legend-swatch"/>
          <p:cNvSpPr/>
          <p:nvPr/>
        </p:nvSpPr>
        <p:spPr>
          <a:xfrm>
            <a:off x="7360920" y="1709928"/>
            <a:ext cx="237744" cy="164592"/>
          </a:xfrm>
          <a:prstGeom prst="roundRect">
            <a:avLst>
              <a:gd name="adj" fmla="val 16667"/>
            </a:avLst>
          </a:prstGeom>
          <a:solidFill>
            <a:schemeClr val="accent2">
              <a:alpha val="12000"/>
            </a:schemeClr>
          </a:solidFill>
          <a:ln w="12700">
            <a:solidFill>
              <a:schemeClr val="accent2"/>
            </a:solidFill>
            <a:prstDash val="solid"/>
          </a:ln>
        </p:spPr>
      </p:sp>
      <p:sp>
        <p:nvSpPr>
          <p:cNvPr id="62" name="legend-label"/>
          <p:cNvSpPr txBox="1"/>
          <p:nvPr/>
        </p:nvSpPr>
        <p:spPr>
          <a:xfrm>
            <a:off x="7653528" y="1645920"/>
            <a:ext cx="1051560" cy="292608"/>
          </a:xfrm>
          <a:prstGeom prst="rect">
            <a:avLst/>
          </a:prstGeom>
          <a:noFill/>
          <a:ln/>
        </p:spPr>
        <p:txBody>
          <a:bodyPr wrap="square" lIns="0" tIns="0" rIns="0" bIns="0" rtlCol="0" anchor="ctr"/>
          <a:lstStyle/>
          <a:p>
            <a:pPr indent="0" marL="0">
              <a:buNone/>
            </a:pPr>
            <a:r>
              <a:rPr lang="en-US" sz="1000" dirty="0">
                <a:solidFill>
                  <a:schemeClr val="tx1"/>
                </a:solidFill>
              </a:rPr>
              <a:t>処理とデータ</a:t>
            </a:r>
            <a:endParaRPr lang="en-US" sz="1000" dirty="0"/>
          </a:p>
        </p:txBody>
      </p:sp>
      <p:sp>
        <p:nvSpPr>
          <p:cNvPr id="63" name="legend-swatch"/>
          <p:cNvSpPr/>
          <p:nvPr/>
        </p:nvSpPr>
        <p:spPr>
          <a:xfrm>
            <a:off x="8732520" y="1709928"/>
            <a:ext cx="237744" cy="164592"/>
          </a:xfrm>
          <a:prstGeom prst="roundRect">
            <a:avLst>
              <a:gd name="adj" fmla="val 16667"/>
            </a:avLst>
          </a:prstGeom>
          <a:solidFill>
            <a:schemeClr val="bg1"/>
          </a:solidFill>
          <a:ln w="12700">
            <a:solidFill>
              <a:schemeClr val="accent4"/>
            </a:solidFill>
            <a:prstDash val="dash"/>
          </a:ln>
        </p:spPr>
      </p:sp>
      <p:sp>
        <p:nvSpPr>
          <p:cNvPr id="64" name="legend-label"/>
          <p:cNvSpPr txBox="1"/>
          <p:nvPr/>
        </p:nvSpPr>
        <p:spPr>
          <a:xfrm>
            <a:off x="9025128" y="1645920"/>
            <a:ext cx="1051560" cy="292608"/>
          </a:xfrm>
          <a:prstGeom prst="rect">
            <a:avLst/>
          </a:prstGeom>
          <a:noFill/>
          <a:ln/>
        </p:spPr>
        <p:txBody>
          <a:bodyPr wrap="square" lIns="0" tIns="0" rIns="0" bIns="0" rtlCol="0" anchor="ctr"/>
          <a:lstStyle/>
          <a:p>
            <a:pPr indent="0" marL="0">
              <a:buNone/>
            </a:pPr>
            <a:r>
              <a:rPr lang="en-US" sz="1000" dirty="0">
                <a:solidFill>
                  <a:schemeClr val="tx1"/>
                </a:solidFill>
              </a:rPr>
              <a:t>記録と監視</a:t>
            </a:r>
            <a:endParaRPr lang="en-US" sz="1000" dirty="0"/>
          </a:p>
        </p:txBody>
      </p:sp>
      <p:sp>
        <p:nvSpPr>
          <p:cNvPr id="65" name="badge-1"/>
          <p:cNvSpPr txBox="1"/>
          <p:nvPr/>
        </p:nvSpPr>
        <p:spPr>
          <a:xfrm>
            <a:off x="10104120" y="1673352"/>
            <a:ext cx="237744" cy="237744"/>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000" b="1" dirty="0">
                <a:solidFill>
                  <a:schemeClr val="tx2"/>
                </a:solidFill>
              </a:rPr>
              <a:t>1</a:t>
            </a:r>
            <a:endParaRPr lang="en-US" sz="1000" dirty="0"/>
          </a:p>
        </p:txBody>
      </p:sp>
      <p:sp>
        <p:nvSpPr>
          <p:cNvPr id="66" name="legend-steps"/>
          <p:cNvSpPr txBox="1"/>
          <p:nvPr/>
        </p:nvSpPr>
        <p:spPr>
          <a:xfrm>
            <a:off x="10405872" y="1645920"/>
            <a:ext cx="1127455" cy="292608"/>
          </a:xfrm>
          <a:prstGeom prst="rect">
            <a:avLst/>
          </a:prstGeom>
          <a:noFill/>
          <a:ln/>
        </p:spPr>
        <p:txBody>
          <a:bodyPr wrap="square" lIns="0" tIns="0" rIns="0" bIns="0" rtlCol="0" anchor="ctr"/>
          <a:lstStyle/>
          <a:p>
            <a:pPr indent="0" marL="0">
              <a:buNone/>
            </a:pPr>
            <a:r>
              <a:rPr lang="en-US" sz="1000" dirty="0">
                <a:solidFill>
                  <a:schemeClr val="tx1"/>
                </a:solidFill>
              </a:rPr>
              <a:t>1〜4: 処理の順番</a:t>
            </a:r>
            <a:endParaRPr lang="en-US" sz="1000" dirty="0"/>
          </a:p>
        </p:txBody>
      </p:sp>
      <p:sp>
        <p:nvSpPr>
          <p:cNvPr id="67" name="biz-title"/>
          <p:cNvSpPr txBox="1"/>
          <p:nvPr/>
        </p:nvSpPr>
        <p:spPr>
          <a:xfrm>
            <a:off x="548640" y="4937760"/>
            <a:ext cx="5486400" cy="274320"/>
          </a:xfrm>
          <a:prstGeom prst="rect">
            <a:avLst/>
          </a:prstGeom>
          <a:noFill/>
          <a:ln/>
        </p:spPr>
        <p:txBody>
          <a:bodyPr wrap="square" lIns="0" tIns="0" rIns="0" bIns="0" rtlCol="0" anchor="ctr"/>
          <a:lstStyle/>
          <a:p>
            <a:pPr indent="0" marL="0">
              <a:buNone/>
            </a:pPr>
            <a:r>
              <a:rPr lang="en-US" sz="1200" b="1" dirty="0">
                <a:solidFill>
                  <a:schemeClr val="tx2"/>
                </a:solidFill>
              </a:rPr>
              <a:t>業務データの流れ(上の構成図との対応)</a:t>
            </a:r>
            <a:endParaRPr lang="en-US" sz="1200" dirty="0"/>
          </a:p>
        </p:txBody>
      </p:sp>
      <p:sp>
        <p:nvSpPr>
          <p:cNvPr id="68" name="biz-1"/>
          <p:cNvSpPr/>
          <p:nvPr/>
        </p:nvSpPr>
        <p:spPr>
          <a:xfrm>
            <a:off x="548640" y="5285232"/>
            <a:ext cx="3332378" cy="932688"/>
          </a:xfrm>
          <a:prstGeom prst="roundRect">
            <a:avLst>
              <a:gd name="adj" fmla="val 7843"/>
            </a:avLst>
          </a:prstGeom>
          <a:solidFill>
            <a:schemeClr val="bg2"/>
          </a:solidFill>
          <a:ln w="9525">
            <a:solidFill>
              <a:schemeClr val="bg2"/>
            </a:solidFill>
            <a:prstDash val="solid"/>
          </a:ln>
        </p:spPr>
      </p:sp>
      <p:sp>
        <p:nvSpPr>
          <p:cNvPr id="69" name="biz-1-circle"/>
          <p:cNvSpPr/>
          <p:nvPr/>
        </p:nvSpPr>
        <p:spPr>
          <a:xfrm>
            <a:off x="777240" y="5477256"/>
            <a:ext cx="548640" cy="548640"/>
          </a:xfrm>
          <a:prstGeom prst="ellipse">
            <a:avLst/>
          </a:prstGeom>
          <a:solidFill>
            <a:schemeClr val="accent1"/>
          </a:solidFill>
          <a:ln w="12700">
            <a:solidFill>
              <a:schemeClr val="accent1"/>
            </a:solidFill>
            <a:prstDash val="solid"/>
          </a:ln>
        </p:spPr>
      </p:sp>
      <p:pic>
        <p:nvPicPr>
          <p:cNvPr id="70" name="biz-1-icon" descr="preencoded.png">    </p:cNvPr>
          <p:cNvPicPr>
            <a:picLocks noChangeAspect="1"/>
          </p:cNvPicPr>
          <p:nvPr/>
        </p:nvPicPr>
        <p:blipFill>
          <a:blip r:embed="rId10"/>
          <a:stretch>
            <a:fillRect/>
          </a:stretch>
        </p:blipFill>
        <p:spPr>
          <a:xfrm>
            <a:off x="897941" y="5597957"/>
            <a:ext cx="307238" cy="307238"/>
          </a:xfrm>
          <a:prstGeom prst="rect">
            <a:avLst/>
          </a:prstGeom>
        </p:spPr>
      </p:pic>
      <p:sp>
        <p:nvSpPr>
          <p:cNvPr id="71" name="biz-1-text"/>
          <p:cNvSpPr txBox="1"/>
          <p:nvPr/>
        </p:nvSpPr>
        <p:spPr>
          <a:xfrm>
            <a:off x="1463040" y="5358384"/>
            <a:ext cx="2280818" cy="786384"/>
          </a:xfrm>
          <a:prstGeom prst="rect">
            <a:avLst/>
          </a:prstGeom>
          <a:noFill/>
          <a:ln/>
        </p:spPr>
        <p:txBody>
          <a:bodyPr wrap="square" lIns="0" tIns="0" rIns="0" bIns="0" rtlCol="0" anchor="ctr"/>
          <a:lstStyle/>
          <a:p>
            <a:pPr indent="0" marL="0">
              <a:buNone/>
            </a:pPr>
            <a:r>
              <a:rPr lang="en-US" sz="1400" b="1" dirty="0">
                <a:solidFill>
                  <a:schemeClr val="tx2"/>
                </a:solidFill>
              </a:rPr>
              <a:t>サンプルデータ(XML)</a:t>
            </a:r>
            <a:endParaRPr lang="en-US" sz="1400" dirty="0"/>
          </a:p>
          <a:p>
            <a:pPr indent="0" marL="0">
              <a:buNone/>
            </a:pPr>
            <a:r>
              <a:rPr lang="en-US" sz="1100" dirty="0">
                <a:solidFill>
                  <a:schemeClr val="tx1"/>
                </a:solidFill>
              </a:rPr>
              <a:t>利用者がアップロード</a:t>
            </a:r>
            <a:endParaRPr lang="en-US" sz="1400" dirty="0"/>
          </a:p>
          <a:p>
            <a:pPr indent="0" marL="0">
              <a:buNone/>
            </a:pPr>
            <a:r>
              <a:rPr lang="en-US" sz="1100" dirty="0">
                <a:solidFill>
                  <a:schemeClr val="tx1"/>
                </a:solidFill>
              </a:rPr>
              <a:t>→ Amazon S3(受領)</a:t>
            </a:r>
            <a:endParaRPr lang="en-US" sz="1400" dirty="0"/>
          </a:p>
        </p:txBody>
      </p:sp>
      <p:sp>
        <p:nvSpPr>
          <p:cNvPr id="72" name="biz-arrow-1"/>
          <p:cNvSpPr/>
          <p:nvPr/>
        </p:nvSpPr>
        <p:spPr>
          <a:xfrm>
            <a:off x="3972458" y="5751576"/>
            <a:ext cx="365760" cy="914"/>
          </a:xfrm>
          <a:prstGeom prst="line">
            <a:avLst/>
          </a:prstGeom>
          <a:noFill/>
          <a:ln w="31750">
            <a:solidFill>
              <a:schemeClr val="accent3"/>
            </a:solidFill>
            <a:prstDash val="solid"/>
            <a:headEnd type="none"/>
            <a:tailEnd type="triangle"/>
          </a:ln>
        </p:spPr>
      </p:sp>
      <p:sp>
        <p:nvSpPr>
          <p:cNvPr id="73" name="biz-2"/>
          <p:cNvSpPr/>
          <p:nvPr/>
        </p:nvSpPr>
        <p:spPr>
          <a:xfrm>
            <a:off x="4429658" y="5285232"/>
            <a:ext cx="3332378" cy="932688"/>
          </a:xfrm>
          <a:prstGeom prst="roundRect">
            <a:avLst>
              <a:gd name="adj" fmla="val 7843"/>
            </a:avLst>
          </a:prstGeom>
          <a:solidFill>
            <a:schemeClr val="bg2"/>
          </a:solidFill>
          <a:ln w="9525">
            <a:solidFill>
              <a:schemeClr val="bg2"/>
            </a:solidFill>
            <a:prstDash val="solid"/>
          </a:ln>
        </p:spPr>
      </p:sp>
      <p:sp>
        <p:nvSpPr>
          <p:cNvPr id="74" name="biz-2-circle"/>
          <p:cNvSpPr/>
          <p:nvPr/>
        </p:nvSpPr>
        <p:spPr>
          <a:xfrm>
            <a:off x="4658258" y="5477256"/>
            <a:ext cx="548640" cy="548640"/>
          </a:xfrm>
          <a:prstGeom prst="ellipse">
            <a:avLst/>
          </a:prstGeom>
          <a:solidFill>
            <a:schemeClr val="accent1"/>
          </a:solidFill>
          <a:ln w="12700">
            <a:solidFill>
              <a:schemeClr val="accent1"/>
            </a:solidFill>
            <a:prstDash val="solid"/>
          </a:ln>
        </p:spPr>
      </p:sp>
      <p:pic>
        <p:nvPicPr>
          <p:cNvPr id="75" name="biz-2-icon" descr="preencoded.png">    </p:cNvPr>
          <p:cNvPicPr>
            <a:picLocks noChangeAspect="1"/>
          </p:cNvPicPr>
          <p:nvPr/>
        </p:nvPicPr>
        <p:blipFill>
          <a:blip r:embed="rId11"/>
          <a:stretch>
            <a:fillRect/>
          </a:stretch>
        </p:blipFill>
        <p:spPr>
          <a:xfrm>
            <a:off x="4778959" y="5597957"/>
            <a:ext cx="307238" cy="307238"/>
          </a:xfrm>
          <a:prstGeom prst="rect">
            <a:avLst/>
          </a:prstGeom>
        </p:spPr>
      </p:pic>
      <p:sp>
        <p:nvSpPr>
          <p:cNvPr id="76" name="biz-2-text"/>
          <p:cNvSpPr txBox="1"/>
          <p:nvPr/>
        </p:nvSpPr>
        <p:spPr>
          <a:xfrm>
            <a:off x="5344058" y="5358384"/>
            <a:ext cx="2280818" cy="786384"/>
          </a:xfrm>
          <a:prstGeom prst="rect">
            <a:avLst/>
          </a:prstGeom>
          <a:noFill/>
          <a:ln/>
        </p:spPr>
        <p:txBody>
          <a:bodyPr wrap="square" lIns="0" tIns="0" rIns="0" bIns="0" rtlCol="0" anchor="ctr"/>
          <a:lstStyle/>
          <a:p>
            <a:pPr indent="0" marL="0">
              <a:buNone/>
            </a:pPr>
            <a:r>
              <a:rPr lang="en-US" sz="1400" b="1" dirty="0">
                <a:solidFill>
                  <a:schemeClr val="tx2"/>
                </a:solidFill>
              </a:rPr>
              <a:t>バックエンド解析</a:t>
            </a:r>
            <a:endParaRPr lang="en-US" sz="1400" dirty="0"/>
          </a:p>
          <a:p>
            <a:pPr indent="0" marL="0">
              <a:buNone/>
            </a:pPr>
            <a:r>
              <a:rPr lang="en-US" sz="1100" dirty="0">
                <a:solidFill>
                  <a:schemeClr val="tx1"/>
                </a:solidFill>
              </a:rPr>
              <a:t>AWS Lambda(Python)で</a:t>
            </a:r>
            <a:endParaRPr lang="en-US" sz="1400" dirty="0"/>
          </a:p>
          <a:p>
            <a:pPr indent="0" marL="0">
              <a:buNone/>
            </a:pPr>
            <a:r>
              <a:rPr lang="en-US" sz="1100" dirty="0">
                <a:solidFill>
                  <a:schemeClr val="tx1"/>
                </a:solidFill>
              </a:rPr>
              <a:t>XML を解析し、結果を保存</a:t>
            </a:r>
            <a:endParaRPr lang="en-US" sz="1400" dirty="0"/>
          </a:p>
        </p:txBody>
      </p:sp>
      <p:sp>
        <p:nvSpPr>
          <p:cNvPr id="77" name="biz-arrow-2"/>
          <p:cNvSpPr/>
          <p:nvPr/>
        </p:nvSpPr>
        <p:spPr>
          <a:xfrm>
            <a:off x="7853477" y="5751576"/>
            <a:ext cx="365760" cy="914"/>
          </a:xfrm>
          <a:prstGeom prst="line">
            <a:avLst/>
          </a:prstGeom>
          <a:noFill/>
          <a:ln w="31750">
            <a:solidFill>
              <a:schemeClr val="accent3"/>
            </a:solidFill>
            <a:prstDash val="solid"/>
            <a:headEnd type="none"/>
            <a:tailEnd type="triangle"/>
          </a:ln>
        </p:spPr>
      </p:sp>
      <p:sp>
        <p:nvSpPr>
          <p:cNvPr id="78" name="biz-3"/>
          <p:cNvSpPr/>
          <p:nvPr/>
        </p:nvSpPr>
        <p:spPr>
          <a:xfrm>
            <a:off x="8310677" y="5285232"/>
            <a:ext cx="3332378" cy="932688"/>
          </a:xfrm>
          <a:prstGeom prst="roundRect">
            <a:avLst>
              <a:gd name="adj" fmla="val 7843"/>
            </a:avLst>
          </a:prstGeom>
          <a:solidFill>
            <a:schemeClr val="bg2"/>
          </a:solidFill>
          <a:ln w="15875">
            <a:solidFill>
              <a:schemeClr val="accent2"/>
            </a:solidFill>
            <a:prstDash val="solid"/>
          </a:ln>
        </p:spPr>
      </p:sp>
      <p:sp>
        <p:nvSpPr>
          <p:cNvPr id="79" name="biz-3-circle"/>
          <p:cNvSpPr/>
          <p:nvPr/>
        </p:nvSpPr>
        <p:spPr>
          <a:xfrm>
            <a:off x="8539277" y="5477256"/>
            <a:ext cx="548640" cy="548640"/>
          </a:xfrm>
          <a:prstGeom prst="ellipse">
            <a:avLst/>
          </a:prstGeom>
          <a:solidFill>
            <a:schemeClr val="accent2"/>
          </a:solidFill>
          <a:ln w="12700">
            <a:solidFill>
              <a:schemeClr val="accent2"/>
            </a:solidFill>
            <a:prstDash val="solid"/>
          </a:ln>
        </p:spPr>
      </p:sp>
      <p:pic>
        <p:nvPicPr>
          <p:cNvPr id="80" name="biz-3-icon" descr="preencoded.png">    </p:cNvPr>
          <p:cNvPicPr>
            <a:picLocks noChangeAspect="1"/>
          </p:cNvPicPr>
          <p:nvPr/>
        </p:nvPicPr>
        <p:blipFill>
          <a:blip r:embed="rId12"/>
          <a:stretch>
            <a:fillRect/>
          </a:stretch>
        </p:blipFill>
        <p:spPr>
          <a:xfrm>
            <a:off x="8659978" y="5597957"/>
            <a:ext cx="307238" cy="307238"/>
          </a:xfrm>
          <a:prstGeom prst="rect">
            <a:avLst/>
          </a:prstGeom>
        </p:spPr>
      </p:pic>
      <p:sp>
        <p:nvSpPr>
          <p:cNvPr id="81" name="biz-3-text"/>
          <p:cNvSpPr txBox="1"/>
          <p:nvPr/>
        </p:nvSpPr>
        <p:spPr>
          <a:xfrm>
            <a:off x="9225077" y="5358384"/>
            <a:ext cx="2280818" cy="786384"/>
          </a:xfrm>
          <a:prstGeom prst="rect">
            <a:avLst/>
          </a:prstGeom>
          <a:noFill/>
          <a:ln/>
        </p:spPr>
        <p:txBody>
          <a:bodyPr wrap="square" lIns="0" tIns="0" rIns="0" bIns="0" rtlCol="0" anchor="ctr"/>
          <a:lstStyle/>
          <a:p>
            <a:pPr indent="0" marL="0">
              <a:buNone/>
            </a:pPr>
            <a:r>
              <a:rPr lang="en-US" sz="1400" b="1" dirty="0">
                <a:solidFill>
                  <a:schemeClr val="tx2"/>
                </a:solidFill>
              </a:rPr>
              <a:t>検索報告書利用システム</a:t>
            </a:r>
            <a:endParaRPr lang="en-US" sz="1400" dirty="0"/>
          </a:p>
          <a:p>
            <a:pPr indent="0" marL="0">
              <a:buNone/>
            </a:pPr>
            <a:r>
              <a:rPr lang="en-US" sz="1100" dirty="0">
                <a:solidFill>
                  <a:schemeClr val="tx1"/>
                </a:solidFill>
              </a:rPr>
              <a:t>Node.js の画面で</a:t>
            </a:r>
            <a:endParaRPr lang="en-US" sz="1400" dirty="0"/>
          </a:p>
          <a:p>
            <a:pPr indent="0" marL="0">
              <a:buNone/>
            </a:pPr>
            <a:r>
              <a:rPr lang="en-US" sz="1100" dirty="0">
                <a:solidFill>
                  <a:schemeClr val="tx1"/>
                </a:solidFill>
              </a:rPr>
              <a:t>解析結果を表示・利用</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40080"/>
          </a:xfrm>
          <a:prstGeom prst="rect">
            <a:avLst/>
          </a:prstGeom>
          <a:noFill/>
          <a:ln/>
        </p:spPr>
        <p:txBody>
          <a:bodyPr wrap="square" lIns="0" tIns="0" rIns="0" bIns="0" rtlCol="0" anchor="ctr"/>
          <a:lstStyle/>
          <a:p>
            <a:pPr algn="l" indent="0" marL="0">
              <a:buNone/>
            </a:pPr>
            <a:r>
              <a:rPr lang="en-US" sz="2800" b="1" dirty="0">
                <a:solidFill>
                  <a:schemeClr val="tx2"/>
                </a:solidFill>
              </a:rPr>
              <a:t>処理の流れ</a:t>
            </a:r>
            <a:endParaRPr lang="en-US" sz="28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ctr"/>
          <a:lstStyle/>
          <a:p>
            <a:pPr algn="l" indent="0" marL="0">
              <a:buNone/>
            </a:pPr>
            <a:r>
              <a:rPr lang="en-US" sz="1500" dirty="0">
                <a:solidFill>
                  <a:schemeClr val="tx1"/>
                </a:solidFill>
              </a:rPr>
              <a:t>サンプルデータ(XML)のアップロードから結果の表示まで、利用者の操作は「アップロード」と「結果の確認」の二つです</a:t>
            </a:r>
            <a:endParaRPr lang="en-US" sz="1500" dirty="0"/>
          </a:p>
        </p:txBody>
      </p:sp>
      <p:sp>
        <p:nvSpPr>
          <p:cNvPr id="4" name="flow-row-1"/>
          <p:cNvSpPr/>
          <p:nvPr/>
        </p:nvSpPr>
        <p:spPr>
          <a:xfrm>
            <a:off x="548640" y="1737360"/>
            <a:ext cx="11094415" cy="1012698"/>
          </a:xfrm>
          <a:prstGeom prst="roundRect">
            <a:avLst>
              <a:gd name="adj" fmla="val 7223"/>
            </a:avLst>
          </a:prstGeom>
          <a:solidFill>
            <a:schemeClr val="bg2"/>
          </a:solidFill>
          <a:ln w="9525">
            <a:solidFill>
              <a:schemeClr val="bg2"/>
            </a:solidFill>
            <a:prstDash val="solid"/>
          </a:ln>
        </p:spPr>
      </p:sp>
      <p:sp>
        <p:nvSpPr>
          <p:cNvPr id="5" name="badge-1"/>
          <p:cNvSpPr txBox="1"/>
          <p:nvPr/>
        </p:nvSpPr>
        <p:spPr>
          <a:xfrm>
            <a:off x="822960" y="2015109"/>
            <a:ext cx="457200" cy="457200"/>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flow-head-1"/>
          <p:cNvSpPr txBox="1"/>
          <p:nvPr/>
        </p:nvSpPr>
        <p:spPr>
          <a:xfrm>
            <a:off x="1554480" y="1737360"/>
            <a:ext cx="2331720" cy="1012698"/>
          </a:xfrm>
          <a:prstGeom prst="rect">
            <a:avLst/>
          </a:prstGeom>
          <a:noFill/>
          <a:ln/>
        </p:spPr>
        <p:txBody>
          <a:bodyPr wrap="square" lIns="0" tIns="0" rIns="0" bIns="0" rtlCol="0" anchor="ctr"/>
          <a:lstStyle/>
          <a:p>
            <a:pPr indent="0" marL="0">
              <a:buNone/>
            </a:pPr>
            <a:r>
              <a:rPr lang="en-US" sz="1700" b="1" dirty="0">
                <a:solidFill>
                  <a:schemeClr val="tx2"/>
                </a:solidFill>
              </a:rPr>
              <a:t>アップロード先の発行</a:t>
            </a:r>
            <a:endParaRPr lang="en-US" sz="1700" dirty="0"/>
          </a:p>
        </p:txBody>
      </p:sp>
      <p:sp>
        <p:nvSpPr>
          <p:cNvPr id="7" name="flow-body-1"/>
          <p:cNvSpPr txBox="1"/>
          <p:nvPr/>
        </p:nvSpPr>
        <p:spPr>
          <a:xfrm>
            <a:off x="3977640" y="1737360"/>
            <a:ext cx="5440680" cy="1012698"/>
          </a:xfrm>
          <a:prstGeom prst="rect">
            <a:avLst/>
          </a:prstGeom>
          <a:noFill/>
          <a:ln/>
        </p:spPr>
        <p:txBody>
          <a:bodyPr wrap="square" lIns="0" tIns="0" rIns="0" bIns="0" rtlCol="0" anchor="ctr"/>
          <a:lstStyle/>
          <a:p>
            <a:pPr indent="0" marL="0">
              <a:buNone/>
            </a:pPr>
            <a:r>
              <a:rPr lang="en-US" sz="1400" dirty="0">
                <a:solidFill>
                  <a:schemeClr val="tx1"/>
                </a:solidFill>
              </a:rPr>
              <a:t>画面から API を通じて、有効期限の短い</a:t>
            </a:r>
            <a:endParaRPr lang="en-US" sz="1400" dirty="0"/>
          </a:p>
          <a:p>
            <a:pPr indent="0" marL="0">
              <a:buNone/>
            </a:pPr>
            <a:r>
              <a:rPr lang="en-US" sz="1400" dirty="0">
                <a:solidFill>
                  <a:schemeClr val="tx1"/>
                </a:solidFill>
              </a:rPr>
              <a:t>専用のアップロード先(署名付き URL)を発行します。</a:t>
            </a:r>
            <a:endParaRPr lang="en-US" sz="1400" dirty="0"/>
          </a:p>
        </p:txBody>
      </p:sp>
      <p:sp>
        <p:nvSpPr>
          <p:cNvPr id="8" name="flow-svc-1"/>
          <p:cNvSpPr txBox="1"/>
          <p:nvPr/>
        </p:nvSpPr>
        <p:spPr>
          <a:xfrm>
            <a:off x="9601200" y="1737360"/>
            <a:ext cx="1904695" cy="1012698"/>
          </a:xfrm>
          <a:prstGeom prst="rect">
            <a:avLst/>
          </a:prstGeom>
          <a:noFill/>
          <a:ln/>
        </p:spPr>
        <p:txBody>
          <a:bodyPr wrap="square" lIns="0" tIns="0" rIns="0" bIns="0" rtlCol="0" anchor="ctr"/>
          <a:lstStyle/>
          <a:p>
            <a:pPr indent="0" marL="0">
              <a:buNone/>
            </a:pPr>
            <a:r>
              <a:rPr lang="en-US" sz="1100" b="1" dirty="0">
                <a:solidFill>
                  <a:schemeClr val="accent2"/>
                </a:solidFill>
              </a:rPr>
              <a:t>CloudFront / API Gateway</a:t>
            </a:r>
            <a:endParaRPr lang="en-US" sz="1100" dirty="0"/>
          </a:p>
          <a:p>
            <a:pPr indent="0" marL="0">
              <a:buNone/>
            </a:pPr>
            <a:r>
              <a:rPr lang="en-US" sz="1100" b="1" dirty="0">
                <a:solidFill>
                  <a:schemeClr val="accent2"/>
                </a:solidFill>
              </a:rPr>
              <a:t>AWS Lambda</a:t>
            </a:r>
            <a:endParaRPr lang="en-US" sz="1100" dirty="0"/>
          </a:p>
        </p:txBody>
      </p:sp>
      <p:sp>
        <p:nvSpPr>
          <p:cNvPr id="9" name="flow-row-2"/>
          <p:cNvSpPr/>
          <p:nvPr/>
        </p:nvSpPr>
        <p:spPr>
          <a:xfrm>
            <a:off x="548640" y="2878074"/>
            <a:ext cx="11094415" cy="1012698"/>
          </a:xfrm>
          <a:prstGeom prst="roundRect">
            <a:avLst>
              <a:gd name="adj" fmla="val 7223"/>
            </a:avLst>
          </a:prstGeom>
          <a:solidFill>
            <a:schemeClr val="bg1"/>
          </a:solidFill>
          <a:ln w="9525">
            <a:solidFill>
              <a:schemeClr val="bg2"/>
            </a:solidFill>
            <a:prstDash val="solid"/>
          </a:ln>
        </p:spPr>
      </p:sp>
      <p:sp>
        <p:nvSpPr>
          <p:cNvPr id="10" name="badge-2"/>
          <p:cNvSpPr txBox="1"/>
          <p:nvPr/>
        </p:nvSpPr>
        <p:spPr>
          <a:xfrm>
            <a:off x="822960" y="3155823"/>
            <a:ext cx="457200" cy="457200"/>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1" name="flow-head-2"/>
          <p:cNvSpPr txBox="1"/>
          <p:nvPr/>
        </p:nvSpPr>
        <p:spPr>
          <a:xfrm>
            <a:off x="1554480" y="2878074"/>
            <a:ext cx="2331720" cy="1012698"/>
          </a:xfrm>
          <a:prstGeom prst="rect">
            <a:avLst/>
          </a:prstGeom>
          <a:noFill/>
          <a:ln/>
        </p:spPr>
        <p:txBody>
          <a:bodyPr wrap="square" lIns="0" tIns="0" rIns="0" bIns="0" rtlCol="0" anchor="ctr"/>
          <a:lstStyle/>
          <a:p>
            <a:pPr indent="0" marL="0">
              <a:buNone/>
            </a:pPr>
            <a:r>
              <a:rPr lang="en-US" sz="1700" b="1" dirty="0">
                <a:solidFill>
                  <a:schemeClr val="tx2"/>
                </a:solidFill>
              </a:rPr>
              <a:t>アップロード</a:t>
            </a:r>
            <a:endParaRPr lang="en-US" sz="1700" dirty="0"/>
          </a:p>
        </p:txBody>
      </p:sp>
      <p:sp>
        <p:nvSpPr>
          <p:cNvPr id="12" name="flow-body-2"/>
          <p:cNvSpPr txBox="1"/>
          <p:nvPr/>
        </p:nvSpPr>
        <p:spPr>
          <a:xfrm>
            <a:off x="3977640" y="2878074"/>
            <a:ext cx="5440680" cy="1012698"/>
          </a:xfrm>
          <a:prstGeom prst="rect">
            <a:avLst/>
          </a:prstGeom>
          <a:noFill/>
          <a:ln/>
        </p:spPr>
        <p:txBody>
          <a:bodyPr wrap="square" lIns="0" tIns="0" rIns="0" bIns="0" rtlCol="0" anchor="ctr"/>
          <a:lstStyle/>
          <a:p>
            <a:pPr indent="0" marL="0">
              <a:buNone/>
            </a:pPr>
            <a:r>
              <a:rPr lang="en-US" sz="1400" dirty="0">
                <a:solidFill>
                  <a:schemeClr val="tx1"/>
                </a:solidFill>
              </a:rPr>
              <a:t>サンプルデータ(XML)を、S3 へ直接アップロードします。</a:t>
            </a:r>
            <a:endParaRPr lang="en-US" sz="1400" dirty="0"/>
          </a:p>
          <a:p>
            <a:pPr indent="0" marL="0">
              <a:buNone/>
            </a:pPr>
            <a:r>
              <a:rPr lang="en-US" sz="1400" dirty="0">
                <a:solidFill>
                  <a:schemeClr val="tx1"/>
                </a:solidFill>
              </a:rPr>
              <a:t>API を通さないため、大きなファイルにも対応できます。</a:t>
            </a:r>
            <a:endParaRPr lang="en-US" sz="1400" dirty="0"/>
          </a:p>
        </p:txBody>
      </p:sp>
      <p:sp>
        <p:nvSpPr>
          <p:cNvPr id="13" name="flow-svc-2"/>
          <p:cNvSpPr txBox="1"/>
          <p:nvPr/>
        </p:nvSpPr>
        <p:spPr>
          <a:xfrm>
            <a:off x="9601200" y="2878074"/>
            <a:ext cx="1904695" cy="1012698"/>
          </a:xfrm>
          <a:prstGeom prst="rect">
            <a:avLst/>
          </a:prstGeom>
          <a:noFill/>
          <a:ln/>
        </p:spPr>
        <p:txBody>
          <a:bodyPr wrap="square" lIns="0" tIns="0" rIns="0" bIns="0" rtlCol="0" anchor="ctr"/>
          <a:lstStyle/>
          <a:p>
            <a:pPr indent="0" marL="0">
              <a:buNone/>
            </a:pPr>
            <a:r>
              <a:rPr lang="en-US" sz="1100" b="1" dirty="0">
                <a:solidFill>
                  <a:schemeClr val="accent2"/>
                </a:solidFill>
              </a:rPr>
              <a:t>Amazon S3</a:t>
            </a:r>
            <a:endParaRPr lang="en-US" sz="1100" dirty="0"/>
          </a:p>
        </p:txBody>
      </p:sp>
      <p:sp>
        <p:nvSpPr>
          <p:cNvPr id="14" name="flow-row-3"/>
          <p:cNvSpPr/>
          <p:nvPr/>
        </p:nvSpPr>
        <p:spPr>
          <a:xfrm>
            <a:off x="548640" y="4018788"/>
            <a:ext cx="11094415" cy="1012698"/>
          </a:xfrm>
          <a:prstGeom prst="roundRect">
            <a:avLst>
              <a:gd name="adj" fmla="val 7223"/>
            </a:avLst>
          </a:prstGeom>
          <a:solidFill>
            <a:schemeClr val="bg2"/>
          </a:solidFill>
          <a:ln w="9525">
            <a:solidFill>
              <a:schemeClr val="bg2"/>
            </a:solidFill>
            <a:prstDash val="solid"/>
          </a:ln>
        </p:spPr>
      </p:sp>
      <p:sp>
        <p:nvSpPr>
          <p:cNvPr id="15" name="badge-3"/>
          <p:cNvSpPr txBox="1"/>
          <p:nvPr/>
        </p:nvSpPr>
        <p:spPr>
          <a:xfrm>
            <a:off x="822960" y="4296537"/>
            <a:ext cx="457200" cy="457200"/>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6" name="flow-head-3"/>
          <p:cNvSpPr txBox="1"/>
          <p:nvPr/>
        </p:nvSpPr>
        <p:spPr>
          <a:xfrm>
            <a:off x="1554480" y="4018788"/>
            <a:ext cx="2331720" cy="1012698"/>
          </a:xfrm>
          <a:prstGeom prst="rect">
            <a:avLst/>
          </a:prstGeom>
          <a:noFill/>
          <a:ln/>
        </p:spPr>
        <p:txBody>
          <a:bodyPr wrap="square" lIns="0" tIns="0" rIns="0" bIns="0" rtlCol="0" anchor="ctr"/>
          <a:lstStyle/>
          <a:p>
            <a:pPr indent="0" marL="0">
              <a:buNone/>
            </a:pPr>
            <a:r>
              <a:rPr lang="en-US" sz="1700" b="1" dirty="0">
                <a:solidFill>
                  <a:schemeClr val="tx2"/>
                </a:solidFill>
              </a:rPr>
              <a:t>自動で解析</a:t>
            </a:r>
            <a:endParaRPr lang="en-US" sz="1700" dirty="0"/>
          </a:p>
        </p:txBody>
      </p:sp>
      <p:sp>
        <p:nvSpPr>
          <p:cNvPr id="17" name="flow-body-3"/>
          <p:cNvSpPr txBox="1"/>
          <p:nvPr/>
        </p:nvSpPr>
        <p:spPr>
          <a:xfrm>
            <a:off x="3977640" y="4018788"/>
            <a:ext cx="5440680" cy="1012698"/>
          </a:xfrm>
          <a:prstGeom prst="rect">
            <a:avLst/>
          </a:prstGeom>
          <a:noFill/>
          <a:ln/>
        </p:spPr>
        <p:txBody>
          <a:bodyPr wrap="square" lIns="0" tIns="0" rIns="0" bIns="0" rtlCol="0" anchor="ctr"/>
          <a:lstStyle/>
          <a:p>
            <a:pPr indent="0" marL="0">
              <a:buNone/>
            </a:pPr>
            <a:r>
              <a:rPr lang="en-US" sz="1400" dirty="0">
                <a:solidFill>
                  <a:schemeClr val="tx1"/>
                </a:solidFill>
              </a:rPr>
              <a:t>ファイルの到着をきっかけに、</a:t>
            </a:r>
            <a:endParaRPr lang="en-US" sz="1400" dirty="0"/>
          </a:p>
          <a:p>
            <a:pPr indent="0" marL="0">
              <a:buNone/>
            </a:pPr>
            <a:r>
              <a:rPr lang="en-US" sz="1400" dirty="0">
                <a:solidFill>
                  <a:schemeClr val="tx1"/>
                </a:solidFill>
              </a:rPr>
              <a:t>Python による XML の解析処理が自動で実行されます。</a:t>
            </a:r>
            <a:endParaRPr lang="en-US" sz="1400" dirty="0"/>
          </a:p>
        </p:txBody>
      </p:sp>
      <p:sp>
        <p:nvSpPr>
          <p:cNvPr id="18" name="flow-svc-3"/>
          <p:cNvSpPr txBox="1"/>
          <p:nvPr/>
        </p:nvSpPr>
        <p:spPr>
          <a:xfrm>
            <a:off x="9601200" y="4018788"/>
            <a:ext cx="1904695" cy="1012698"/>
          </a:xfrm>
          <a:prstGeom prst="rect">
            <a:avLst/>
          </a:prstGeom>
          <a:noFill/>
          <a:ln/>
        </p:spPr>
        <p:txBody>
          <a:bodyPr wrap="square" lIns="0" tIns="0" rIns="0" bIns="0" rtlCol="0" anchor="ctr"/>
          <a:lstStyle/>
          <a:p>
            <a:pPr indent="0" marL="0">
              <a:buNone/>
            </a:pPr>
            <a:r>
              <a:rPr lang="en-US" sz="1100" b="1" dirty="0">
                <a:solidFill>
                  <a:schemeClr val="accent2"/>
                </a:solidFill>
              </a:rPr>
              <a:t>S3 イベント / AWS Lambda</a:t>
            </a:r>
            <a:endParaRPr lang="en-US" sz="1100" dirty="0"/>
          </a:p>
        </p:txBody>
      </p:sp>
      <p:sp>
        <p:nvSpPr>
          <p:cNvPr id="19" name="flow-row-4"/>
          <p:cNvSpPr/>
          <p:nvPr/>
        </p:nvSpPr>
        <p:spPr>
          <a:xfrm>
            <a:off x="548640" y="5159502"/>
            <a:ext cx="11094415" cy="1012698"/>
          </a:xfrm>
          <a:prstGeom prst="roundRect">
            <a:avLst>
              <a:gd name="adj" fmla="val 7223"/>
            </a:avLst>
          </a:prstGeom>
          <a:solidFill>
            <a:schemeClr val="bg1"/>
          </a:solidFill>
          <a:ln w="9525">
            <a:solidFill>
              <a:schemeClr val="bg2"/>
            </a:solidFill>
            <a:prstDash val="solid"/>
          </a:ln>
        </p:spPr>
      </p:sp>
      <p:sp>
        <p:nvSpPr>
          <p:cNvPr id="20" name="badge-4"/>
          <p:cNvSpPr txBox="1"/>
          <p:nvPr/>
        </p:nvSpPr>
        <p:spPr>
          <a:xfrm>
            <a:off x="822960" y="5437251"/>
            <a:ext cx="457200" cy="457200"/>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1" name="flow-head-4"/>
          <p:cNvSpPr txBox="1"/>
          <p:nvPr/>
        </p:nvSpPr>
        <p:spPr>
          <a:xfrm>
            <a:off x="1554480" y="5159502"/>
            <a:ext cx="2331720" cy="1012698"/>
          </a:xfrm>
          <a:prstGeom prst="rect">
            <a:avLst/>
          </a:prstGeom>
          <a:noFill/>
          <a:ln/>
        </p:spPr>
        <p:txBody>
          <a:bodyPr wrap="square" lIns="0" tIns="0" rIns="0" bIns="0" rtlCol="0" anchor="ctr"/>
          <a:lstStyle/>
          <a:p>
            <a:pPr indent="0" marL="0">
              <a:buNone/>
            </a:pPr>
            <a:r>
              <a:rPr lang="en-US" sz="1700" b="1" dirty="0">
                <a:solidFill>
                  <a:schemeClr val="tx2"/>
                </a:solidFill>
              </a:rPr>
              <a:t>結果の保存と表示</a:t>
            </a:r>
            <a:endParaRPr lang="en-US" sz="1700" dirty="0"/>
          </a:p>
        </p:txBody>
      </p:sp>
      <p:sp>
        <p:nvSpPr>
          <p:cNvPr id="22" name="flow-body-4"/>
          <p:cNvSpPr txBox="1"/>
          <p:nvPr/>
        </p:nvSpPr>
        <p:spPr>
          <a:xfrm>
            <a:off x="3977640" y="5159502"/>
            <a:ext cx="5440680" cy="1012698"/>
          </a:xfrm>
          <a:prstGeom prst="rect">
            <a:avLst/>
          </a:prstGeom>
          <a:noFill/>
          <a:ln/>
        </p:spPr>
        <p:txBody>
          <a:bodyPr wrap="square" lIns="0" tIns="0" rIns="0" bIns="0" rtlCol="0" anchor="ctr"/>
          <a:lstStyle/>
          <a:p>
            <a:pPr indent="0" marL="0">
              <a:buNone/>
            </a:pPr>
            <a:r>
              <a:rPr lang="en-US" sz="1400" dirty="0">
                <a:solidFill>
                  <a:schemeClr val="tx1"/>
                </a:solidFill>
              </a:rPr>
              <a:t>処理状態と解析結果を保存し、</a:t>
            </a:r>
            <a:endParaRPr lang="en-US" sz="1400" dirty="0"/>
          </a:p>
          <a:p>
            <a:pPr indent="0" marL="0">
              <a:buNone/>
            </a:pPr>
            <a:r>
              <a:rPr lang="en-US" sz="1400" dirty="0">
                <a:solidFill>
                  <a:schemeClr val="tx1"/>
                </a:solidFill>
              </a:rPr>
              <a:t>検索報告書利用システムの画面で確認します。</a:t>
            </a:r>
            <a:endParaRPr lang="en-US" sz="1400" dirty="0"/>
          </a:p>
        </p:txBody>
      </p:sp>
      <p:sp>
        <p:nvSpPr>
          <p:cNvPr id="23" name="flow-svc-4"/>
          <p:cNvSpPr txBox="1"/>
          <p:nvPr/>
        </p:nvSpPr>
        <p:spPr>
          <a:xfrm>
            <a:off x="9601200" y="5159502"/>
            <a:ext cx="1904695" cy="1012698"/>
          </a:xfrm>
          <a:prstGeom prst="rect">
            <a:avLst/>
          </a:prstGeom>
          <a:noFill/>
          <a:ln/>
        </p:spPr>
        <p:txBody>
          <a:bodyPr wrap="square" lIns="0" tIns="0" rIns="0" bIns="0" rtlCol="0" anchor="ctr"/>
          <a:lstStyle/>
          <a:p>
            <a:pPr indent="0" marL="0">
              <a:buNone/>
            </a:pPr>
            <a:r>
              <a:rPr lang="en-US" sz="1100" b="1" dirty="0">
                <a:solidFill>
                  <a:schemeClr val="accent2"/>
                </a:solidFill>
              </a:rPr>
              <a:t>DynamoDB / Amazon S3</a:t>
            </a:r>
            <a:endParaRPr lang="en-US" sz="1100" dirty="0"/>
          </a:p>
          <a:p>
            <a:pPr indent="0" marL="0">
              <a:buNone/>
            </a:pPr>
            <a:r>
              <a:rPr lang="en-US" sz="1100" b="1" dirty="0">
                <a:solidFill>
                  <a:schemeClr val="accent2"/>
                </a:solidFill>
              </a:rPr>
              <a:t>API Gateway</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40080"/>
          </a:xfrm>
          <a:prstGeom prst="rect">
            <a:avLst/>
          </a:prstGeom>
          <a:noFill/>
          <a:ln/>
        </p:spPr>
        <p:txBody>
          <a:bodyPr wrap="square" lIns="0" tIns="0" rIns="0" bIns="0" rtlCol="0" anchor="ctr"/>
          <a:lstStyle/>
          <a:p>
            <a:pPr algn="l" indent="0" marL="0">
              <a:buNone/>
            </a:pPr>
            <a:r>
              <a:rPr lang="en-US" sz="2800" b="1" dirty="0">
                <a:solidFill>
                  <a:schemeClr val="tx2"/>
                </a:solidFill>
              </a:rPr>
              <a:t>採用サービスと選定理由</a:t>
            </a:r>
            <a:endParaRPr lang="en-US" sz="28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ctr"/>
          <a:lstStyle/>
          <a:p>
            <a:pPr algn="l" indent="0" marL="0">
              <a:buNone/>
            </a:pPr>
            <a:r>
              <a:rPr lang="en-US" sz="1500" dirty="0">
                <a:solidFill>
                  <a:schemeClr val="tx1"/>
                </a:solidFill>
              </a:rPr>
              <a:t>構築用の AWS CDK を除き、いずれもサーバーの管理が不要なマネージドサービスです</a:t>
            </a:r>
            <a:endParaRPr lang="en-US" sz="1500" dirty="0"/>
          </a:p>
        </p:txBody>
      </p:sp>
      <p:graphicFrame>
        <p:nvGraphicFramePr>
          <p:cNvPr id="7" name="svc-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508760"/>
                <a:gridCol w="3383280"/>
                <a:gridCol w="6202375"/>
              </a:tblGrid>
              <a:tr h="502920">
                <a:tc>
                  <a:txBody>
                    <a:bodyPr/>
                    <a:lstStyle/>
                    <a:p>
                      <a:pPr indent="0" marL="0">
                        <a:buNone/>
                      </a:pPr>
                      <a:r>
                        <a:rPr lang="en-US" sz="1400" b="1" dirty="0">
                          <a:solidFill>
                            <a:schemeClr val="bg1"/>
                          </a:solidFill>
                        </a:rPr>
                        <a:t>役割</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サービス</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選定の理由</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2"/>
                          </a:solidFill>
                        </a:rPr>
                        <a:t>入口・配信</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Amazon CloudFront + AWS WAF</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HTTPS の入口を一つにまとめ、既知の攻撃や過剰なアクセスを遮断</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画面</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Amazon S3(静的な画面の配置)</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検索報告書利用システムの画面を配置し、CloudFront 経由でのみ公開</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rPr>
                        <a:t>API</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Amazon API Gateway(HTTP API)</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画面からの要求を受け付け、処理へ渡す窓口</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処理</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AWS Lambda(Python)</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XML の解析を必要な時だけ実行し、待機中の費用は不要</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rPr>
                        <a:t>データ</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Amazon S3 / Amazon DynamoDB</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受け取ったデータ・結果・処理状態を保存</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記録・監視</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Amazon CloudWatch</a:t>
                      </a:r>
                      <a:endParaRPr lang="en-US" sz="1400" dirty="0"/>
                    </a:p>
                    <a:p>
                      <a:pPr indent="0" marL="0">
                        <a:buNone/>
                      </a:pPr>
                      <a:r>
                        <a:rPr lang="en-US" sz="1400" dirty="0">
                          <a:solidFill>
                            <a:schemeClr val="tx1"/>
                          </a:solidFill>
                        </a:rPr>
                        <a:t>AWS CloudTrail / AWS Budgets</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動作記録・操作履歴・予算超過の通知</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rPr>
                        <a:t>構築</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AWS CDK</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構成をコードで管理し、再現と撤去が容易</a:t>
                      </a:r>
                      <a:endParaRPr lang="en-US" sz="1400" dirty="0"/>
                    </a:p>
                  </a:txBody>
                  <a:tcPr marL="109728" marR="109728"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40080"/>
          </a:xfrm>
          <a:prstGeom prst="rect">
            <a:avLst/>
          </a:prstGeom>
          <a:noFill/>
          <a:ln/>
        </p:spPr>
        <p:txBody>
          <a:bodyPr wrap="square" lIns="0" tIns="0" rIns="0" bIns="0" rtlCol="0" anchor="ctr"/>
          <a:lstStyle/>
          <a:p>
            <a:pPr algn="l" indent="0" marL="0">
              <a:buNone/>
            </a:pPr>
            <a:r>
              <a:rPr lang="en-US" sz="2800" b="1" dirty="0">
                <a:solidFill>
                  <a:schemeClr val="tx2"/>
                </a:solidFill>
              </a:rPr>
              <a:t>セキュリティ設計</a:t>
            </a:r>
            <a:endParaRPr lang="en-US" sz="28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ctr"/>
          <a:lstStyle/>
          <a:p>
            <a:pPr algn="l" indent="0" marL="0">
              <a:buNone/>
            </a:pPr>
            <a:r>
              <a:rPr lang="en-US" sz="1500" dirty="0">
                <a:solidFill>
                  <a:schemeClr val="tx1"/>
                </a:solidFill>
              </a:rPr>
              <a:t>モックの段階から、標準的な対策を層ごとに組み込みます</a:t>
            </a:r>
            <a:endParaRPr lang="en-US" sz="1500" dirty="0"/>
          </a:p>
        </p:txBody>
      </p:sp>
      <p:sp>
        <p:nvSpPr>
          <p:cNvPr id="4" name="sec-card-1"/>
          <p:cNvSpPr/>
          <p:nvPr/>
        </p:nvSpPr>
        <p:spPr>
          <a:xfrm>
            <a:off x="548640" y="1737360"/>
            <a:ext cx="3545738" cy="2121408"/>
          </a:xfrm>
          <a:prstGeom prst="roundRect">
            <a:avLst>
              <a:gd name="adj" fmla="val 3448"/>
            </a:avLst>
          </a:prstGeom>
          <a:solidFill>
            <a:schemeClr val="bg2"/>
          </a:solidFill>
          <a:ln w="9525">
            <a:solidFill>
              <a:schemeClr val="bg2"/>
            </a:solidFill>
            <a:prstDash val="solid"/>
          </a:ln>
        </p:spPr>
      </p:sp>
      <p:sp>
        <p:nvSpPr>
          <p:cNvPr id="5" name="sec-1-circle"/>
          <p:cNvSpPr/>
          <p:nvPr/>
        </p:nvSpPr>
        <p:spPr>
          <a:xfrm>
            <a:off x="777240" y="1938528"/>
            <a:ext cx="502920" cy="502920"/>
          </a:xfrm>
          <a:prstGeom prst="ellipse">
            <a:avLst/>
          </a:prstGeom>
          <a:solidFill>
            <a:schemeClr val="accent1"/>
          </a:solidFill>
          <a:ln w="12700">
            <a:solidFill>
              <a:schemeClr val="accent1"/>
            </a:solidFill>
            <a:prstDash val="solid"/>
          </a:ln>
        </p:spPr>
      </p:sp>
      <p:pic>
        <p:nvPicPr>
          <p:cNvPr id="6" name="sec-1-icon" descr="preencoded.png">    </p:cNvPr>
          <p:cNvPicPr>
            <a:picLocks noChangeAspect="1"/>
          </p:cNvPicPr>
          <p:nvPr/>
        </p:nvPicPr>
        <p:blipFill>
          <a:blip r:embed="rId1"/>
          <a:stretch>
            <a:fillRect/>
          </a:stretch>
        </p:blipFill>
        <p:spPr>
          <a:xfrm>
            <a:off x="887882" y="2049170"/>
            <a:ext cx="281635" cy="281635"/>
          </a:xfrm>
          <a:prstGeom prst="rect">
            <a:avLst/>
          </a:prstGeom>
        </p:spPr>
      </p:pic>
      <p:sp>
        <p:nvSpPr>
          <p:cNvPr id="7" name="sec-head-1"/>
          <p:cNvSpPr txBox="1"/>
          <p:nvPr/>
        </p:nvSpPr>
        <p:spPr>
          <a:xfrm>
            <a:off x="1417320" y="1938528"/>
            <a:ext cx="2494178" cy="502920"/>
          </a:xfrm>
          <a:prstGeom prst="rect">
            <a:avLst/>
          </a:prstGeom>
          <a:noFill/>
          <a:ln/>
        </p:spPr>
        <p:txBody>
          <a:bodyPr wrap="square" lIns="0" tIns="0" rIns="0" bIns="0" rtlCol="0" anchor="ctr"/>
          <a:lstStyle/>
          <a:p>
            <a:pPr indent="0" marL="0">
              <a:buNone/>
            </a:pPr>
            <a:r>
              <a:rPr lang="en-US" sz="1600" b="1" dirty="0">
                <a:solidFill>
                  <a:schemeClr val="tx2"/>
                </a:solidFill>
              </a:rPr>
              <a:t>アカウント管理</a:t>
            </a:r>
            <a:endParaRPr lang="en-US" sz="1600" dirty="0"/>
          </a:p>
        </p:txBody>
      </p:sp>
      <p:sp>
        <p:nvSpPr>
          <p:cNvPr id="8" name="sec-list-1"/>
          <p:cNvSpPr txBox="1"/>
          <p:nvPr/>
        </p:nvSpPr>
        <p:spPr>
          <a:xfrm>
            <a:off x="749808" y="2578608"/>
            <a:ext cx="3207410"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ルートユーザーは多要素認証で</a:t>
            </a:r>
            <a:br/>
            <a:r>
              <a:rPr lang="en-US" sz="1300" dirty="0">
                <a:solidFill>
                  <a:schemeClr val="tx1"/>
                </a:solidFill>
              </a:rPr>
              <a:t>保護し、日常の作業では使用しない</a:t>
            </a:r>
            <a:endParaRPr lang="en-US" sz="1300" dirty="0"/>
          </a:p>
          <a:p>
            <a:pPr marL="177800" indent="-177800">
              <a:spcAft>
                <a:spcPts val="500"/>
              </a:spcAft>
              <a:buSzPct val="100000"/>
              <a:buChar char="•"/>
            </a:pPr>
            <a:r>
              <a:rPr lang="en-US" sz="1300" dirty="0">
                <a:solidFill>
                  <a:schemeClr val="tx1"/>
                </a:solidFill>
              </a:rPr>
              <a:t>長期のアクセスキーを作らず、</a:t>
            </a:r>
            <a:br/>
            <a:r>
              <a:rPr lang="en-US" sz="1300" dirty="0">
                <a:solidFill>
                  <a:schemeClr val="tx1"/>
                </a:solidFill>
              </a:rPr>
              <a:t>シングルサインオンで操作</a:t>
            </a:r>
            <a:endParaRPr lang="en-US" sz="1300" dirty="0"/>
          </a:p>
        </p:txBody>
      </p:sp>
      <p:sp>
        <p:nvSpPr>
          <p:cNvPr id="9" name="sec-card-2"/>
          <p:cNvSpPr/>
          <p:nvPr/>
        </p:nvSpPr>
        <p:spPr>
          <a:xfrm>
            <a:off x="4322978" y="1737360"/>
            <a:ext cx="3545738" cy="2121408"/>
          </a:xfrm>
          <a:prstGeom prst="roundRect">
            <a:avLst>
              <a:gd name="adj" fmla="val 3448"/>
            </a:avLst>
          </a:prstGeom>
          <a:solidFill>
            <a:schemeClr val="bg2"/>
          </a:solidFill>
          <a:ln w="9525">
            <a:solidFill>
              <a:schemeClr val="bg2"/>
            </a:solidFill>
            <a:prstDash val="solid"/>
          </a:ln>
        </p:spPr>
      </p:sp>
      <p:sp>
        <p:nvSpPr>
          <p:cNvPr id="10" name="sec-2-circle"/>
          <p:cNvSpPr/>
          <p:nvPr/>
        </p:nvSpPr>
        <p:spPr>
          <a:xfrm>
            <a:off x="4551578" y="1938528"/>
            <a:ext cx="502920" cy="502920"/>
          </a:xfrm>
          <a:prstGeom prst="ellipse">
            <a:avLst/>
          </a:prstGeom>
          <a:solidFill>
            <a:schemeClr val="accent1"/>
          </a:solidFill>
          <a:ln w="12700">
            <a:solidFill>
              <a:schemeClr val="accent1"/>
            </a:solidFill>
            <a:prstDash val="solid"/>
          </a:ln>
        </p:spPr>
      </p:sp>
      <p:pic>
        <p:nvPicPr>
          <p:cNvPr id="11" name="sec-2-icon" descr="preencoded.png">    </p:cNvPr>
          <p:cNvPicPr>
            <a:picLocks noChangeAspect="1"/>
          </p:cNvPicPr>
          <p:nvPr/>
        </p:nvPicPr>
        <p:blipFill>
          <a:blip r:embed="rId2"/>
          <a:stretch>
            <a:fillRect/>
          </a:stretch>
        </p:blipFill>
        <p:spPr>
          <a:xfrm>
            <a:off x="4662221" y="2049170"/>
            <a:ext cx="281635" cy="281635"/>
          </a:xfrm>
          <a:prstGeom prst="rect">
            <a:avLst/>
          </a:prstGeom>
        </p:spPr>
      </p:pic>
      <p:sp>
        <p:nvSpPr>
          <p:cNvPr id="12" name="sec-head-2"/>
          <p:cNvSpPr txBox="1"/>
          <p:nvPr/>
        </p:nvSpPr>
        <p:spPr>
          <a:xfrm>
            <a:off x="5191658" y="1938528"/>
            <a:ext cx="2494178" cy="502920"/>
          </a:xfrm>
          <a:prstGeom prst="rect">
            <a:avLst/>
          </a:prstGeom>
          <a:noFill/>
          <a:ln/>
        </p:spPr>
        <p:txBody>
          <a:bodyPr wrap="square" lIns="0" tIns="0" rIns="0" bIns="0" rtlCol="0" anchor="ctr"/>
          <a:lstStyle/>
          <a:p>
            <a:pPr indent="0" marL="0">
              <a:buNone/>
            </a:pPr>
            <a:r>
              <a:rPr lang="en-US" sz="1600" b="1" dirty="0">
                <a:solidFill>
                  <a:schemeClr val="tx2"/>
                </a:solidFill>
              </a:rPr>
              <a:t>入口の防御</a:t>
            </a:r>
            <a:endParaRPr lang="en-US" sz="1600" dirty="0"/>
          </a:p>
        </p:txBody>
      </p:sp>
      <p:sp>
        <p:nvSpPr>
          <p:cNvPr id="13" name="sec-list-2"/>
          <p:cNvSpPr txBox="1"/>
          <p:nvPr/>
        </p:nvSpPr>
        <p:spPr>
          <a:xfrm>
            <a:off x="4524146" y="2578608"/>
            <a:ext cx="3207410"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HTTPS のみで公開し、WAF で</a:t>
            </a:r>
            <a:br/>
            <a:r>
              <a:rPr lang="en-US" sz="1300" dirty="0">
                <a:solidFill>
                  <a:schemeClr val="tx1"/>
                </a:solidFill>
              </a:rPr>
              <a:t>既知の攻撃や過剰なアクセスを遮断</a:t>
            </a:r>
            <a:endParaRPr lang="en-US" sz="1300" dirty="0"/>
          </a:p>
          <a:p>
            <a:pPr marL="177800" indent="-177800">
              <a:spcAft>
                <a:spcPts val="500"/>
              </a:spcAft>
              <a:buSzPct val="100000"/>
              <a:buChar char="•"/>
            </a:pPr>
            <a:r>
              <a:rPr lang="en-US" sz="1300" dirty="0">
                <a:solidFill>
                  <a:schemeClr val="tx1"/>
                </a:solidFill>
              </a:rPr>
              <a:t>画面と API を同じドメインで提供</a:t>
            </a:r>
            <a:endParaRPr lang="en-US" sz="1300" dirty="0"/>
          </a:p>
        </p:txBody>
      </p:sp>
      <p:sp>
        <p:nvSpPr>
          <p:cNvPr id="14" name="sec-card-3"/>
          <p:cNvSpPr/>
          <p:nvPr/>
        </p:nvSpPr>
        <p:spPr>
          <a:xfrm>
            <a:off x="8097317" y="1737360"/>
            <a:ext cx="3545738" cy="2121408"/>
          </a:xfrm>
          <a:prstGeom prst="roundRect">
            <a:avLst>
              <a:gd name="adj" fmla="val 3448"/>
            </a:avLst>
          </a:prstGeom>
          <a:solidFill>
            <a:schemeClr val="bg2"/>
          </a:solidFill>
          <a:ln w="9525">
            <a:solidFill>
              <a:schemeClr val="bg2"/>
            </a:solidFill>
            <a:prstDash val="solid"/>
          </a:ln>
        </p:spPr>
      </p:sp>
      <p:sp>
        <p:nvSpPr>
          <p:cNvPr id="15" name="sec-3-circle"/>
          <p:cNvSpPr/>
          <p:nvPr/>
        </p:nvSpPr>
        <p:spPr>
          <a:xfrm>
            <a:off x="8325917" y="1938528"/>
            <a:ext cx="502920" cy="502920"/>
          </a:xfrm>
          <a:prstGeom prst="ellipse">
            <a:avLst/>
          </a:prstGeom>
          <a:solidFill>
            <a:schemeClr val="accent1"/>
          </a:solidFill>
          <a:ln w="12700">
            <a:solidFill>
              <a:schemeClr val="accent1"/>
            </a:solidFill>
            <a:prstDash val="solid"/>
          </a:ln>
        </p:spPr>
      </p:sp>
      <p:pic>
        <p:nvPicPr>
          <p:cNvPr id="16" name="sec-3-icon" descr="preencoded.png">    </p:cNvPr>
          <p:cNvPicPr>
            <a:picLocks noChangeAspect="1"/>
          </p:cNvPicPr>
          <p:nvPr/>
        </p:nvPicPr>
        <p:blipFill>
          <a:blip r:embed="rId3"/>
          <a:stretch>
            <a:fillRect/>
          </a:stretch>
        </p:blipFill>
        <p:spPr>
          <a:xfrm>
            <a:off x="8436559" y="2049170"/>
            <a:ext cx="281635" cy="281635"/>
          </a:xfrm>
          <a:prstGeom prst="rect">
            <a:avLst/>
          </a:prstGeom>
        </p:spPr>
      </p:pic>
      <p:sp>
        <p:nvSpPr>
          <p:cNvPr id="17" name="sec-head-3"/>
          <p:cNvSpPr txBox="1"/>
          <p:nvPr/>
        </p:nvSpPr>
        <p:spPr>
          <a:xfrm>
            <a:off x="8965997" y="1938528"/>
            <a:ext cx="2494178" cy="502920"/>
          </a:xfrm>
          <a:prstGeom prst="rect">
            <a:avLst/>
          </a:prstGeom>
          <a:noFill/>
          <a:ln/>
        </p:spPr>
        <p:txBody>
          <a:bodyPr wrap="square" lIns="0" tIns="0" rIns="0" bIns="0" rtlCol="0" anchor="ctr"/>
          <a:lstStyle/>
          <a:p>
            <a:pPr indent="0" marL="0">
              <a:buNone/>
            </a:pPr>
            <a:r>
              <a:rPr lang="en-US" sz="1600" b="1" dirty="0">
                <a:solidFill>
                  <a:schemeClr val="tx2"/>
                </a:solidFill>
              </a:rPr>
              <a:t>アクセスの制限</a:t>
            </a:r>
            <a:endParaRPr lang="en-US" sz="1600" dirty="0"/>
          </a:p>
        </p:txBody>
      </p:sp>
      <p:sp>
        <p:nvSpPr>
          <p:cNvPr id="18" name="sec-list-3"/>
          <p:cNvSpPr txBox="1"/>
          <p:nvPr/>
        </p:nvSpPr>
        <p:spPr>
          <a:xfrm>
            <a:off x="8298485" y="2578608"/>
            <a:ext cx="3207410"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アクセス元を WAF の IP 制限で</a:t>
            </a:r>
            <a:br/>
            <a:r>
              <a:rPr lang="en-US" sz="1300" dirty="0">
                <a:solidFill>
                  <a:schemeClr val="tx1"/>
                </a:solidFill>
              </a:rPr>
              <a:t>限定(ご要望に応じて設定)</a:t>
            </a:r>
            <a:endParaRPr lang="en-US" sz="1300" dirty="0"/>
          </a:p>
          <a:p>
            <a:pPr marL="177800" indent="-177800">
              <a:spcAft>
                <a:spcPts val="500"/>
              </a:spcAft>
              <a:buSzPct val="100000"/>
              <a:buChar char="•"/>
            </a:pPr>
            <a:r>
              <a:rPr lang="en-US" sz="1300" dirty="0">
                <a:solidFill>
                  <a:schemeClr val="tx1"/>
                </a:solidFill>
              </a:rPr>
              <a:t>アップロードは有効期限付きの</a:t>
            </a:r>
            <a:br/>
            <a:r>
              <a:rPr lang="en-US" sz="1300" dirty="0">
                <a:solidFill>
                  <a:schemeClr val="tx1"/>
                </a:solidFill>
              </a:rPr>
              <a:t>専用 URL からのみ受け付け</a:t>
            </a:r>
            <a:endParaRPr lang="en-US" sz="1300" dirty="0"/>
          </a:p>
        </p:txBody>
      </p:sp>
      <p:sp>
        <p:nvSpPr>
          <p:cNvPr id="19" name="sec-card-4"/>
          <p:cNvSpPr/>
          <p:nvPr/>
        </p:nvSpPr>
        <p:spPr>
          <a:xfrm>
            <a:off x="548640" y="4087368"/>
            <a:ext cx="3545738" cy="2121408"/>
          </a:xfrm>
          <a:prstGeom prst="roundRect">
            <a:avLst>
              <a:gd name="adj" fmla="val 3448"/>
            </a:avLst>
          </a:prstGeom>
          <a:solidFill>
            <a:schemeClr val="bg2"/>
          </a:solidFill>
          <a:ln w="9525">
            <a:solidFill>
              <a:schemeClr val="bg2"/>
            </a:solidFill>
            <a:prstDash val="solid"/>
          </a:ln>
        </p:spPr>
      </p:sp>
      <p:sp>
        <p:nvSpPr>
          <p:cNvPr id="20" name="sec-4-circle"/>
          <p:cNvSpPr/>
          <p:nvPr/>
        </p:nvSpPr>
        <p:spPr>
          <a:xfrm>
            <a:off x="777240" y="4288536"/>
            <a:ext cx="502920" cy="502920"/>
          </a:xfrm>
          <a:prstGeom prst="ellipse">
            <a:avLst/>
          </a:prstGeom>
          <a:solidFill>
            <a:schemeClr val="accent1"/>
          </a:solidFill>
          <a:ln w="12700">
            <a:solidFill>
              <a:schemeClr val="accent1"/>
            </a:solidFill>
            <a:prstDash val="solid"/>
          </a:ln>
        </p:spPr>
      </p:sp>
      <p:pic>
        <p:nvPicPr>
          <p:cNvPr id="21" name="sec-4-icon" descr="preencoded.png">    </p:cNvPr>
          <p:cNvPicPr>
            <a:picLocks noChangeAspect="1"/>
          </p:cNvPicPr>
          <p:nvPr/>
        </p:nvPicPr>
        <p:blipFill>
          <a:blip r:embed="rId4"/>
          <a:stretch>
            <a:fillRect/>
          </a:stretch>
        </p:blipFill>
        <p:spPr>
          <a:xfrm>
            <a:off x="887882" y="4399178"/>
            <a:ext cx="281635" cy="281635"/>
          </a:xfrm>
          <a:prstGeom prst="rect">
            <a:avLst/>
          </a:prstGeom>
        </p:spPr>
      </p:pic>
      <p:sp>
        <p:nvSpPr>
          <p:cNvPr id="22" name="sec-head-4"/>
          <p:cNvSpPr txBox="1"/>
          <p:nvPr/>
        </p:nvSpPr>
        <p:spPr>
          <a:xfrm>
            <a:off x="1417320" y="4288536"/>
            <a:ext cx="2494178" cy="502920"/>
          </a:xfrm>
          <a:prstGeom prst="rect">
            <a:avLst/>
          </a:prstGeom>
          <a:noFill/>
          <a:ln/>
        </p:spPr>
        <p:txBody>
          <a:bodyPr wrap="square" lIns="0" tIns="0" rIns="0" bIns="0" rtlCol="0" anchor="ctr"/>
          <a:lstStyle/>
          <a:p>
            <a:pPr indent="0" marL="0">
              <a:buNone/>
            </a:pPr>
            <a:r>
              <a:rPr lang="en-US" sz="1600" b="1" dirty="0">
                <a:solidFill>
                  <a:schemeClr val="tx2"/>
                </a:solidFill>
              </a:rPr>
              <a:t>データの保護</a:t>
            </a:r>
            <a:endParaRPr lang="en-US" sz="1600" dirty="0"/>
          </a:p>
        </p:txBody>
      </p:sp>
      <p:sp>
        <p:nvSpPr>
          <p:cNvPr id="23" name="sec-list-4"/>
          <p:cNvSpPr txBox="1"/>
          <p:nvPr/>
        </p:nvSpPr>
        <p:spPr>
          <a:xfrm>
            <a:off x="749808" y="4928616"/>
            <a:ext cx="3207410"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保存データは東京リージョン内で</a:t>
            </a:r>
            <a:br/>
            <a:r>
              <a:rPr lang="en-US" sz="1300" dirty="0">
                <a:solidFill>
                  <a:schemeClr val="tx1"/>
                </a:solidFill>
              </a:rPr>
              <a:t>暗号化し、公開アクセスを遮断</a:t>
            </a:r>
            <a:endParaRPr lang="en-US" sz="1300" dirty="0"/>
          </a:p>
          <a:p>
            <a:pPr marL="177800" indent="-177800">
              <a:spcAft>
                <a:spcPts val="500"/>
              </a:spcAft>
              <a:buSzPct val="100000"/>
              <a:buChar char="•"/>
            </a:pPr>
            <a:r>
              <a:rPr lang="en-US" sz="1300" dirty="0">
                <a:solidFill>
                  <a:schemeClr val="tx1"/>
                </a:solidFill>
              </a:rPr>
              <a:t>アップロードごとに保存先を分け、</a:t>
            </a:r>
            <a:br/>
            <a:r>
              <a:rPr lang="en-US" sz="1300" dirty="0">
                <a:solidFill>
                  <a:schemeClr val="tx1"/>
                </a:solidFill>
              </a:rPr>
              <a:t>一定期間(例: 7 日)後に自動削除</a:t>
            </a:r>
            <a:endParaRPr lang="en-US" sz="1300" dirty="0"/>
          </a:p>
        </p:txBody>
      </p:sp>
      <p:sp>
        <p:nvSpPr>
          <p:cNvPr id="24" name="sec-card-5"/>
          <p:cNvSpPr/>
          <p:nvPr/>
        </p:nvSpPr>
        <p:spPr>
          <a:xfrm>
            <a:off x="4322978" y="4087368"/>
            <a:ext cx="3545738" cy="2121408"/>
          </a:xfrm>
          <a:prstGeom prst="roundRect">
            <a:avLst>
              <a:gd name="adj" fmla="val 3448"/>
            </a:avLst>
          </a:prstGeom>
          <a:solidFill>
            <a:schemeClr val="bg2"/>
          </a:solidFill>
          <a:ln w="9525">
            <a:solidFill>
              <a:schemeClr val="bg2"/>
            </a:solidFill>
            <a:prstDash val="solid"/>
          </a:ln>
        </p:spPr>
      </p:sp>
      <p:sp>
        <p:nvSpPr>
          <p:cNvPr id="25" name="sec-5-circle"/>
          <p:cNvSpPr/>
          <p:nvPr/>
        </p:nvSpPr>
        <p:spPr>
          <a:xfrm>
            <a:off x="4551578" y="4288536"/>
            <a:ext cx="502920" cy="502920"/>
          </a:xfrm>
          <a:prstGeom prst="ellipse">
            <a:avLst/>
          </a:prstGeom>
          <a:solidFill>
            <a:schemeClr val="accent1"/>
          </a:solidFill>
          <a:ln w="12700">
            <a:solidFill>
              <a:schemeClr val="accent1"/>
            </a:solidFill>
            <a:prstDash val="solid"/>
          </a:ln>
        </p:spPr>
      </p:sp>
      <p:pic>
        <p:nvPicPr>
          <p:cNvPr id="26" name="sec-5-icon" descr="preencoded.png">    </p:cNvPr>
          <p:cNvPicPr>
            <a:picLocks noChangeAspect="1"/>
          </p:cNvPicPr>
          <p:nvPr/>
        </p:nvPicPr>
        <p:blipFill>
          <a:blip r:embed="rId5"/>
          <a:stretch>
            <a:fillRect/>
          </a:stretch>
        </p:blipFill>
        <p:spPr>
          <a:xfrm>
            <a:off x="4662221" y="4399178"/>
            <a:ext cx="281635" cy="281635"/>
          </a:xfrm>
          <a:prstGeom prst="rect">
            <a:avLst/>
          </a:prstGeom>
        </p:spPr>
      </p:pic>
      <p:sp>
        <p:nvSpPr>
          <p:cNvPr id="27" name="sec-head-5"/>
          <p:cNvSpPr txBox="1"/>
          <p:nvPr/>
        </p:nvSpPr>
        <p:spPr>
          <a:xfrm>
            <a:off x="5191658" y="4288536"/>
            <a:ext cx="2494178" cy="502920"/>
          </a:xfrm>
          <a:prstGeom prst="rect">
            <a:avLst/>
          </a:prstGeom>
          <a:noFill/>
          <a:ln/>
        </p:spPr>
        <p:txBody>
          <a:bodyPr wrap="square" lIns="0" tIns="0" rIns="0" bIns="0" rtlCol="0" anchor="ctr"/>
          <a:lstStyle/>
          <a:p>
            <a:pPr indent="0" marL="0">
              <a:buNone/>
            </a:pPr>
            <a:r>
              <a:rPr lang="en-US" sz="1600" b="1" dirty="0">
                <a:solidFill>
                  <a:schemeClr val="tx2"/>
                </a:solidFill>
              </a:rPr>
              <a:t>最小権限と処理の制限</a:t>
            </a:r>
            <a:endParaRPr lang="en-US" sz="1600" dirty="0"/>
          </a:p>
        </p:txBody>
      </p:sp>
      <p:sp>
        <p:nvSpPr>
          <p:cNvPr id="28" name="sec-list-5"/>
          <p:cNvSpPr txBox="1"/>
          <p:nvPr/>
        </p:nvSpPr>
        <p:spPr>
          <a:xfrm>
            <a:off x="4524146" y="4928616"/>
            <a:ext cx="3207410"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処理ごとに必要最小限の</a:t>
            </a:r>
            <a:br/>
            <a:r>
              <a:rPr lang="en-US" sz="1300" dirty="0">
                <a:solidFill>
                  <a:schemeClr val="tx1"/>
                </a:solidFill>
              </a:rPr>
              <a:t>権限だけを付与</a:t>
            </a:r>
            <a:endParaRPr lang="en-US" sz="1300" dirty="0"/>
          </a:p>
          <a:p>
            <a:pPr marL="177800" indent="-177800">
              <a:spcAft>
                <a:spcPts val="500"/>
              </a:spcAft>
              <a:buSzPct val="100000"/>
              <a:buChar char="•"/>
            </a:pPr>
            <a:r>
              <a:rPr lang="en-US" sz="1300" dirty="0">
                <a:solidFill>
                  <a:schemeClr val="tx1"/>
                </a:solidFill>
              </a:rPr>
              <a:t>同時実行数に上限を設け、</a:t>
            </a:r>
            <a:br/>
            <a:r>
              <a:rPr lang="en-US" sz="1300" dirty="0">
                <a:solidFill>
                  <a:schemeClr val="tx1"/>
                </a:solidFill>
              </a:rPr>
              <a:t>想定外の課金を抑制</a:t>
            </a:r>
            <a:endParaRPr lang="en-US" sz="1300" dirty="0"/>
          </a:p>
        </p:txBody>
      </p:sp>
      <p:sp>
        <p:nvSpPr>
          <p:cNvPr id="29" name="sec-card-6"/>
          <p:cNvSpPr/>
          <p:nvPr/>
        </p:nvSpPr>
        <p:spPr>
          <a:xfrm>
            <a:off x="8097317" y="4087368"/>
            <a:ext cx="3545738" cy="2121408"/>
          </a:xfrm>
          <a:prstGeom prst="roundRect">
            <a:avLst>
              <a:gd name="adj" fmla="val 3448"/>
            </a:avLst>
          </a:prstGeom>
          <a:solidFill>
            <a:schemeClr val="bg2"/>
          </a:solidFill>
          <a:ln w="9525">
            <a:solidFill>
              <a:schemeClr val="bg2"/>
            </a:solidFill>
            <a:prstDash val="solid"/>
          </a:ln>
        </p:spPr>
      </p:sp>
      <p:sp>
        <p:nvSpPr>
          <p:cNvPr id="30" name="sec-6-circle"/>
          <p:cNvSpPr/>
          <p:nvPr/>
        </p:nvSpPr>
        <p:spPr>
          <a:xfrm>
            <a:off x="8325917" y="4288536"/>
            <a:ext cx="502920" cy="502920"/>
          </a:xfrm>
          <a:prstGeom prst="ellipse">
            <a:avLst/>
          </a:prstGeom>
          <a:solidFill>
            <a:schemeClr val="accent1"/>
          </a:solidFill>
          <a:ln w="12700">
            <a:solidFill>
              <a:schemeClr val="accent1"/>
            </a:solidFill>
            <a:prstDash val="solid"/>
          </a:ln>
        </p:spPr>
      </p:sp>
      <p:pic>
        <p:nvPicPr>
          <p:cNvPr id="31" name="sec-6-icon" descr="preencoded.png">    </p:cNvPr>
          <p:cNvPicPr>
            <a:picLocks noChangeAspect="1"/>
          </p:cNvPicPr>
          <p:nvPr/>
        </p:nvPicPr>
        <p:blipFill>
          <a:blip r:embed="rId6"/>
          <a:stretch>
            <a:fillRect/>
          </a:stretch>
        </p:blipFill>
        <p:spPr>
          <a:xfrm>
            <a:off x="8436559" y="4399178"/>
            <a:ext cx="281635" cy="281635"/>
          </a:xfrm>
          <a:prstGeom prst="rect">
            <a:avLst/>
          </a:prstGeom>
        </p:spPr>
      </p:pic>
      <p:sp>
        <p:nvSpPr>
          <p:cNvPr id="32" name="sec-head-6"/>
          <p:cNvSpPr txBox="1"/>
          <p:nvPr/>
        </p:nvSpPr>
        <p:spPr>
          <a:xfrm>
            <a:off x="8965997" y="4288536"/>
            <a:ext cx="2494178" cy="502920"/>
          </a:xfrm>
          <a:prstGeom prst="rect">
            <a:avLst/>
          </a:prstGeom>
          <a:noFill/>
          <a:ln/>
        </p:spPr>
        <p:txBody>
          <a:bodyPr wrap="square" lIns="0" tIns="0" rIns="0" bIns="0" rtlCol="0" anchor="ctr"/>
          <a:lstStyle/>
          <a:p>
            <a:pPr indent="0" marL="0">
              <a:buNone/>
            </a:pPr>
            <a:r>
              <a:rPr lang="en-US" sz="1600" b="1" dirty="0">
                <a:solidFill>
                  <a:schemeClr val="tx2"/>
                </a:solidFill>
              </a:rPr>
              <a:t>記録と監視</a:t>
            </a:r>
            <a:endParaRPr lang="en-US" sz="1600" dirty="0"/>
          </a:p>
        </p:txBody>
      </p:sp>
      <p:sp>
        <p:nvSpPr>
          <p:cNvPr id="33" name="sec-list-6"/>
          <p:cNvSpPr txBox="1"/>
          <p:nvPr/>
        </p:nvSpPr>
        <p:spPr>
          <a:xfrm>
            <a:off x="8298485" y="4928616"/>
            <a:ext cx="3207410"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操作履歴(90 日間)と動作記録を</a:t>
            </a:r>
            <a:br/>
            <a:r>
              <a:rPr lang="en-US" sz="1300" dirty="0">
                <a:solidFill>
                  <a:schemeClr val="tx1"/>
                </a:solidFill>
              </a:rPr>
              <a:t>保存し、エラーを通知</a:t>
            </a:r>
            <a:endParaRPr lang="en-US" sz="1300" dirty="0"/>
          </a:p>
          <a:p>
            <a:pPr marL="177800" indent="-177800">
              <a:spcAft>
                <a:spcPts val="500"/>
              </a:spcAft>
              <a:buSzPct val="100000"/>
              <a:buChar char="•"/>
            </a:pPr>
            <a:r>
              <a:rPr lang="en-US" sz="1300" dirty="0">
                <a:solidFill>
                  <a:schemeClr val="tx1"/>
                </a:solidFill>
              </a:rPr>
              <a:t>予算を設定し、超過の兆候を通知</a:t>
            </a:r>
            <a:endParaRPr lang="en-US" sz="13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40080"/>
          </a:xfrm>
          <a:prstGeom prst="rect">
            <a:avLst/>
          </a:prstGeom>
          <a:noFill/>
          <a:ln/>
        </p:spPr>
        <p:txBody>
          <a:bodyPr wrap="square" lIns="0" tIns="0" rIns="0" bIns="0" rtlCol="0" anchor="ctr"/>
          <a:lstStyle/>
          <a:p>
            <a:pPr algn="l" indent="0" marL="0">
              <a:buNone/>
            </a:pPr>
            <a:r>
              <a:rPr lang="en-US" sz="2800" b="1" dirty="0">
                <a:solidFill>
                  <a:schemeClr val="tx2"/>
                </a:solidFill>
              </a:rPr>
              <a:t>費用の目安</a:t>
            </a:r>
            <a:endParaRPr lang="en-US" sz="28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ctr"/>
          <a:lstStyle/>
          <a:p>
            <a:pPr algn="l" indent="0" marL="0">
              <a:buNone/>
            </a:pPr>
            <a:r>
              <a:rPr lang="en-US" sz="1500" dirty="0">
                <a:solidFill>
                  <a:schemeClr val="tx1"/>
                </a:solidFill>
              </a:rPr>
              <a:t>モックの想定利用量では、ほとんどのサービスが無料利用枠の範囲に収まります</a:t>
            </a:r>
            <a:endParaRPr lang="en-US" sz="1500" dirty="0"/>
          </a:p>
        </p:txBody>
      </p:sp>
      <p:sp>
        <p:nvSpPr>
          <p:cNvPr id="4" name="cost-callout"/>
          <p:cNvSpPr/>
          <p:nvPr/>
        </p:nvSpPr>
        <p:spPr>
          <a:xfrm>
            <a:off x="548640" y="1737360"/>
            <a:ext cx="3566160" cy="4434840"/>
          </a:xfrm>
          <a:prstGeom prst="roundRect">
            <a:avLst>
              <a:gd name="adj" fmla="val 2051"/>
            </a:avLst>
          </a:prstGeom>
          <a:solidFill>
            <a:schemeClr val="tx2"/>
          </a:solidFill>
          <a:ln w="9525">
            <a:solidFill>
              <a:schemeClr val="tx2"/>
            </a:solidFill>
            <a:prstDash val="solid"/>
          </a:ln>
        </p:spPr>
      </p:sp>
      <p:sp>
        <p:nvSpPr>
          <p:cNvPr id="5" name="cost-stat-label"/>
          <p:cNvSpPr txBox="1"/>
          <p:nvPr/>
        </p:nvSpPr>
        <p:spPr>
          <a:xfrm>
            <a:off x="868680" y="2057400"/>
            <a:ext cx="3017520" cy="411480"/>
          </a:xfrm>
          <a:prstGeom prst="rect">
            <a:avLst/>
          </a:prstGeom>
          <a:noFill/>
          <a:ln/>
        </p:spPr>
        <p:txBody>
          <a:bodyPr wrap="square" lIns="0" tIns="0" rIns="0" bIns="0" rtlCol="0" anchor="ctr"/>
          <a:lstStyle/>
          <a:p>
            <a:pPr indent="0" marL="0">
              <a:buNone/>
            </a:pPr>
            <a:r>
              <a:rPr lang="en-US" sz="1400" dirty="0">
                <a:solidFill>
                  <a:schemeClr val="bg1"/>
                </a:solidFill>
              </a:rPr>
              <a:t>AWS 利用料の月額(想定利用量)</a:t>
            </a:r>
            <a:endParaRPr lang="en-US" sz="1400" dirty="0"/>
          </a:p>
        </p:txBody>
      </p:sp>
      <p:sp>
        <p:nvSpPr>
          <p:cNvPr id="6" name="cost-stat"/>
          <p:cNvSpPr txBox="1"/>
          <p:nvPr/>
        </p:nvSpPr>
        <p:spPr>
          <a:xfrm>
            <a:off x="868680" y="2468880"/>
            <a:ext cx="3017520" cy="1005840"/>
          </a:xfrm>
          <a:prstGeom prst="rect">
            <a:avLst/>
          </a:prstGeom>
          <a:noFill/>
          <a:ln/>
        </p:spPr>
        <p:txBody>
          <a:bodyPr wrap="square" lIns="0" tIns="0" rIns="0" bIns="0" rtlCol="0" anchor="ctr"/>
          <a:lstStyle/>
          <a:p>
            <a:pPr indent="0" marL="0">
              <a:buNone/>
            </a:pPr>
            <a:r>
              <a:rPr lang="en-US" sz="4400" b="1" dirty="0">
                <a:solidFill>
                  <a:schemeClr val="accent3"/>
                </a:solidFill>
              </a:rPr>
              <a:t>$1 未満</a:t>
            </a:r>
            <a:endParaRPr lang="en-US" sz="4400" dirty="0"/>
          </a:p>
        </p:txBody>
      </p:sp>
      <p:sp>
        <p:nvSpPr>
          <p:cNvPr id="7" name="cost-stat-sub"/>
          <p:cNvSpPr txBox="1"/>
          <p:nvPr/>
        </p:nvSpPr>
        <p:spPr>
          <a:xfrm>
            <a:off x="868680" y="3520440"/>
            <a:ext cx="3017520" cy="594360"/>
          </a:xfrm>
          <a:prstGeom prst="rect">
            <a:avLst/>
          </a:prstGeom>
          <a:noFill/>
          <a:ln/>
        </p:spPr>
        <p:txBody>
          <a:bodyPr wrap="square" lIns="0" tIns="0" rIns="0" bIns="0" rtlCol="0" anchor="t"/>
          <a:lstStyle/>
          <a:p>
            <a:pPr indent="0" marL="0">
              <a:buNone/>
            </a:pPr>
            <a:r>
              <a:rPr lang="en-US" sz="1200" dirty="0">
                <a:solidFill>
                  <a:schemeClr val="bg1"/>
                </a:solidFill>
              </a:rPr>
              <a:t>試算 約 $0.1(税別・東京リージョン、</a:t>
            </a:r>
            <a:endParaRPr lang="en-US" sz="1200" dirty="0"/>
          </a:p>
          <a:p>
            <a:pPr indent="0" marL="0">
              <a:buNone/>
            </a:pPr>
            <a:r>
              <a:rPr lang="en-US" sz="1200" dirty="0">
                <a:solidFill>
                  <a:schemeClr val="bg1"/>
                </a:solidFill>
              </a:rPr>
              <a:t>CloudFront 定額プラン利用時)</a:t>
            </a:r>
            <a:endParaRPr lang="en-US" sz="1200" dirty="0"/>
          </a:p>
        </p:txBody>
      </p:sp>
      <p:sp>
        <p:nvSpPr>
          <p:cNvPr id="8" name="cost-assume-head"/>
          <p:cNvSpPr txBox="1"/>
          <p:nvPr/>
        </p:nvSpPr>
        <p:spPr>
          <a:xfrm>
            <a:off x="868680" y="4114800"/>
            <a:ext cx="3017520" cy="320040"/>
          </a:xfrm>
          <a:prstGeom prst="rect">
            <a:avLst/>
          </a:prstGeom>
          <a:noFill/>
          <a:ln/>
        </p:spPr>
        <p:txBody>
          <a:bodyPr wrap="square" lIns="0" tIns="0" rIns="0" bIns="0" rtlCol="0" anchor="ctr"/>
          <a:lstStyle/>
          <a:p>
            <a:pPr indent="0" marL="0">
              <a:buNone/>
            </a:pPr>
            <a:r>
              <a:rPr lang="en-US" sz="1200" b="1" dirty="0">
                <a:solidFill>
                  <a:schemeClr val="accent3"/>
                </a:solidFill>
              </a:rPr>
              <a:t>想定利用量</a:t>
            </a:r>
            <a:endParaRPr lang="en-US" sz="1200" dirty="0"/>
          </a:p>
        </p:txBody>
      </p:sp>
      <p:sp>
        <p:nvSpPr>
          <p:cNvPr id="9" name="cost-assume"/>
          <p:cNvSpPr txBox="1"/>
          <p:nvPr/>
        </p:nvSpPr>
        <p:spPr>
          <a:xfrm>
            <a:off x="868680" y="4434840"/>
            <a:ext cx="3063240" cy="1645920"/>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bg1"/>
                </a:solidFill>
              </a:rPr>
              <a:t>利用者 5 名</a:t>
            </a:r>
            <a:endParaRPr lang="en-US" sz="1200" dirty="0"/>
          </a:p>
          <a:p>
            <a:pPr marL="177800" indent="-177800">
              <a:spcAft>
                <a:spcPts val="200"/>
              </a:spcAft>
              <a:buSzPct val="100000"/>
              <a:buChar char="•"/>
            </a:pPr>
            <a:r>
              <a:rPr lang="en-US" sz="1200" dirty="0">
                <a:solidFill>
                  <a:schemeClr val="bg1"/>
                </a:solidFill>
              </a:rPr>
              <a:t>解析 月 1,000 回(各 1 分)</a:t>
            </a:r>
            <a:endParaRPr lang="en-US" sz="1200" dirty="0"/>
          </a:p>
          <a:p>
            <a:pPr marL="177800" indent="-177800">
              <a:spcAft>
                <a:spcPts val="200"/>
              </a:spcAft>
              <a:buSzPct val="100000"/>
              <a:buChar char="•"/>
            </a:pPr>
            <a:r>
              <a:rPr lang="en-US" sz="1200" dirty="0">
                <a:solidFill>
                  <a:schemeClr val="bg1"/>
                </a:solidFill>
              </a:rPr>
              <a:t>解析のメモリ 2 GB</a:t>
            </a:r>
            <a:endParaRPr lang="en-US" sz="1200" dirty="0"/>
          </a:p>
          <a:p>
            <a:pPr marL="177800" indent="-177800">
              <a:spcAft>
                <a:spcPts val="200"/>
              </a:spcAft>
              <a:buSzPct val="100000"/>
              <a:buChar char="•"/>
            </a:pPr>
            <a:r>
              <a:rPr lang="en-US" sz="1200" dirty="0">
                <a:solidFill>
                  <a:schemeClr val="bg1"/>
                </a:solidFill>
              </a:rPr>
              <a:t>アップロード 各 10 MB(7 日で削除)</a:t>
            </a:r>
            <a:endParaRPr lang="en-US" sz="1200" dirty="0"/>
          </a:p>
          <a:p>
            <a:pPr marL="177800" indent="-177800">
              <a:spcAft>
                <a:spcPts val="200"/>
              </a:spcAft>
              <a:buSzPct val="100000"/>
              <a:buChar char="•"/>
            </a:pPr>
            <a:r>
              <a:rPr lang="en-US" sz="1200" dirty="0">
                <a:solidFill>
                  <a:schemeClr val="bg1"/>
                </a:solidFill>
              </a:rPr>
              <a:t>API の呼び出し 月 1 万回</a:t>
            </a:r>
            <a:endParaRPr lang="en-US" sz="1200" dirty="0"/>
          </a:p>
        </p:txBody>
      </p:sp>
      <p:graphicFrame>
        <p:nvGraphicFramePr>
          <p:cNvPr id="9" name="cost-table"/>
          <p:cNvGraphicFramePr>
            <a:graphicFrameLocks noGrp="1"/>
          </p:cNvGraphicFramePr>
          <p:nvPr>
            <p:extLst>
              <p:ext uri="{D42A27DB-BD31-4B8C-83A1-F6EECF244321}">
                <p14:modId xmlns:p14="http://schemas.microsoft.com/office/powerpoint/2010/main" val="1579011935"/>
              </p:ext>
            </p:extLst>
          </p:nvPr>
        </p:nvGraphicFramePr>
        <p:xfrm>
          <a:off x="4434840" y="1737360"/>
          <a:ext cx="7208215" cy="914400"/>
        </p:xfrm>
        <a:graphic>
          <a:graphicData uri="http://schemas.openxmlformats.org/drawingml/2006/table">
            <a:tbl>
              <a:tblPr/>
              <a:tblGrid>
                <a:gridCol w="2103120"/>
                <a:gridCol w="3870655"/>
                <a:gridCol w="1234440"/>
              </a:tblGrid>
              <a:tr h="402336">
                <a:tc>
                  <a:txBody>
                    <a:bodyPr/>
                    <a:lstStyle/>
                    <a:p>
                      <a:pPr algn="l" indent="0" marL="0">
                        <a:buNone/>
                      </a:pPr>
                      <a:r>
                        <a:rPr lang="en-US" sz="1300" b="1" dirty="0">
                          <a:solidFill>
                            <a:schemeClr val="bg1"/>
                          </a:solidFill>
                        </a:rPr>
                        <a:t>サービス</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想定の使い方</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月額の目安</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2"/>
                    </a:solidFill>
                  </a:tcPr>
                </a:tc>
              </a:tr>
              <a:tr h="402336">
                <a:tc>
                  <a:txBody>
                    <a:bodyPr/>
                    <a:lstStyle/>
                    <a:p>
                      <a:pPr algn="l" indent="0" marL="0">
                        <a:buNone/>
                      </a:pPr>
                      <a:r>
                        <a:rPr lang="en-US" sz="1300" dirty="0">
                          <a:solidFill>
                            <a:schemeClr val="tx1"/>
                          </a:solidFill>
                        </a:rPr>
                        <a:t>CloudFront + WAF</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定額プラン(Free)の範囲内</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rPr>
                        <a:t>$0</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r>
              <a:tr h="402336">
                <a:tc>
                  <a:txBody>
                    <a:bodyPr/>
                    <a:lstStyle/>
                    <a:p>
                      <a:pPr algn="l" indent="0" marL="0">
                        <a:buNone/>
                      </a:pPr>
                      <a:r>
                        <a:rPr lang="en-US" sz="1300" dirty="0">
                          <a:solidFill>
                            <a:schemeClr val="tx1"/>
                          </a:solidFill>
                        </a:rPr>
                        <a:t>API Gateway</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月 1 万回(100 万回で $1.29)</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rPr>
                        <a:t>$0.01</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r>
              <a:tr h="402336">
                <a:tc>
                  <a:txBody>
                    <a:bodyPr/>
                    <a:lstStyle/>
                    <a:p>
                      <a:pPr algn="l" indent="0" marL="0">
                        <a:buNone/>
                      </a:pPr>
                      <a:r>
                        <a:rPr lang="en-US" sz="1300" dirty="0">
                          <a:solidFill>
                            <a:schemeClr val="tx1"/>
                          </a:solidFill>
                        </a:rPr>
                        <a:t>AWS Lambda</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約 12 万 GB 秒(無料枠 月 40 万 GB 秒)</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rPr>
                        <a:t>$0</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r>
              <a:tr h="402336">
                <a:tc>
                  <a:txBody>
                    <a:bodyPr/>
                    <a:lstStyle/>
                    <a:p>
                      <a:pPr algn="l" indent="0" marL="0">
                        <a:buNone/>
                      </a:pPr>
                      <a:r>
                        <a:rPr lang="en-US" sz="1300" dirty="0">
                          <a:solidFill>
                            <a:schemeClr val="tx1"/>
                          </a:solidFill>
                        </a:rPr>
                        <a:t>Amazon S3</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平均 約 2.5 GB の保存と読み書き</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rPr>
                        <a:t>$0.08</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r>
              <a:tr h="402336">
                <a:tc>
                  <a:txBody>
                    <a:bodyPr/>
                    <a:lstStyle/>
                    <a:p>
                      <a:pPr algn="l" indent="0" marL="0">
                        <a:buNone/>
                      </a:pPr>
                      <a:r>
                        <a:rPr lang="en-US" sz="1300" dirty="0">
                          <a:solidFill>
                            <a:schemeClr val="tx1"/>
                          </a:solidFill>
                        </a:rPr>
                        <a:t>Amazon DynamoDB</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処理状態の読み書き</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rPr>
                        <a:t>$0.01 未満</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r>
              <a:tr h="402336">
                <a:tc>
                  <a:txBody>
                    <a:bodyPr/>
                    <a:lstStyle/>
                    <a:p>
                      <a:pPr algn="l" indent="0" marL="0">
                        <a:buNone/>
                      </a:pPr>
                      <a:r>
                        <a:rPr lang="en-US" sz="1300" dirty="0">
                          <a:solidFill>
                            <a:schemeClr val="tx1"/>
                          </a:solidFill>
                        </a:rPr>
                        <a:t>CloudWatch ほか</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無料枠の範囲内</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rPr>
                        <a:t>$0</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r>
              <a:tr h="402336">
                <a:tc>
                  <a:txBody>
                    <a:bodyPr/>
                    <a:lstStyle/>
                    <a:p>
                      <a:pPr algn="l" indent="0" marL="0">
                        <a:buNone/>
                      </a:pPr>
                      <a:r>
                        <a:rPr lang="en-US" sz="1300" b="1" dirty="0">
                          <a:solidFill>
                            <a:schemeClr val="bg1"/>
                          </a:solidFill>
                        </a:rPr>
                        <a:t>合計</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2"/>
                    </a:solidFill>
                  </a:tcPr>
                </a:tc>
                <a:tc>
                  <a:txBody>
                    <a:bodyPr/>
                    <a:lstStyle/>
                    <a:p>
                      <a:pPr algn="l" indent="0" marL="0">
                        <a:buNone/>
                      </a:pP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2"/>
                    </a:solidFill>
                  </a:tcPr>
                </a:tc>
                <a:tc>
                  <a:txBody>
                    <a:bodyPr/>
                    <a:lstStyle/>
                    <a:p>
                      <a:pPr algn="r" indent="0" marL="0">
                        <a:buNone/>
                      </a:pPr>
                      <a:r>
                        <a:rPr lang="en-US" sz="1300" b="1" dirty="0">
                          <a:solidFill>
                            <a:schemeClr val="bg1"/>
                          </a:solidFill>
                        </a:rPr>
                        <a:t>約 $0.1</a:t>
                      </a:r>
                      <a:endParaRPr lang="en-US" sz="1300" dirty="0"/>
                    </a:p>
                  </a:txBody>
                  <a:tcPr marL="91440" marR="91440"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2"/>
                    </a:solidFill>
                  </a:tcPr>
                </a:tc>
              </a:tr>
            </a:tbl>
          </a:graphicData>
        </a:graphic>
      </p:graphicFrame>
      <p:sp>
        <p:nvSpPr>
          <p:cNvPr id="11" name="cost-note"/>
          <p:cNvSpPr txBox="1"/>
          <p:nvPr/>
        </p:nvSpPr>
        <p:spPr>
          <a:xfrm>
            <a:off x="4434840" y="5138928"/>
            <a:ext cx="7208215" cy="1033272"/>
          </a:xfrm>
          <a:prstGeom prst="rect">
            <a:avLst/>
          </a:prstGeom>
          <a:noFill/>
          <a:ln/>
        </p:spPr>
        <p:txBody>
          <a:bodyPr wrap="square" lIns="0" tIns="0" rIns="0" bIns="0" rtlCol="0" anchor="t"/>
          <a:lstStyle/>
          <a:p>
            <a:pPr indent="0" marL="0">
              <a:buNone/>
            </a:pPr>
            <a:r>
              <a:rPr lang="en-US" sz="1000" dirty="0">
                <a:solidFill>
                  <a:schemeClr val="accent4"/>
                </a:solidFill>
              </a:rPr>
              <a:t>※ AWS の利用料のみの試算です(構築・運用の作業費用は含みません)。2026年10月時点の AWS 公式の料金(東京リージョン、税別)に基づきます。CloudFront の定額プラン(Free)は、AWS の無料プランのアカウントではご利用いただけません。定額プランを使わない場合は、WAF の利用料として月 約 $8(Web ACL $5 + ルール 3 本 $3)が加わります。無料利用枠はアカウント単位のため、同じアカウントで他のシステムをご利用の場合は金額が変わります。</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40080"/>
          </a:xfrm>
          <a:prstGeom prst="rect">
            <a:avLst/>
          </a:prstGeom>
          <a:noFill/>
          <a:ln/>
        </p:spPr>
        <p:txBody>
          <a:bodyPr wrap="square" lIns="0" tIns="0" rIns="0" bIns="0" rtlCol="0" anchor="ctr"/>
          <a:lstStyle/>
          <a:p>
            <a:pPr algn="l" indent="0" marL="0">
              <a:buNone/>
            </a:pPr>
            <a:r>
              <a:rPr lang="en-US" sz="2800" b="1" dirty="0">
                <a:solidFill>
                  <a:schemeClr val="tx2"/>
                </a:solidFill>
              </a:rPr>
              <a:t>構成案の比較</a:t>
            </a:r>
            <a:endParaRPr lang="en-US" sz="28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ctr"/>
          <a:lstStyle/>
          <a:p>
            <a:pPr algn="l" indent="0" marL="0">
              <a:buNone/>
            </a:pPr>
            <a:r>
              <a:rPr lang="en-US" sz="1500" dirty="0">
                <a:solidFill>
                  <a:schemeClr val="tx1"/>
                </a:solidFill>
              </a:rPr>
              <a:t>処理時間とライブラリの要件に応じて、コンテナ構成もお選びいただけます</a:t>
            </a:r>
            <a:endParaRPr lang="en-US" sz="1500" dirty="0"/>
          </a:p>
        </p:txBody>
      </p:sp>
      <p:sp>
        <p:nvSpPr>
          <p:cNvPr id="4" name="cmp-card-1"/>
          <p:cNvSpPr/>
          <p:nvPr/>
        </p:nvSpPr>
        <p:spPr>
          <a:xfrm>
            <a:off x="548640" y="1737360"/>
            <a:ext cx="5364328" cy="4114800"/>
          </a:xfrm>
          <a:prstGeom prst="roundRect">
            <a:avLst>
              <a:gd name="adj" fmla="val 1778"/>
            </a:avLst>
          </a:prstGeom>
          <a:solidFill>
            <a:schemeClr val="bg1"/>
          </a:solidFill>
          <a:ln w="25400">
            <a:solidFill>
              <a:schemeClr val="tx2"/>
            </a:solidFill>
            <a:prstDash val="solid"/>
          </a:ln>
          <a:effectLst>
            <a:outerShdw sx="100000" sy="100000" kx="0" ky="0" algn="bl" rotWithShape="0" blurRad="76200" dist="25400" dir="5400000">
              <a:srgbClr val="000000">
                <a:alpha val="12000"/>
              </a:srgbClr>
            </a:outerShdw>
          </a:effectLst>
        </p:spPr>
      </p:sp>
      <p:sp>
        <p:nvSpPr>
          <p:cNvPr id="5" name="cmp-head-bg-1"/>
          <p:cNvSpPr/>
          <p:nvPr/>
        </p:nvSpPr>
        <p:spPr>
          <a:xfrm>
            <a:off x="548640" y="1737360"/>
            <a:ext cx="5364328" cy="868680"/>
          </a:xfrm>
          <a:prstGeom prst="roundRect">
            <a:avLst>
              <a:gd name="adj" fmla="val 8421"/>
            </a:avLst>
          </a:prstGeom>
          <a:solidFill>
            <a:schemeClr val="tx2"/>
          </a:solidFill>
          <a:ln w="12700">
            <a:solidFill>
              <a:schemeClr val="tx2"/>
            </a:solidFill>
            <a:prstDash val="solid"/>
          </a:ln>
        </p:spPr>
      </p:sp>
      <p:sp>
        <p:nvSpPr>
          <p:cNvPr id="6" name="cmp-head-fill-1"/>
          <p:cNvSpPr/>
          <p:nvPr/>
        </p:nvSpPr>
        <p:spPr>
          <a:xfrm>
            <a:off x="548640" y="2286000"/>
            <a:ext cx="5364328" cy="320040"/>
          </a:xfrm>
          <a:prstGeom prst="rect">
            <a:avLst/>
          </a:prstGeom>
          <a:solidFill>
            <a:schemeClr val="tx2"/>
          </a:solidFill>
          <a:ln w="12700">
            <a:solidFill>
              <a:schemeClr val="tx2"/>
            </a:solidFill>
            <a:prstDash val="solid"/>
          </a:ln>
        </p:spPr>
      </p:sp>
      <p:sp>
        <p:nvSpPr>
          <p:cNvPr id="7" name="cmp-name-1"/>
          <p:cNvSpPr txBox="1"/>
          <p:nvPr/>
        </p:nvSpPr>
        <p:spPr>
          <a:xfrm>
            <a:off x="822960" y="1810512"/>
            <a:ext cx="3626968" cy="731520"/>
          </a:xfrm>
          <a:prstGeom prst="rect">
            <a:avLst/>
          </a:prstGeom>
          <a:noFill/>
          <a:ln/>
        </p:spPr>
        <p:txBody>
          <a:bodyPr wrap="square" lIns="0" tIns="0" rIns="0" bIns="0" rtlCol="0" anchor="ctr"/>
          <a:lstStyle/>
          <a:p>
            <a:pPr indent="0" marL="0">
              <a:buNone/>
            </a:pPr>
            <a:r>
              <a:rPr lang="en-US" sz="1700" b="1" dirty="0">
                <a:solidFill>
                  <a:schemeClr val="bg1"/>
                </a:solidFill>
              </a:rPr>
              <a:t>サーバーレス構成(本提案)</a:t>
            </a:r>
            <a:endParaRPr lang="en-US" sz="1700" dirty="0"/>
          </a:p>
          <a:p>
            <a:pPr indent="0" marL="0">
              <a:buNone/>
            </a:pPr>
            <a:r>
              <a:rPr lang="en-US" sz="1200" dirty="0">
                <a:solidFill>
                  <a:schemeClr val="bg1"/>
                </a:solidFill>
              </a:rPr>
              <a:t>AWS Lambda を中心とした構成</a:t>
            </a:r>
            <a:endParaRPr lang="en-US" sz="1700" dirty="0"/>
          </a:p>
        </p:txBody>
      </p:sp>
      <p:sp>
        <p:nvSpPr>
          <p:cNvPr id="8" name="cmp-recommend"/>
          <p:cNvSpPr txBox="1"/>
          <p:nvPr/>
        </p:nvSpPr>
        <p:spPr>
          <a:xfrm>
            <a:off x="4587088" y="1993392"/>
            <a:ext cx="1097280" cy="365760"/>
          </a:xfrm>
          <a:prstGeom prst="roundRect">
            <a:avLst>
              <a:gd name="adj" fmla="val 15000"/>
            </a:avLst>
          </a:prstGeom>
          <a:solidFill>
            <a:schemeClr val="accent3"/>
          </a:solidFill>
          <a:ln>
            <a:solidFill>
              <a:schemeClr val="accent3"/>
            </a:solidFill>
          </a:ln>
        </p:spPr>
        <p:txBody>
          <a:bodyPr wrap="square" lIns="0" tIns="0" rIns="0" bIns="0" rtlCol="0" anchor="ctr"/>
          <a:lstStyle/>
          <a:p>
            <a:pPr algn="ctr" indent="0" marL="0">
              <a:buNone/>
            </a:pPr>
            <a:r>
              <a:rPr lang="en-US" sz="1200" b="1" dirty="0">
                <a:solidFill>
                  <a:schemeClr val="tx2"/>
                </a:solidFill>
              </a:rPr>
              <a:t>推奨</a:t>
            </a:r>
            <a:endParaRPr lang="en-US" sz="1200" dirty="0"/>
          </a:p>
        </p:txBody>
      </p:sp>
      <p:sp>
        <p:nvSpPr>
          <p:cNvPr id="9" name="cmp-k-1-1"/>
          <p:cNvSpPr txBox="1"/>
          <p:nvPr/>
        </p:nvSpPr>
        <p:spPr>
          <a:xfrm>
            <a:off x="822960" y="2834640"/>
            <a:ext cx="1600200" cy="640080"/>
          </a:xfrm>
          <a:prstGeom prst="rect">
            <a:avLst/>
          </a:prstGeom>
          <a:noFill/>
          <a:ln/>
        </p:spPr>
        <p:txBody>
          <a:bodyPr wrap="square" lIns="0" tIns="0" rIns="0" bIns="0" rtlCol="0" anchor="t"/>
          <a:lstStyle/>
          <a:p>
            <a:pPr indent="0" marL="0">
              <a:buNone/>
            </a:pPr>
            <a:r>
              <a:rPr lang="en-US" sz="1300" b="1" dirty="0">
                <a:solidFill>
                  <a:schemeClr val="tx2"/>
                </a:solidFill>
              </a:rPr>
              <a:t>待機中の費用</a:t>
            </a:r>
            <a:endParaRPr lang="en-US" sz="1300" dirty="0"/>
          </a:p>
        </p:txBody>
      </p:sp>
      <p:sp>
        <p:nvSpPr>
          <p:cNvPr id="10" name="cmp-v-1-1"/>
          <p:cNvSpPr txBox="1"/>
          <p:nvPr/>
        </p:nvSpPr>
        <p:spPr>
          <a:xfrm>
            <a:off x="2468880" y="2834640"/>
            <a:ext cx="3215488" cy="640080"/>
          </a:xfrm>
          <a:prstGeom prst="rect">
            <a:avLst/>
          </a:prstGeom>
          <a:noFill/>
          <a:ln/>
        </p:spPr>
        <p:txBody>
          <a:bodyPr wrap="square" lIns="0" tIns="0" rIns="0" bIns="0" rtlCol="0" anchor="t"/>
          <a:lstStyle/>
          <a:p>
            <a:pPr indent="0" marL="0">
              <a:buNone/>
            </a:pPr>
            <a:r>
              <a:rPr lang="en-US" sz="1400" dirty="0">
                <a:solidFill>
                  <a:schemeClr val="tx1"/>
                </a:solidFill>
              </a:rPr>
              <a:t>ほぼ発生なし</a:t>
            </a:r>
            <a:endParaRPr lang="en-US" sz="1400" dirty="0"/>
          </a:p>
        </p:txBody>
      </p:sp>
      <p:sp>
        <p:nvSpPr>
          <p:cNvPr id="11" name="cmp-k-1-2"/>
          <p:cNvSpPr txBox="1"/>
          <p:nvPr/>
        </p:nvSpPr>
        <p:spPr>
          <a:xfrm>
            <a:off x="822960" y="3566160"/>
            <a:ext cx="1600200" cy="640080"/>
          </a:xfrm>
          <a:prstGeom prst="rect">
            <a:avLst/>
          </a:prstGeom>
          <a:noFill/>
          <a:ln/>
        </p:spPr>
        <p:txBody>
          <a:bodyPr wrap="square" lIns="0" tIns="0" rIns="0" bIns="0" rtlCol="0" anchor="t"/>
          <a:lstStyle/>
          <a:p>
            <a:pPr indent="0" marL="0">
              <a:buNone/>
            </a:pPr>
            <a:r>
              <a:rPr lang="en-US" sz="1300" b="1" dirty="0">
                <a:solidFill>
                  <a:schemeClr val="tx2"/>
                </a:solidFill>
              </a:rPr>
              <a:t>処理時間</a:t>
            </a:r>
            <a:endParaRPr lang="en-US" sz="1300" dirty="0"/>
          </a:p>
        </p:txBody>
      </p:sp>
      <p:sp>
        <p:nvSpPr>
          <p:cNvPr id="12" name="cmp-v-1-2"/>
          <p:cNvSpPr txBox="1"/>
          <p:nvPr/>
        </p:nvSpPr>
        <p:spPr>
          <a:xfrm>
            <a:off x="2468880" y="3566160"/>
            <a:ext cx="3215488" cy="640080"/>
          </a:xfrm>
          <a:prstGeom prst="rect">
            <a:avLst/>
          </a:prstGeom>
          <a:noFill/>
          <a:ln/>
        </p:spPr>
        <p:txBody>
          <a:bodyPr wrap="square" lIns="0" tIns="0" rIns="0" bIns="0" rtlCol="0" anchor="t"/>
          <a:lstStyle/>
          <a:p>
            <a:pPr indent="0" marL="0">
              <a:buNone/>
            </a:pPr>
            <a:r>
              <a:rPr lang="en-US" sz="1400" dirty="0">
                <a:solidFill>
                  <a:schemeClr val="tx1"/>
                </a:solidFill>
              </a:rPr>
              <a:t>1 回あたり最大 15 分</a:t>
            </a:r>
            <a:endParaRPr lang="en-US" sz="1400" dirty="0"/>
          </a:p>
        </p:txBody>
      </p:sp>
      <p:sp>
        <p:nvSpPr>
          <p:cNvPr id="13" name="cmp-k-1-3"/>
          <p:cNvSpPr txBox="1"/>
          <p:nvPr/>
        </p:nvSpPr>
        <p:spPr>
          <a:xfrm>
            <a:off x="822960" y="4297680"/>
            <a:ext cx="1600200" cy="640080"/>
          </a:xfrm>
          <a:prstGeom prst="rect">
            <a:avLst/>
          </a:prstGeom>
          <a:noFill/>
          <a:ln/>
        </p:spPr>
        <p:txBody>
          <a:bodyPr wrap="square" lIns="0" tIns="0" rIns="0" bIns="0" rtlCol="0" anchor="t"/>
          <a:lstStyle/>
          <a:p>
            <a:pPr indent="0" marL="0">
              <a:buNone/>
            </a:pPr>
            <a:r>
              <a:rPr lang="en-US" sz="1300" b="1" dirty="0">
                <a:solidFill>
                  <a:schemeClr val="tx2"/>
                </a:solidFill>
              </a:rPr>
              <a:t>運用の手間</a:t>
            </a:r>
            <a:endParaRPr lang="en-US" sz="1300" dirty="0"/>
          </a:p>
        </p:txBody>
      </p:sp>
      <p:sp>
        <p:nvSpPr>
          <p:cNvPr id="14" name="cmp-v-1-3"/>
          <p:cNvSpPr txBox="1"/>
          <p:nvPr/>
        </p:nvSpPr>
        <p:spPr>
          <a:xfrm>
            <a:off x="2468880" y="4297680"/>
            <a:ext cx="3215488" cy="640080"/>
          </a:xfrm>
          <a:prstGeom prst="rect">
            <a:avLst/>
          </a:prstGeom>
          <a:noFill/>
          <a:ln/>
        </p:spPr>
        <p:txBody>
          <a:bodyPr wrap="square" lIns="0" tIns="0" rIns="0" bIns="0" rtlCol="0" anchor="t"/>
          <a:lstStyle/>
          <a:p>
            <a:pPr indent="0" marL="0">
              <a:buNone/>
            </a:pPr>
            <a:r>
              <a:rPr lang="en-US" sz="1400" dirty="0">
                <a:solidFill>
                  <a:schemeClr val="tx1"/>
                </a:solidFill>
              </a:rPr>
              <a:t>サーバーの管理が不要</a:t>
            </a:r>
            <a:endParaRPr lang="en-US" sz="1400" dirty="0"/>
          </a:p>
        </p:txBody>
      </p:sp>
      <p:sp>
        <p:nvSpPr>
          <p:cNvPr id="15" name="cmp-k-1-4"/>
          <p:cNvSpPr txBox="1"/>
          <p:nvPr/>
        </p:nvSpPr>
        <p:spPr>
          <a:xfrm>
            <a:off x="822960" y="5029200"/>
            <a:ext cx="1600200" cy="640080"/>
          </a:xfrm>
          <a:prstGeom prst="rect">
            <a:avLst/>
          </a:prstGeom>
          <a:noFill/>
          <a:ln/>
        </p:spPr>
        <p:txBody>
          <a:bodyPr wrap="square" lIns="0" tIns="0" rIns="0" bIns="0" rtlCol="0" anchor="t"/>
          <a:lstStyle/>
          <a:p>
            <a:pPr indent="0" marL="0">
              <a:buNone/>
            </a:pPr>
            <a:r>
              <a:rPr lang="en-US" sz="1300" b="1" dirty="0">
                <a:solidFill>
                  <a:schemeClr val="tx2"/>
                </a:solidFill>
              </a:rPr>
              <a:t>向いている場面</a:t>
            </a:r>
            <a:endParaRPr lang="en-US" sz="1300" dirty="0"/>
          </a:p>
        </p:txBody>
      </p:sp>
      <p:sp>
        <p:nvSpPr>
          <p:cNvPr id="16" name="cmp-v-1-4"/>
          <p:cNvSpPr txBox="1"/>
          <p:nvPr/>
        </p:nvSpPr>
        <p:spPr>
          <a:xfrm>
            <a:off x="2468880" y="5029200"/>
            <a:ext cx="3215488" cy="640080"/>
          </a:xfrm>
          <a:prstGeom prst="rect">
            <a:avLst/>
          </a:prstGeom>
          <a:noFill/>
          <a:ln/>
        </p:spPr>
        <p:txBody>
          <a:bodyPr wrap="square" lIns="0" tIns="0" rIns="0" bIns="0" rtlCol="0" anchor="t"/>
          <a:lstStyle/>
          <a:p>
            <a:pPr indent="0" marL="0">
              <a:buNone/>
            </a:pPr>
            <a:r>
              <a:rPr lang="en-US" sz="1400" dirty="0">
                <a:solidFill>
                  <a:schemeClr val="tx1"/>
                </a:solidFill>
              </a:rPr>
              <a:t>15 分以内の解析、</a:t>
            </a:r>
            <a:endParaRPr lang="en-US" sz="1400" dirty="0"/>
          </a:p>
          <a:p>
            <a:pPr indent="0" marL="0">
              <a:buNone/>
            </a:pPr>
            <a:r>
              <a:rPr lang="en-US" sz="1400" dirty="0">
                <a:solidFill>
                  <a:schemeClr val="tx1"/>
                </a:solidFill>
              </a:rPr>
              <a:t>利用頻度の低い検証</a:t>
            </a:r>
            <a:endParaRPr lang="en-US" sz="1400" dirty="0"/>
          </a:p>
        </p:txBody>
      </p:sp>
      <p:sp>
        <p:nvSpPr>
          <p:cNvPr id="17" name="cmp-card-2"/>
          <p:cNvSpPr/>
          <p:nvPr/>
        </p:nvSpPr>
        <p:spPr>
          <a:xfrm>
            <a:off x="6278728" y="1737360"/>
            <a:ext cx="5364328" cy="4114800"/>
          </a:xfrm>
          <a:prstGeom prst="roundRect">
            <a:avLst>
              <a:gd name="adj" fmla="val 1778"/>
            </a:avLst>
          </a:prstGeom>
          <a:solidFill>
            <a:schemeClr val="bg1"/>
          </a:solidFill>
          <a:ln w="9525">
            <a:solidFill>
              <a:schemeClr val="accent4"/>
            </a:solidFill>
            <a:prstDash val="solid"/>
          </a:ln>
        </p:spPr>
      </p:sp>
      <p:sp>
        <p:nvSpPr>
          <p:cNvPr id="18" name="cmp-head-bg-2"/>
          <p:cNvSpPr/>
          <p:nvPr/>
        </p:nvSpPr>
        <p:spPr>
          <a:xfrm>
            <a:off x="6278728" y="1737360"/>
            <a:ext cx="5364328" cy="868680"/>
          </a:xfrm>
          <a:prstGeom prst="roundRect">
            <a:avLst>
              <a:gd name="adj" fmla="val 8421"/>
            </a:avLst>
          </a:prstGeom>
          <a:solidFill>
            <a:schemeClr val="accent4"/>
          </a:solidFill>
          <a:ln w="12700">
            <a:solidFill>
              <a:schemeClr val="accent4"/>
            </a:solidFill>
            <a:prstDash val="solid"/>
          </a:ln>
        </p:spPr>
      </p:sp>
      <p:sp>
        <p:nvSpPr>
          <p:cNvPr id="19" name="cmp-head-fill-2"/>
          <p:cNvSpPr/>
          <p:nvPr/>
        </p:nvSpPr>
        <p:spPr>
          <a:xfrm>
            <a:off x="6278728" y="2286000"/>
            <a:ext cx="5364328" cy="320040"/>
          </a:xfrm>
          <a:prstGeom prst="rect">
            <a:avLst/>
          </a:prstGeom>
          <a:solidFill>
            <a:schemeClr val="accent4"/>
          </a:solidFill>
          <a:ln w="12700">
            <a:solidFill>
              <a:schemeClr val="accent4"/>
            </a:solidFill>
            <a:prstDash val="solid"/>
          </a:ln>
        </p:spPr>
      </p:sp>
      <p:sp>
        <p:nvSpPr>
          <p:cNvPr id="20" name="cmp-name-2"/>
          <p:cNvSpPr txBox="1"/>
          <p:nvPr/>
        </p:nvSpPr>
        <p:spPr>
          <a:xfrm>
            <a:off x="6553048" y="1810512"/>
            <a:ext cx="3626968" cy="731520"/>
          </a:xfrm>
          <a:prstGeom prst="rect">
            <a:avLst/>
          </a:prstGeom>
          <a:noFill/>
          <a:ln/>
        </p:spPr>
        <p:txBody>
          <a:bodyPr wrap="square" lIns="0" tIns="0" rIns="0" bIns="0" rtlCol="0" anchor="ctr"/>
          <a:lstStyle/>
          <a:p>
            <a:pPr indent="0" marL="0">
              <a:buNone/>
            </a:pPr>
            <a:r>
              <a:rPr lang="en-US" sz="1700" b="1" dirty="0">
                <a:solidFill>
                  <a:schemeClr val="bg1"/>
                </a:solidFill>
              </a:rPr>
              <a:t>コンテナ構成</a:t>
            </a:r>
            <a:endParaRPr lang="en-US" sz="1700" dirty="0"/>
          </a:p>
          <a:p>
            <a:pPr indent="0" marL="0">
              <a:buNone/>
            </a:pPr>
            <a:r>
              <a:rPr lang="en-US" sz="1200" dirty="0">
                <a:solidFill>
                  <a:schemeClr val="bg1"/>
                </a:solidFill>
              </a:rPr>
              <a:t>Amazon ECS Express Mode</a:t>
            </a:r>
            <a:endParaRPr lang="en-US" sz="1700" dirty="0"/>
          </a:p>
        </p:txBody>
      </p:sp>
      <p:sp>
        <p:nvSpPr>
          <p:cNvPr id="21" name="cmp-k-2-1"/>
          <p:cNvSpPr txBox="1"/>
          <p:nvPr/>
        </p:nvSpPr>
        <p:spPr>
          <a:xfrm>
            <a:off x="6553048" y="2834640"/>
            <a:ext cx="1600200" cy="640080"/>
          </a:xfrm>
          <a:prstGeom prst="rect">
            <a:avLst/>
          </a:prstGeom>
          <a:noFill/>
          <a:ln/>
        </p:spPr>
        <p:txBody>
          <a:bodyPr wrap="square" lIns="0" tIns="0" rIns="0" bIns="0" rtlCol="0" anchor="t"/>
          <a:lstStyle/>
          <a:p>
            <a:pPr indent="0" marL="0">
              <a:buNone/>
            </a:pPr>
            <a:r>
              <a:rPr lang="en-US" sz="1300" b="1" dirty="0">
                <a:solidFill>
                  <a:schemeClr val="tx2"/>
                </a:solidFill>
              </a:rPr>
              <a:t>待機中の費用</a:t>
            </a:r>
            <a:endParaRPr lang="en-US" sz="1300" dirty="0"/>
          </a:p>
        </p:txBody>
      </p:sp>
      <p:sp>
        <p:nvSpPr>
          <p:cNvPr id="22" name="cmp-v-2-1"/>
          <p:cNvSpPr txBox="1"/>
          <p:nvPr/>
        </p:nvSpPr>
        <p:spPr>
          <a:xfrm>
            <a:off x="8198968" y="2834640"/>
            <a:ext cx="3215488" cy="640080"/>
          </a:xfrm>
          <a:prstGeom prst="rect">
            <a:avLst/>
          </a:prstGeom>
          <a:noFill/>
          <a:ln/>
        </p:spPr>
        <p:txBody>
          <a:bodyPr wrap="square" lIns="0" tIns="0" rIns="0" bIns="0" rtlCol="0" anchor="t"/>
          <a:lstStyle/>
          <a:p>
            <a:pPr indent="0" marL="0">
              <a:buNone/>
            </a:pPr>
            <a:r>
              <a:rPr lang="en-US" sz="1400" dirty="0">
                <a:solidFill>
                  <a:schemeClr val="tx1"/>
                </a:solidFill>
              </a:rPr>
              <a:t>常時起動のため継続的に発生</a:t>
            </a:r>
            <a:endParaRPr lang="en-US" sz="1400" dirty="0"/>
          </a:p>
        </p:txBody>
      </p:sp>
      <p:sp>
        <p:nvSpPr>
          <p:cNvPr id="23" name="cmp-k-2-2"/>
          <p:cNvSpPr txBox="1"/>
          <p:nvPr/>
        </p:nvSpPr>
        <p:spPr>
          <a:xfrm>
            <a:off x="6553048" y="3566160"/>
            <a:ext cx="1600200" cy="640080"/>
          </a:xfrm>
          <a:prstGeom prst="rect">
            <a:avLst/>
          </a:prstGeom>
          <a:noFill/>
          <a:ln/>
        </p:spPr>
        <p:txBody>
          <a:bodyPr wrap="square" lIns="0" tIns="0" rIns="0" bIns="0" rtlCol="0" anchor="t"/>
          <a:lstStyle/>
          <a:p>
            <a:pPr indent="0" marL="0">
              <a:buNone/>
            </a:pPr>
            <a:r>
              <a:rPr lang="en-US" sz="1300" b="1" dirty="0">
                <a:solidFill>
                  <a:schemeClr val="tx2"/>
                </a:solidFill>
              </a:rPr>
              <a:t>処理時間</a:t>
            </a:r>
            <a:endParaRPr lang="en-US" sz="1300" dirty="0"/>
          </a:p>
        </p:txBody>
      </p:sp>
      <p:sp>
        <p:nvSpPr>
          <p:cNvPr id="24" name="cmp-v-2-2"/>
          <p:cNvSpPr txBox="1"/>
          <p:nvPr/>
        </p:nvSpPr>
        <p:spPr>
          <a:xfrm>
            <a:off x="8198968" y="3566160"/>
            <a:ext cx="3215488" cy="640080"/>
          </a:xfrm>
          <a:prstGeom prst="rect">
            <a:avLst/>
          </a:prstGeom>
          <a:noFill/>
          <a:ln/>
        </p:spPr>
        <p:txBody>
          <a:bodyPr wrap="square" lIns="0" tIns="0" rIns="0" bIns="0" rtlCol="0" anchor="t"/>
          <a:lstStyle/>
          <a:p>
            <a:pPr indent="0" marL="0">
              <a:buNone/>
            </a:pPr>
            <a:r>
              <a:rPr lang="en-US" sz="1400" dirty="0">
                <a:solidFill>
                  <a:schemeClr val="tx1"/>
                </a:solidFill>
              </a:rPr>
              <a:t>上限なし(長時間の処理も可能)</a:t>
            </a:r>
            <a:endParaRPr lang="en-US" sz="1400" dirty="0"/>
          </a:p>
        </p:txBody>
      </p:sp>
      <p:sp>
        <p:nvSpPr>
          <p:cNvPr id="25" name="cmp-k-2-3"/>
          <p:cNvSpPr txBox="1"/>
          <p:nvPr/>
        </p:nvSpPr>
        <p:spPr>
          <a:xfrm>
            <a:off x="6553048" y="4297680"/>
            <a:ext cx="1600200" cy="640080"/>
          </a:xfrm>
          <a:prstGeom prst="rect">
            <a:avLst/>
          </a:prstGeom>
          <a:noFill/>
          <a:ln/>
        </p:spPr>
        <p:txBody>
          <a:bodyPr wrap="square" lIns="0" tIns="0" rIns="0" bIns="0" rtlCol="0" anchor="t"/>
          <a:lstStyle/>
          <a:p>
            <a:pPr indent="0" marL="0">
              <a:buNone/>
            </a:pPr>
            <a:r>
              <a:rPr lang="en-US" sz="1300" b="1" dirty="0">
                <a:solidFill>
                  <a:schemeClr val="tx2"/>
                </a:solidFill>
              </a:rPr>
              <a:t>運用の手間</a:t>
            </a:r>
            <a:endParaRPr lang="en-US" sz="1300" dirty="0"/>
          </a:p>
        </p:txBody>
      </p:sp>
      <p:sp>
        <p:nvSpPr>
          <p:cNvPr id="26" name="cmp-v-2-3"/>
          <p:cNvSpPr txBox="1"/>
          <p:nvPr/>
        </p:nvSpPr>
        <p:spPr>
          <a:xfrm>
            <a:off x="8198968" y="4297680"/>
            <a:ext cx="3215488" cy="640080"/>
          </a:xfrm>
          <a:prstGeom prst="rect">
            <a:avLst/>
          </a:prstGeom>
          <a:noFill/>
          <a:ln/>
        </p:spPr>
        <p:txBody>
          <a:bodyPr wrap="square" lIns="0" tIns="0" rIns="0" bIns="0" rtlCol="0" anchor="t"/>
          <a:lstStyle/>
          <a:p>
            <a:pPr indent="0" marL="0">
              <a:buNone/>
            </a:pPr>
            <a:r>
              <a:rPr lang="en-US" sz="1400" dirty="0">
                <a:solidFill>
                  <a:schemeClr val="tx1"/>
                </a:solidFill>
              </a:rPr>
              <a:t>コンテナイメージの管理が必要</a:t>
            </a:r>
            <a:endParaRPr lang="en-US" sz="1400" dirty="0"/>
          </a:p>
        </p:txBody>
      </p:sp>
      <p:sp>
        <p:nvSpPr>
          <p:cNvPr id="27" name="cmp-k-2-4"/>
          <p:cNvSpPr txBox="1"/>
          <p:nvPr/>
        </p:nvSpPr>
        <p:spPr>
          <a:xfrm>
            <a:off x="6553048" y="5029200"/>
            <a:ext cx="1600200" cy="640080"/>
          </a:xfrm>
          <a:prstGeom prst="rect">
            <a:avLst/>
          </a:prstGeom>
          <a:noFill/>
          <a:ln/>
        </p:spPr>
        <p:txBody>
          <a:bodyPr wrap="square" lIns="0" tIns="0" rIns="0" bIns="0" rtlCol="0" anchor="t"/>
          <a:lstStyle/>
          <a:p>
            <a:pPr indent="0" marL="0">
              <a:buNone/>
            </a:pPr>
            <a:r>
              <a:rPr lang="en-US" sz="1300" b="1" dirty="0">
                <a:solidFill>
                  <a:schemeClr val="tx2"/>
                </a:solidFill>
              </a:rPr>
              <a:t>向いている場面</a:t>
            </a:r>
            <a:endParaRPr lang="en-US" sz="1300" dirty="0"/>
          </a:p>
        </p:txBody>
      </p:sp>
      <p:sp>
        <p:nvSpPr>
          <p:cNvPr id="28" name="cmp-v-2-4"/>
          <p:cNvSpPr txBox="1"/>
          <p:nvPr/>
        </p:nvSpPr>
        <p:spPr>
          <a:xfrm>
            <a:off x="8198968" y="5029200"/>
            <a:ext cx="3215488" cy="640080"/>
          </a:xfrm>
          <a:prstGeom prst="rect">
            <a:avLst/>
          </a:prstGeom>
          <a:noFill/>
          <a:ln/>
        </p:spPr>
        <p:txBody>
          <a:bodyPr wrap="square" lIns="0" tIns="0" rIns="0" bIns="0" rtlCol="0" anchor="t"/>
          <a:lstStyle/>
          <a:p>
            <a:pPr indent="0" marL="0">
              <a:buNone/>
            </a:pPr>
            <a:r>
              <a:rPr lang="en-US" sz="1400" dirty="0">
                <a:solidFill>
                  <a:schemeClr val="tx1"/>
                </a:solidFill>
              </a:rPr>
              <a:t>長時間の解析、大きなライブラリ、</a:t>
            </a:r>
            <a:endParaRPr lang="en-US" sz="1400" dirty="0"/>
          </a:p>
          <a:p>
            <a:pPr indent="0" marL="0">
              <a:buNone/>
            </a:pPr>
            <a:r>
              <a:rPr lang="en-US" sz="1400" dirty="0">
                <a:solidFill>
                  <a:schemeClr val="tx1"/>
                </a:solidFill>
              </a:rPr>
              <a:t>既存の Docker 環境の流用</a:t>
            </a:r>
            <a:endParaRPr lang="en-US" sz="1400" dirty="0"/>
          </a:p>
        </p:txBody>
      </p:sp>
      <p:sp>
        <p:nvSpPr>
          <p:cNvPr id="29" name="cmp-foot"/>
          <p:cNvSpPr txBox="1"/>
          <p:nvPr/>
        </p:nvSpPr>
        <p:spPr>
          <a:xfrm>
            <a:off x="548640" y="5989320"/>
            <a:ext cx="11094415" cy="274320"/>
          </a:xfrm>
          <a:prstGeom prst="rect">
            <a:avLst/>
          </a:prstGeom>
          <a:noFill/>
          <a:ln/>
        </p:spPr>
        <p:txBody>
          <a:bodyPr wrap="square" lIns="0" tIns="0" rIns="0" bIns="0" rtlCol="0" anchor="ctr"/>
          <a:lstStyle/>
          <a:p>
            <a:pPr indent="0" marL="0">
              <a:buNone/>
            </a:pPr>
            <a:r>
              <a:rPr lang="en-US" sz="1000" dirty="0">
                <a:solidFill>
                  <a:schemeClr val="accent4"/>
                </a:solidFill>
              </a:rPr>
              <a:t>※ AWS App Runner は 2026年4月30日に新規の受付を終了したため、比較の対象外としています。</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40080"/>
          </a:xfrm>
          <a:prstGeom prst="rect">
            <a:avLst/>
          </a:prstGeom>
          <a:noFill/>
          <a:ln/>
        </p:spPr>
        <p:txBody>
          <a:bodyPr wrap="square" lIns="0" tIns="0" rIns="0" bIns="0" rtlCol="0" anchor="ctr"/>
          <a:lstStyle/>
          <a:p>
            <a:pPr algn="l" indent="0" marL="0">
              <a:buNone/>
            </a:pPr>
            <a:r>
              <a:rPr lang="en-US" sz="2800" b="1" dirty="0">
                <a:solidFill>
                  <a:schemeClr val="tx2"/>
                </a:solidFill>
              </a:rPr>
              <a:t>構築の進め方</a:t>
            </a:r>
            <a:endParaRPr lang="en-US" sz="28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ctr"/>
          <a:lstStyle/>
          <a:p>
            <a:pPr algn="l" indent="0" marL="0">
              <a:buNone/>
            </a:pPr>
            <a:r>
              <a:rPr lang="en-US" sz="1500" dirty="0">
                <a:solidFill>
                  <a:schemeClr val="tx1"/>
                </a:solidFill>
              </a:rPr>
              <a:t>構成をコードで管理し、短いサイクルで検証を進めます</a:t>
            </a:r>
            <a:endParaRPr lang="en-US" sz="1500" dirty="0"/>
          </a:p>
        </p:txBody>
      </p:sp>
      <p:sp>
        <p:nvSpPr>
          <p:cNvPr id="4" name="step-card-1"/>
          <p:cNvSpPr/>
          <p:nvPr/>
        </p:nvSpPr>
        <p:spPr>
          <a:xfrm>
            <a:off x="548640" y="1737360"/>
            <a:ext cx="2430704" cy="2926080"/>
          </a:xfrm>
          <a:prstGeom prst="roundRect">
            <a:avLst>
              <a:gd name="adj" fmla="val 3009"/>
            </a:avLst>
          </a:prstGeom>
          <a:solidFill>
            <a:schemeClr val="bg2"/>
          </a:solidFill>
          <a:ln w="9525">
            <a:solidFill>
              <a:schemeClr val="bg2"/>
            </a:solidFill>
            <a:prstDash val="solid"/>
          </a:ln>
        </p:spPr>
      </p:sp>
      <p:sp>
        <p:nvSpPr>
          <p:cNvPr id="5" name="badge-1"/>
          <p:cNvSpPr txBox="1"/>
          <p:nvPr/>
        </p:nvSpPr>
        <p:spPr>
          <a:xfrm>
            <a:off x="822960" y="2011680"/>
            <a:ext cx="457200" cy="457200"/>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step-1-circle"/>
          <p:cNvSpPr/>
          <p:nvPr/>
        </p:nvSpPr>
        <p:spPr>
          <a:xfrm>
            <a:off x="2156384" y="1943100"/>
            <a:ext cx="594360" cy="594360"/>
          </a:xfrm>
          <a:prstGeom prst="ellipse">
            <a:avLst/>
          </a:prstGeom>
          <a:solidFill>
            <a:schemeClr val="accent2"/>
          </a:solidFill>
          <a:ln w="12700">
            <a:solidFill>
              <a:schemeClr val="accent2"/>
            </a:solidFill>
            <a:prstDash val="solid"/>
          </a:ln>
        </p:spPr>
      </p:sp>
      <p:pic>
        <p:nvPicPr>
          <p:cNvPr id="7" name="step-1-icon" descr="preencoded.png">    </p:cNvPr>
          <p:cNvPicPr>
            <a:picLocks noChangeAspect="1"/>
          </p:cNvPicPr>
          <p:nvPr/>
        </p:nvPicPr>
        <p:blipFill>
          <a:blip r:embed="rId1"/>
          <a:stretch>
            <a:fillRect/>
          </a:stretch>
        </p:blipFill>
        <p:spPr>
          <a:xfrm>
            <a:off x="2287143" y="2073859"/>
            <a:ext cx="332842" cy="332842"/>
          </a:xfrm>
          <a:prstGeom prst="rect">
            <a:avLst/>
          </a:prstGeom>
        </p:spPr>
      </p:pic>
      <p:sp>
        <p:nvSpPr>
          <p:cNvPr id="8" name="step-head-1"/>
          <p:cNvSpPr txBox="1"/>
          <p:nvPr/>
        </p:nvSpPr>
        <p:spPr>
          <a:xfrm>
            <a:off x="822960" y="2743200"/>
            <a:ext cx="1927784" cy="457200"/>
          </a:xfrm>
          <a:prstGeom prst="rect">
            <a:avLst/>
          </a:prstGeom>
          <a:noFill/>
          <a:ln/>
        </p:spPr>
        <p:txBody>
          <a:bodyPr wrap="square" lIns="0" tIns="0" rIns="0" bIns="0" rtlCol="0" anchor="ctr"/>
          <a:lstStyle/>
          <a:p>
            <a:pPr indent="0" marL="0">
              <a:buNone/>
            </a:pPr>
            <a:r>
              <a:rPr lang="en-US" sz="1800" b="1" dirty="0">
                <a:solidFill>
                  <a:schemeClr val="tx2"/>
                </a:solidFill>
              </a:rPr>
              <a:t>要件の確認</a:t>
            </a:r>
            <a:endParaRPr lang="en-US" sz="1800" dirty="0"/>
          </a:p>
        </p:txBody>
      </p:sp>
      <p:sp>
        <p:nvSpPr>
          <p:cNvPr id="9" name="step-body-1"/>
          <p:cNvSpPr txBox="1"/>
          <p:nvPr/>
        </p:nvSpPr>
        <p:spPr>
          <a:xfrm>
            <a:off x="822960" y="3273552"/>
            <a:ext cx="2019224" cy="1280160"/>
          </a:xfrm>
          <a:prstGeom prst="rect">
            <a:avLst/>
          </a:prstGeom>
          <a:noFill/>
          <a:ln/>
        </p:spPr>
        <p:txBody>
          <a:bodyPr wrap="square" lIns="0" tIns="0" rIns="0" bIns="0" rtlCol="0" anchor="t"/>
          <a:lstStyle/>
          <a:p>
            <a:pPr indent="0" marL="0">
              <a:buNone/>
            </a:pPr>
            <a:r>
              <a:rPr lang="en-US" sz="1400" dirty="0">
                <a:solidFill>
                  <a:schemeClr val="tx1"/>
                </a:solidFill>
              </a:rPr>
              <a:t>データ量・利用者・</a:t>
            </a:r>
            <a:endParaRPr lang="en-US" sz="1400" dirty="0"/>
          </a:p>
          <a:p>
            <a:pPr indent="0" marL="0">
              <a:buNone/>
            </a:pPr>
            <a:r>
              <a:rPr lang="en-US" sz="1400" dirty="0">
                <a:solidFill>
                  <a:schemeClr val="tx1"/>
                </a:solidFill>
              </a:rPr>
              <a:t>画面の形態を確認し、</a:t>
            </a:r>
            <a:endParaRPr lang="en-US" sz="1400" dirty="0"/>
          </a:p>
          <a:p>
            <a:pPr indent="0" marL="0">
              <a:buNone/>
            </a:pPr>
            <a:r>
              <a:rPr lang="en-US" sz="1400" dirty="0">
                <a:solidFill>
                  <a:schemeClr val="tx1"/>
                </a:solidFill>
              </a:rPr>
              <a:t>スケジュールを</a:t>
            </a:r>
            <a:endParaRPr lang="en-US" sz="1400" dirty="0"/>
          </a:p>
          <a:p>
            <a:pPr indent="0" marL="0">
              <a:buNone/>
            </a:pPr>
            <a:r>
              <a:rPr lang="en-US" sz="1400" dirty="0">
                <a:solidFill>
                  <a:schemeClr val="tx1"/>
                </a:solidFill>
              </a:rPr>
              <a:t>ご提示します。</a:t>
            </a:r>
            <a:endParaRPr lang="en-US" sz="1400" dirty="0"/>
          </a:p>
        </p:txBody>
      </p:sp>
      <p:sp>
        <p:nvSpPr>
          <p:cNvPr id="10" name="step-arrow-1"/>
          <p:cNvSpPr/>
          <p:nvPr/>
        </p:nvSpPr>
        <p:spPr>
          <a:xfrm>
            <a:off x="3052496" y="3200400"/>
            <a:ext cx="310896" cy="914"/>
          </a:xfrm>
          <a:prstGeom prst="line">
            <a:avLst/>
          </a:prstGeom>
          <a:noFill/>
          <a:ln w="31750">
            <a:solidFill>
              <a:schemeClr val="accent3"/>
            </a:solidFill>
            <a:prstDash val="solid"/>
            <a:headEnd type="none"/>
            <a:tailEnd type="triangle"/>
          </a:ln>
        </p:spPr>
      </p:sp>
      <p:sp>
        <p:nvSpPr>
          <p:cNvPr id="11" name="step-card-2"/>
          <p:cNvSpPr/>
          <p:nvPr/>
        </p:nvSpPr>
        <p:spPr>
          <a:xfrm>
            <a:off x="3436544" y="1737360"/>
            <a:ext cx="2430704" cy="2926080"/>
          </a:xfrm>
          <a:prstGeom prst="roundRect">
            <a:avLst>
              <a:gd name="adj" fmla="val 3009"/>
            </a:avLst>
          </a:prstGeom>
          <a:solidFill>
            <a:schemeClr val="bg2"/>
          </a:solidFill>
          <a:ln w="9525">
            <a:solidFill>
              <a:schemeClr val="bg2"/>
            </a:solidFill>
            <a:prstDash val="solid"/>
          </a:ln>
        </p:spPr>
      </p:sp>
      <p:sp>
        <p:nvSpPr>
          <p:cNvPr id="12" name="badge-2"/>
          <p:cNvSpPr txBox="1"/>
          <p:nvPr/>
        </p:nvSpPr>
        <p:spPr>
          <a:xfrm>
            <a:off x="3710864" y="2011680"/>
            <a:ext cx="457200" cy="457200"/>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3" name="step-2-circle"/>
          <p:cNvSpPr/>
          <p:nvPr/>
        </p:nvSpPr>
        <p:spPr>
          <a:xfrm>
            <a:off x="5044288" y="1943100"/>
            <a:ext cx="594360" cy="594360"/>
          </a:xfrm>
          <a:prstGeom prst="ellipse">
            <a:avLst/>
          </a:prstGeom>
          <a:solidFill>
            <a:schemeClr val="accent2"/>
          </a:solidFill>
          <a:ln w="12700">
            <a:solidFill>
              <a:schemeClr val="accent2"/>
            </a:solidFill>
            <a:prstDash val="solid"/>
          </a:ln>
        </p:spPr>
      </p:sp>
      <p:pic>
        <p:nvPicPr>
          <p:cNvPr id="14" name="step-2-icon" descr="preencoded.png">    </p:cNvPr>
          <p:cNvPicPr>
            <a:picLocks noChangeAspect="1"/>
          </p:cNvPicPr>
          <p:nvPr/>
        </p:nvPicPr>
        <p:blipFill>
          <a:blip r:embed="rId2"/>
          <a:stretch>
            <a:fillRect/>
          </a:stretch>
        </p:blipFill>
        <p:spPr>
          <a:xfrm>
            <a:off x="5175047" y="2073859"/>
            <a:ext cx="332842" cy="332842"/>
          </a:xfrm>
          <a:prstGeom prst="rect">
            <a:avLst/>
          </a:prstGeom>
        </p:spPr>
      </p:pic>
      <p:sp>
        <p:nvSpPr>
          <p:cNvPr id="15" name="step-head-2"/>
          <p:cNvSpPr txBox="1"/>
          <p:nvPr/>
        </p:nvSpPr>
        <p:spPr>
          <a:xfrm>
            <a:off x="3710864" y="2743200"/>
            <a:ext cx="1927784" cy="457200"/>
          </a:xfrm>
          <a:prstGeom prst="rect">
            <a:avLst/>
          </a:prstGeom>
          <a:noFill/>
          <a:ln/>
        </p:spPr>
        <p:txBody>
          <a:bodyPr wrap="square" lIns="0" tIns="0" rIns="0" bIns="0" rtlCol="0" anchor="ctr"/>
          <a:lstStyle/>
          <a:p>
            <a:pPr indent="0" marL="0">
              <a:buNone/>
            </a:pPr>
            <a:r>
              <a:rPr lang="en-US" sz="1800" b="1" dirty="0">
                <a:solidFill>
                  <a:schemeClr val="tx2"/>
                </a:solidFill>
              </a:rPr>
              <a:t>構築</a:t>
            </a:r>
            <a:endParaRPr lang="en-US" sz="1800" dirty="0"/>
          </a:p>
        </p:txBody>
      </p:sp>
      <p:sp>
        <p:nvSpPr>
          <p:cNvPr id="16" name="step-body-2"/>
          <p:cNvSpPr txBox="1"/>
          <p:nvPr/>
        </p:nvSpPr>
        <p:spPr>
          <a:xfrm>
            <a:off x="3710864" y="3273552"/>
            <a:ext cx="2019224" cy="1280160"/>
          </a:xfrm>
          <a:prstGeom prst="rect">
            <a:avLst/>
          </a:prstGeom>
          <a:noFill/>
          <a:ln/>
        </p:spPr>
        <p:txBody>
          <a:bodyPr wrap="square" lIns="0" tIns="0" rIns="0" bIns="0" rtlCol="0" anchor="t"/>
          <a:lstStyle/>
          <a:p>
            <a:pPr indent="0" marL="0">
              <a:buNone/>
            </a:pPr>
            <a:r>
              <a:rPr lang="en-US" sz="1400" dirty="0">
                <a:solidFill>
                  <a:schemeClr val="tx1"/>
                </a:solidFill>
              </a:rPr>
              <a:t>AWS CDK で</a:t>
            </a:r>
            <a:endParaRPr lang="en-US" sz="1400" dirty="0"/>
          </a:p>
          <a:p>
            <a:pPr indent="0" marL="0">
              <a:buNone/>
            </a:pPr>
            <a:r>
              <a:rPr lang="en-US" sz="1400" dirty="0">
                <a:solidFill>
                  <a:schemeClr val="tx1"/>
                </a:solidFill>
              </a:rPr>
              <a:t>環境一式を構築します。</a:t>
            </a:r>
            <a:endParaRPr lang="en-US" sz="1400" dirty="0"/>
          </a:p>
        </p:txBody>
      </p:sp>
      <p:sp>
        <p:nvSpPr>
          <p:cNvPr id="17" name="step-arrow-2"/>
          <p:cNvSpPr/>
          <p:nvPr/>
        </p:nvSpPr>
        <p:spPr>
          <a:xfrm>
            <a:off x="5940400" y="3200400"/>
            <a:ext cx="310896" cy="914"/>
          </a:xfrm>
          <a:prstGeom prst="line">
            <a:avLst/>
          </a:prstGeom>
          <a:noFill/>
          <a:ln w="31750">
            <a:solidFill>
              <a:schemeClr val="accent3"/>
            </a:solidFill>
            <a:prstDash val="solid"/>
            <a:headEnd type="none"/>
            <a:tailEnd type="triangle"/>
          </a:ln>
        </p:spPr>
      </p:sp>
      <p:sp>
        <p:nvSpPr>
          <p:cNvPr id="18" name="step-card-3"/>
          <p:cNvSpPr/>
          <p:nvPr/>
        </p:nvSpPr>
        <p:spPr>
          <a:xfrm>
            <a:off x="6324448" y="1737360"/>
            <a:ext cx="2430704" cy="2926080"/>
          </a:xfrm>
          <a:prstGeom prst="roundRect">
            <a:avLst>
              <a:gd name="adj" fmla="val 3009"/>
            </a:avLst>
          </a:prstGeom>
          <a:solidFill>
            <a:schemeClr val="bg2"/>
          </a:solidFill>
          <a:ln w="9525">
            <a:solidFill>
              <a:schemeClr val="bg2"/>
            </a:solidFill>
            <a:prstDash val="solid"/>
          </a:ln>
        </p:spPr>
      </p:sp>
      <p:sp>
        <p:nvSpPr>
          <p:cNvPr id="19" name="badge-3"/>
          <p:cNvSpPr txBox="1"/>
          <p:nvPr/>
        </p:nvSpPr>
        <p:spPr>
          <a:xfrm>
            <a:off x="6598768" y="2011680"/>
            <a:ext cx="457200" cy="457200"/>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20" name="step-3-circle"/>
          <p:cNvSpPr/>
          <p:nvPr/>
        </p:nvSpPr>
        <p:spPr>
          <a:xfrm>
            <a:off x="7932191" y="1943100"/>
            <a:ext cx="594360" cy="594360"/>
          </a:xfrm>
          <a:prstGeom prst="ellipse">
            <a:avLst/>
          </a:prstGeom>
          <a:solidFill>
            <a:schemeClr val="accent2"/>
          </a:solidFill>
          <a:ln w="12700">
            <a:solidFill>
              <a:schemeClr val="accent2"/>
            </a:solidFill>
            <a:prstDash val="solid"/>
          </a:ln>
        </p:spPr>
      </p:sp>
      <p:pic>
        <p:nvPicPr>
          <p:cNvPr id="21" name="step-3-icon" descr="preencoded.png">    </p:cNvPr>
          <p:cNvPicPr>
            <a:picLocks noChangeAspect="1"/>
          </p:cNvPicPr>
          <p:nvPr/>
        </p:nvPicPr>
        <p:blipFill>
          <a:blip r:embed="rId3"/>
          <a:stretch>
            <a:fillRect/>
          </a:stretch>
        </p:blipFill>
        <p:spPr>
          <a:xfrm>
            <a:off x="8062951" y="2073859"/>
            <a:ext cx="332842" cy="332842"/>
          </a:xfrm>
          <a:prstGeom prst="rect">
            <a:avLst/>
          </a:prstGeom>
        </p:spPr>
      </p:pic>
      <p:sp>
        <p:nvSpPr>
          <p:cNvPr id="22" name="step-head-3"/>
          <p:cNvSpPr txBox="1"/>
          <p:nvPr/>
        </p:nvSpPr>
        <p:spPr>
          <a:xfrm>
            <a:off x="6598768" y="2743200"/>
            <a:ext cx="1927784" cy="457200"/>
          </a:xfrm>
          <a:prstGeom prst="rect">
            <a:avLst/>
          </a:prstGeom>
          <a:noFill/>
          <a:ln/>
        </p:spPr>
        <p:txBody>
          <a:bodyPr wrap="square" lIns="0" tIns="0" rIns="0" bIns="0" rtlCol="0" anchor="ctr"/>
          <a:lstStyle/>
          <a:p>
            <a:pPr indent="0" marL="0">
              <a:buNone/>
            </a:pPr>
            <a:r>
              <a:rPr lang="en-US" sz="1800" b="1" dirty="0">
                <a:solidFill>
                  <a:schemeClr val="tx2"/>
                </a:solidFill>
              </a:rPr>
              <a:t>検証</a:t>
            </a:r>
            <a:endParaRPr lang="en-US" sz="1800" dirty="0"/>
          </a:p>
        </p:txBody>
      </p:sp>
      <p:sp>
        <p:nvSpPr>
          <p:cNvPr id="23" name="step-body-3"/>
          <p:cNvSpPr txBox="1"/>
          <p:nvPr/>
        </p:nvSpPr>
        <p:spPr>
          <a:xfrm>
            <a:off x="6598768" y="3273552"/>
            <a:ext cx="2019224" cy="1280160"/>
          </a:xfrm>
          <a:prstGeom prst="rect">
            <a:avLst/>
          </a:prstGeom>
          <a:noFill/>
          <a:ln/>
        </p:spPr>
        <p:txBody>
          <a:bodyPr wrap="square" lIns="0" tIns="0" rIns="0" bIns="0" rtlCol="0" anchor="t"/>
          <a:lstStyle/>
          <a:p>
            <a:pPr indent="0" marL="0">
              <a:buNone/>
            </a:pPr>
            <a:r>
              <a:rPr lang="en-US" sz="1400" dirty="0">
                <a:solidFill>
                  <a:schemeClr val="tx1"/>
                </a:solidFill>
              </a:rPr>
              <a:t>動作・セキュリティ・</a:t>
            </a:r>
            <a:endParaRPr lang="en-US" sz="1400" dirty="0"/>
          </a:p>
          <a:p>
            <a:pPr indent="0" marL="0">
              <a:buNone/>
            </a:pPr>
            <a:r>
              <a:rPr lang="en-US" sz="1400" dirty="0">
                <a:solidFill>
                  <a:schemeClr val="tx1"/>
                </a:solidFill>
              </a:rPr>
              <a:t>費用を検証します。</a:t>
            </a:r>
            <a:endParaRPr lang="en-US" sz="1400" dirty="0"/>
          </a:p>
        </p:txBody>
      </p:sp>
      <p:sp>
        <p:nvSpPr>
          <p:cNvPr id="24" name="step-arrow-3"/>
          <p:cNvSpPr/>
          <p:nvPr/>
        </p:nvSpPr>
        <p:spPr>
          <a:xfrm>
            <a:off x="8828303" y="3200400"/>
            <a:ext cx="310896" cy="914"/>
          </a:xfrm>
          <a:prstGeom prst="line">
            <a:avLst/>
          </a:prstGeom>
          <a:noFill/>
          <a:ln w="31750">
            <a:solidFill>
              <a:schemeClr val="accent3"/>
            </a:solidFill>
            <a:prstDash val="solid"/>
            <a:headEnd type="none"/>
            <a:tailEnd type="triangle"/>
          </a:ln>
        </p:spPr>
      </p:sp>
      <p:sp>
        <p:nvSpPr>
          <p:cNvPr id="25" name="step-card-4"/>
          <p:cNvSpPr/>
          <p:nvPr/>
        </p:nvSpPr>
        <p:spPr>
          <a:xfrm>
            <a:off x="9212351" y="1737360"/>
            <a:ext cx="2430704" cy="2926080"/>
          </a:xfrm>
          <a:prstGeom prst="roundRect">
            <a:avLst>
              <a:gd name="adj" fmla="val 3009"/>
            </a:avLst>
          </a:prstGeom>
          <a:solidFill>
            <a:schemeClr val="bg2"/>
          </a:solidFill>
          <a:ln w="9525">
            <a:solidFill>
              <a:schemeClr val="bg2"/>
            </a:solidFill>
            <a:prstDash val="solid"/>
          </a:ln>
        </p:spPr>
      </p:sp>
      <p:sp>
        <p:nvSpPr>
          <p:cNvPr id="26" name="badge-4"/>
          <p:cNvSpPr txBox="1"/>
          <p:nvPr/>
        </p:nvSpPr>
        <p:spPr>
          <a:xfrm>
            <a:off x="9486671" y="2011680"/>
            <a:ext cx="457200" cy="457200"/>
          </a:xfrm>
          <a:prstGeom prst="ellipse">
            <a:avLst/>
          </a:prstGeom>
          <a:solidFill>
            <a:schemeClr val="accent3"/>
          </a:solidFill>
          <a:ln w="19050">
            <a:solidFill>
              <a:schemeClr val="bg1"/>
            </a:solid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7" name="step-4-circle"/>
          <p:cNvSpPr/>
          <p:nvPr/>
        </p:nvSpPr>
        <p:spPr>
          <a:xfrm>
            <a:off x="10820095" y="1943100"/>
            <a:ext cx="594360" cy="594360"/>
          </a:xfrm>
          <a:prstGeom prst="ellipse">
            <a:avLst/>
          </a:prstGeom>
          <a:solidFill>
            <a:schemeClr val="accent2"/>
          </a:solidFill>
          <a:ln w="12700">
            <a:solidFill>
              <a:schemeClr val="accent2"/>
            </a:solidFill>
            <a:prstDash val="solid"/>
          </a:ln>
        </p:spPr>
      </p:sp>
      <p:pic>
        <p:nvPicPr>
          <p:cNvPr id="28" name="step-4-icon" descr="preencoded.png">    </p:cNvPr>
          <p:cNvPicPr>
            <a:picLocks noChangeAspect="1"/>
          </p:cNvPicPr>
          <p:nvPr/>
        </p:nvPicPr>
        <p:blipFill>
          <a:blip r:embed="rId4"/>
          <a:stretch>
            <a:fillRect/>
          </a:stretch>
        </p:blipFill>
        <p:spPr>
          <a:xfrm>
            <a:off x="10950854" y="2073859"/>
            <a:ext cx="332842" cy="332842"/>
          </a:xfrm>
          <a:prstGeom prst="rect">
            <a:avLst/>
          </a:prstGeom>
        </p:spPr>
      </p:pic>
      <p:sp>
        <p:nvSpPr>
          <p:cNvPr id="29" name="step-head-4"/>
          <p:cNvSpPr txBox="1"/>
          <p:nvPr/>
        </p:nvSpPr>
        <p:spPr>
          <a:xfrm>
            <a:off x="9486671" y="2743200"/>
            <a:ext cx="1927784" cy="457200"/>
          </a:xfrm>
          <a:prstGeom prst="rect">
            <a:avLst/>
          </a:prstGeom>
          <a:noFill/>
          <a:ln/>
        </p:spPr>
        <p:txBody>
          <a:bodyPr wrap="square" lIns="0" tIns="0" rIns="0" bIns="0" rtlCol="0" anchor="ctr"/>
          <a:lstStyle/>
          <a:p>
            <a:pPr indent="0" marL="0">
              <a:buNone/>
            </a:pPr>
            <a:r>
              <a:rPr lang="en-US" sz="1800" b="1" dirty="0">
                <a:solidFill>
                  <a:schemeClr val="tx2"/>
                </a:solidFill>
              </a:rPr>
              <a:t>評価</a:t>
            </a:r>
            <a:endParaRPr lang="en-US" sz="1800" dirty="0"/>
          </a:p>
        </p:txBody>
      </p:sp>
      <p:sp>
        <p:nvSpPr>
          <p:cNvPr id="30" name="step-body-4"/>
          <p:cNvSpPr txBox="1"/>
          <p:nvPr/>
        </p:nvSpPr>
        <p:spPr>
          <a:xfrm>
            <a:off x="9486671" y="3273552"/>
            <a:ext cx="2019224" cy="1280160"/>
          </a:xfrm>
          <a:prstGeom prst="rect">
            <a:avLst/>
          </a:prstGeom>
          <a:noFill/>
          <a:ln/>
        </p:spPr>
        <p:txBody>
          <a:bodyPr wrap="square" lIns="0" tIns="0" rIns="0" bIns="0" rtlCol="0" anchor="t"/>
          <a:lstStyle/>
          <a:p>
            <a:pPr indent="0" marL="0">
              <a:buNone/>
            </a:pPr>
            <a:r>
              <a:rPr lang="en-US" sz="1400" dirty="0">
                <a:solidFill>
                  <a:schemeClr val="tx1"/>
                </a:solidFill>
              </a:rPr>
              <a:t>検証の結果を踏まえ、</a:t>
            </a:r>
            <a:endParaRPr lang="en-US" sz="1400" dirty="0"/>
          </a:p>
          <a:p>
            <a:pPr indent="0" marL="0">
              <a:buNone/>
            </a:pPr>
            <a:r>
              <a:rPr lang="en-US" sz="1400" dirty="0">
                <a:solidFill>
                  <a:schemeClr val="tx1"/>
                </a:solidFill>
              </a:rPr>
              <a:t>本番化を検討します。</a:t>
            </a:r>
            <a:endParaRPr lang="en-US" sz="1400" dirty="0"/>
          </a:p>
        </p:txBody>
      </p:sp>
      <p:sp>
        <p:nvSpPr>
          <p:cNvPr id="31" name="steps-callout"/>
          <p:cNvSpPr/>
          <p:nvPr/>
        </p:nvSpPr>
        <p:spPr>
          <a:xfrm>
            <a:off x="548640" y="4937760"/>
            <a:ext cx="11094415" cy="1234440"/>
          </a:xfrm>
          <a:prstGeom prst="roundRect">
            <a:avLst>
              <a:gd name="adj" fmla="val 5926"/>
            </a:avLst>
          </a:prstGeom>
          <a:solidFill>
            <a:schemeClr val="bg1"/>
          </a:solidFill>
          <a:ln w="12700">
            <a:solidFill>
              <a:schemeClr val="accent2"/>
            </a:solidFill>
            <a:prstDash val="solid"/>
          </a:ln>
        </p:spPr>
      </p:sp>
      <p:sp>
        <p:nvSpPr>
          <p:cNvPr id="32" name="steps-callout-circle"/>
          <p:cNvSpPr/>
          <p:nvPr/>
        </p:nvSpPr>
        <p:spPr>
          <a:xfrm>
            <a:off x="868680" y="5234940"/>
            <a:ext cx="640080" cy="640080"/>
          </a:xfrm>
          <a:prstGeom prst="ellipse">
            <a:avLst/>
          </a:prstGeom>
          <a:solidFill>
            <a:schemeClr val="accent2"/>
          </a:solidFill>
          <a:ln w="12700">
            <a:solidFill>
              <a:schemeClr val="accent2"/>
            </a:solidFill>
            <a:prstDash val="solid"/>
          </a:ln>
        </p:spPr>
      </p:sp>
      <p:pic>
        <p:nvPicPr>
          <p:cNvPr id="33" name="steps-callout-icon" descr="preencoded.png">    </p:cNvPr>
          <p:cNvPicPr>
            <a:picLocks noChangeAspect="1"/>
          </p:cNvPicPr>
          <p:nvPr/>
        </p:nvPicPr>
        <p:blipFill>
          <a:blip r:embed="rId5"/>
          <a:stretch>
            <a:fillRect/>
          </a:stretch>
        </p:blipFill>
        <p:spPr>
          <a:xfrm>
            <a:off x="1009498" y="5375758"/>
            <a:ext cx="358445" cy="358445"/>
          </a:xfrm>
          <a:prstGeom prst="rect">
            <a:avLst/>
          </a:prstGeom>
        </p:spPr>
      </p:pic>
      <p:sp>
        <p:nvSpPr>
          <p:cNvPr id="34" name="steps-callout-text"/>
          <p:cNvSpPr txBox="1"/>
          <p:nvPr/>
        </p:nvSpPr>
        <p:spPr>
          <a:xfrm>
            <a:off x="1737360" y="5047488"/>
            <a:ext cx="9631375" cy="1014984"/>
          </a:xfrm>
          <a:prstGeom prst="rect">
            <a:avLst/>
          </a:prstGeom>
          <a:noFill/>
          <a:ln/>
        </p:spPr>
        <p:txBody>
          <a:bodyPr wrap="square" lIns="0" tIns="0" rIns="0" bIns="0" rtlCol="0" anchor="ctr"/>
          <a:lstStyle/>
          <a:p>
            <a:pPr indent="0" marL="0">
              <a:buNone/>
            </a:pPr>
            <a:r>
              <a:rPr lang="en-US" sz="1600" b="1" dirty="0">
                <a:solidFill>
                  <a:schemeClr val="tx2"/>
                </a:solidFill>
              </a:rPr>
              <a:t>環境はすべてコード(AWS CDK)で管理します</a:t>
            </a:r>
            <a:endParaRPr lang="en-US" sz="1600" dirty="0"/>
          </a:p>
          <a:p>
            <a:pPr indent="0" marL="0">
              <a:buNone/>
            </a:pPr>
            <a:r>
              <a:rPr lang="en-US" sz="1400" dirty="0">
                <a:solidFill>
                  <a:schemeClr val="tx1"/>
                </a:solidFill>
              </a:rPr>
              <a:t>同じ環境を何度でも再現できます。検証の終了後は、お預かりしたデータを含めて環境一式を短時間で撤去します。</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40080"/>
          </a:xfrm>
          <a:prstGeom prst="rect">
            <a:avLst/>
          </a:prstGeom>
          <a:noFill/>
          <a:ln/>
        </p:spPr>
        <p:txBody>
          <a:bodyPr wrap="square" lIns="0" tIns="0" rIns="0" bIns="0" rtlCol="0" anchor="ctr"/>
          <a:lstStyle/>
          <a:p>
            <a:pPr algn="l" indent="0" marL="0">
              <a:buNone/>
            </a:pPr>
            <a:r>
              <a:rPr lang="en-US" sz="2800" b="1" dirty="0">
                <a:solidFill>
                  <a:schemeClr val="tx2"/>
                </a:solidFill>
              </a:rPr>
              <a:t>ご確認いただきたい事項</a:t>
            </a:r>
            <a:endParaRPr lang="en-US" sz="28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ctr"/>
          <a:lstStyle/>
          <a:p>
            <a:pPr algn="l" indent="0" marL="0">
              <a:buNone/>
            </a:pPr>
            <a:r>
              <a:rPr lang="en-US" sz="1500" dirty="0">
                <a:solidFill>
                  <a:schemeClr val="tx1"/>
                </a:solidFill>
              </a:rPr>
              <a:t>以下の点をお伺いした上で、構成と費用の見積りを確定いたします</a:t>
            </a:r>
            <a:endParaRPr lang="en-US" sz="1500" dirty="0"/>
          </a:p>
        </p:txBody>
      </p:sp>
      <p:sp>
        <p:nvSpPr>
          <p:cNvPr id="4" name="ask-card-1"/>
          <p:cNvSpPr/>
          <p:nvPr/>
        </p:nvSpPr>
        <p:spPr>
          <a:xfrm>
            <a:off x="548640" y="1737360"/>
            <a:ext cx="5387188" cy="2103120"/>
          </a:xfrm>
          <a:prstGeom prst="roundRect">
            <a:avLst>
              <a:gd name="adj" fmla="val 3478"/>
            </a:avLst>
          </a:prstGeom>
          <a:solidFill>
            <a:schemeClr val="bg2"/>
          </a:solidFill>
          <a:ln w="9525">
            <a:solidFill>
              <a:schemeClr val="bg2"/>
            </a:solidFill>
            <a:prstDash val="solid"/>
          </a:ln>
        </p:spPr>
      </p:sp>
      <p:sp>
        <p:nvSpPr>
          <p:cNvPr id="5" name="ask-1-circle"/>
          <p:cNvSpPr/>
          <p:nvPr/>
        </p:nvSpPr>
        <p:spPr>
          <a:xfrm>
            <a:off x="914400" y="2103120"/>
            <a:ext cx="731520" cy="731520"/>
          </a:xfrm>
          <a:prstGeom prst="ellipse">
            <a:avLst/>
          </a:prstGeom>
          <a:solidFill>
            <a:schemeClr val="accent1"/>
          </a:solidFill>
          <a:ln w="12700">
            <a:solidFill>
              <a:schemeClr val="accent1"/>
            </a:solidFill>
            <a:prstDash val="solid"/>
          </a:ln>
        </p:spPr>
      </p:sp>
      <p:pic>
        <p:nvPicPr>
          <p:cNvPr id="6" name="ask-1-icon" descr="preencoded.png">    </p:cNvPr>
          <p:cNvPicPr>
            <a:picLocks noChangeAspect="1"/>
          </p:cNvPicPr>
          <p:nvPr/>
        </p:nvPicPr>
        <p:blipFill>
          <a:blip r:embed="rId1"/>
          <a:stretch>
            <a:fillRect/>
          </a:stretch>
        </p:blipFill>
        <p:spPr>
          <a:xfrm>
            <a:off x="1075334" y="2264054"/>
            <a:ext cx="409651" cy="409651"/>
          </a:xfrm>
          <a:prstGeom prst="rect">
            <a:avLst/>
          </a:prstGeom>
        </p:spPr>
      </p:pic>
      <p:sp>
        <p:nvSpPr>
          <p:cNvPr id="7" name="ask-head-1"/>
          <p:cNvSpPr txBox="1"/>
          <p:nvPr/>
        </p:nvSpPr>
        <p:spPr>
          <a:xfrm>
            <a:off x="1874520" y="2103120"/>
            <a:ext cx="3832708" cy="548640"/>
          </a:xfrm>
          <a:prstGeom prst="rect">
            <a:avLst/>
          </a:prstGeom>
          <a:noFill/>
          <a:ln/>
        </p:spPr>
        <p:txBody>
          <a:bodyPr wrap="square" lIns="0" tIns="0" rIns="0" bIns="0" rtlCol="0" anchor="ctr"/>
          <a:lstStyle/>
          <a:p>
            <a:pPr indent="0" marL="0">
              <a:buNone/>
            </a:pPr>
            <a:r>
              <a:rPr lang="en-US" sz="1900" b="1" dirty="0">
                <a:solidFill>
                  <a:schemeClr val="tx2"/>
                </a:solidFill>
              </a:rPr>
              <a:t>画面の形態</a:t>
            </a:r>
            <a:endParaRPr lang="en-US" sz="1900" dirty="0"/>
          </a:p>
        </p:txBody>
      </p:sp>
      <p:sp>
        <p:nvSpPr>
          <p:cNvPr id="8" name="ask-body-1"/>
          <p:cNvSpPr txBox="1"/>
          <p:nvPr/>
        </p:nvSpPr>
        <p:spPr>
          <a:xfrm>
            <a:off x="1874520" y="2724912"/>
            <a:ext cx="3832708" cy="1005840"/>
          </a:xfrm>
          <a:prstGeom prst="rect">
            <a:avLst/>
          </a:prstGeom>
          <a:noFill/>
          <a:ln/>
        </p:spPr>
        <p:txBody>
          <a:bodyPr wrap="square" lIns="0" tIns="0" rIns="0" bIns="0" rtlCol="0" anchor="t"/>
          <a:lstStyle/>
          <a:p>
            <a:pPr indent="0" marL="0">
              <a:buNone/>
            </a:pPr>
            <a:r>
              <a:rPr lang="en-US" sz="1400" dirty="0">
                <a:solidFill>
                  <a:schemeClr val="tx1"/>
                </a:solidFill>
              </a:rPr>
              <a:t>静的な画面で十分か、</a:t>
            </a:r>
            <a:endParaRPr lang="en-US" sz="1400" dirty="0"/>
          </a:p>
          <a:p>
            <a:pPr indent="0" marL="0">
              <a:buNone/>
            </a:pPr>
            <a:r>
              <a:rPr lang="en-US" sz="1400" dirty="0">
                <a:solidFill>
                  <a:schemeClr val="tx1"/>
                </a:solidFill>
              </a:rPr>
              <a:t>サーバー側での画面生成(SSR)が必要か</a:t>
            </a:r>
            <a:endParaRPr lang="en-US" sz="1400" dirty="0"/>
          </a:p>
          <a:p>
            <a:pPr indent="0" marL="0">
              <a:buNone/>
            </a:pPr>
            <a:r>
              <a:rPr lang="en-US" sz="1400" dirty="0">
                <a:solidFill>
                  <a:schemeClr val="tx1"/>
                </a:solidFill>
              </a:rPr>
              <a:t>(必要な場合は構成を調整します)</a:t>
            </a:r>
            <a:endParaRPr lang="en-US" sz="1400" dirty="0"/>
          </a:p>
        </p:txBody>
      </p:sp>
      <p:sp>
        <p:nvSpPr>
          <p:cNvPr id="9" name="ask-card-2"/>
          <p:cNvSpPr/>
          <p:nvPr/>
        </p:nvSpPr>
        <p:spPr>
          <a:xfrm>
            <a:off x="6255868" y="1737360"/>
            <a:ext cx="5387188" cy="2103120"/>
          </a:xfrm>
          <a:prstGeom prst="roundRect">
            <a:avLst>
              <a:gd name="adj" fmla="val 3478"/>
            </a:avLst>
          </a:prstGeom>
          <a:solidFill>
            <a:schemeClr val="bg2"/>
          </a:solidFill>
          <a:ln w="9525">
            <a:solidFill>
              <a:schemeClr val="bg2"/>
            </a:solidFill>
            <a:prstDash val="solid"/>
          </a:ln>
        </p:spPr>
      </p:sp>
      <p:sp>
        <p:nvSpPr>
          <p:cNvPr id="10" name="ask-2-circle"/>
          <p:cNvSpPr/>
          <p:nvPr/>
        </p:nvSpPr>
        <p:spPr>
          <a:xfrm>
            <a:off x="6621628" y="2103120"/>
            <a:ext cx="731520" cy="731520"/>
          </a:xfrm>
          <a:prstGeom prst="ellipse">
            <a:avLst/>
          </a:prstGeom>
          <a:solidFill>
            <a:schemeClr val="accent1"/>
          </a:solidFill>
          <a:ln w="12700">
            <a:solidFill>
              <a:schemeClr val="accent1"/>
            </a:solidFill>
            <a:prstDash val="solid"/>
          </a:ln>
        </p:spPr>
      </p:sp>
      <p:pic>
        <p:nvPicPr>
          <p:cNvPr id="11" name="ask-2-icon" descr="preencoded.png">    </p:cNvPr>
          <p:cNvPicPr>
            <a:picLocks noChangeAspect="1"/>
          </p:cNvPicPr>
          <p:nvPr/>
        </p:nvPicPr>
        <p:blipFill>
          <a:blip r:embed="rId2"/>
          <a:stretch>
            <a:fillRect/>
          </a:stretch>
        </p:blipFill>
        <p:spPr>
          <a:xfrm>
            <a:off x="6782562" y="2264054"/>
            <a:ext cx="409651" cy="409651"/>
          </a:xfrm>
          <a:prstGeom prst="rect">
            <a:avLst/>
          </a:prstGeom>
        </p:spPr>
      </p:pic>
      <p:sp>
        <p:nvSpPr>
          <p:cNvPr id="12" name="ask-head-2"/>
          <p:cNvSpPr txBox="1"/>
          <p:nvPr/>
        </p:nvSpPr>
        <p:spPr>
          <a:xfrm>
            <a:off x="7581748" y="2103120"/>
            <a:ext cx="3832708" cy="548640"/>
          </a:xfrm>
          <a:prstGeom prst="rect">
            <a:avLst/>
          </a:prstGeom>
          <a:noFill/>
          <a:ln/>
        </p:spPr>
        <p:txBody>
          <a:bodyPr wrap="square" lIns="0" tIns="0" rIns="0" bIns="0" rtlCol="0" anchor="ctr"/>
          <a:lstStyle/>
          <a:p>
            <a:pPr indent="0" marL="0">
              <a:buNone/>
            </a:pPr>
            <a:r>
              <a:rPr lang="en-US" sz="1900" b="1" dirty="0">
                <a:solidFill>
                  <a:schemeClr val="tx2"/>
                </a:solidFill>
              </a:rPr>
              <a:t>データの大きさと解析の内容</a:t>
            </a:r>
            <a:endParaRPr lang="en-US" sz="1900" dirty="0"/>
          </a:p>
        </p:txBody>
      </p:sp>
      <p:sp>
        <p:nvSpPr>
          <p:cNvPr id="13" name="ask-body-2"/>
          <p:cNvSpPr txBox="1"/>
          <p:nvPr/>
        </p:nvSpPr>
        <p:spPr>
          <a:xfrm>
            <a:off x="7581748" y="2724912"/>
            <a:ext cx="3832708" cy="1005840"/>
          </a:xfrm>
          <a:prstGeom prst="rect">
            <a:avLst/>
          </a:prstGeom>
          <a:noFill/>
          <a:ln/>
        </p:spPr>
        <p:txBody>
          <a:bodyPr wrap="square" lIns="0" tIns="0" rIns="0" bIns="0" rtlCol="0" anchor="t"/>
          <a:lstStyle/>
          <a:p>
            <a:pPr indent="0" marL="0">
              <a:buNone/>
            </a:pPr>
            <a:r>
              <a:rPr lang="en-US" sz="1400" dirty="0">
                <a:solidFill>
                  <a:schemeClr val="tx1"/>
                </a:solidFill>
              </a:rPr>
              <a:t>1 ファイルの大きさと 1 回の解析時間、</a:t>
            </a:r>
            <a:endParaRPr lang="en-US" sz="1400" dirty="0"/>
          </a:p>
          <a:p>
            <a:pPr indent="0" marL="0">
              <a:buNone/>
            </a:pPr>
            <a:r>
              <a:rPr lang="en-US" sz="1400" dirty="0">
                <a:solidFill>
                  <a:schemeClr val="tx1"/>
                </a:solidFill>
              </a:rPr>
              <a:t>使用する主な Python ライブラリ</a:t>
            </a:r>
            <a:endParaRPr lang="en-US" sz="1400" dirty="0"/>
          </a:p>
        </p:txBody>
      </p:sp>
      <p:sp>
        <p:nvSpPr>
          <p:cNvPr id="14" name="ask-card-3"/>
          <p:cNvSpPr/>
          <p:nvPr/>
        </p:nvSpPr>
        <p:spPr>
          <a:xfrm>
            <a:off x="548640" y="4114800"/>
            <a:ext cx="5387188" cy="2103120"/>
          </a:xfrm>
          <a:prstGeom prst="roundRect">
            <a:avLst>
              <a:gd name="adj" fmla="val 3478"/>
            </a:avLst>
          </a:prstGeom>
          <a:solidFill>
            <a:schemeClr val="bg2"/>
          </a:solidFill>
          <a:ln w="9525">
            <a:solidFill>
              <a:schemeClr val="bg2"/>
            </a:solidFill>
            <a:prstDash val="solid"/>
          </a:ln>
        </p:spPr>
      </p:sp>
      <p:sp>
        <p:nvSpPr>
          <p:cNvPr id="15" name="ask-3-circle"/>
          <p:cNvSpPr/>
          <p:nvPr/>
        </p:nvSpPr>
        <p:spPr>
          <a:xfrm>
            <a:off x="914400" y="4480560"/>
            <a:ext cx="731520" cy="731520"/>
          </a:xfrm>
          <a:prstGeom prst="ellipse">
            <a:avLst/>
          </a:prstGeom>
          <a:solidFill>
            <a:schemeClr val="accent1"/>
          </a:solidFill>
          <a:ln w="12700">
            <a:solidFill>
              <a:schemeClr val="accent1"/>
            </a:solidFill>
            <a:prstDash val="solid"/>
          </a:ln>
        </p:spPr>
      </p:sp>
      <p:pic>
        <p:nvPicPr>
          <p:cNvPr id="16" name="ask-3-icon" descr="preencoded.png">    </p:cNvPr>
          <p:cNvPicPr>
            <a:picLocks noChangeAspect="1"/>
          </p:cNvPicPr>
          <p:nvPr/>
        </p:nvPicPr>
        <p:blipFill>
          <a:blip r:embed="rId3"/>
          <a:stretch>
            <a:fillRect/>
          </a:stretch>
        </p:blipFill>
        <p:spPr>
          <a:xfrm>
            <a:off x="1075334" y="4641494"/>
            <a:ext cx="409651" cy="409651"/>
          </a:xfrm>
          <a:prstGeom prst="rect">
            <a:avLst/>
          </a:prstGeom>
        </p:spPr>
      </p:pic>
      <p:sp>
        <p:nvSpPr>
          <p:cNvPr id="17" name="ask-head-3"/>
          <p:cNvSpPr txBox="1"/>
          <p:nvPr/>
        </p:nvSpPr>
        <p:spPr>
          <a:xfrm>
            <a:off x="1874520" y="4480560"/>
            <a:ext cx="3832708" cy="548640"/>
          </a:xfrm>
          <a:prstGeom prst="rect">
            <a:avLst/>
          </a:prstGeom>
          <a:noFill/>
          <a:ln/>
        </p:spPr>
        <p:txBody>
          <a:bodyPr wrap="square" lIns="0" tIns="0" rIns="0" bIns="0" rtlCol="0" anchor="ctr"/>
          <a:lstStyle/>
          <a:p>
            <a:pPr indent="0" marL="0">
              <a:buNone/>
            </a:pPr>
            <a:r>
              <a:rPr lang="en-US" sz="1900" b="1" dirty="0">
                <a:solidFill>
                  <a:schemeClr val="tx2"/>
                </a:solidFill>
              </a:rPr>
              <a:t>利用者の範囲</a:t>
            </a:r>
            <a:endParaRPr lang="en-US" sz="1900" dirty="0"/>
          </a:p>
        </p:txBody>
      </p:sp>
      <p:sp>
        <p:nvSpPr>
          <p:cNvPr id="18" name="ask-body-3"/>
          <p:cNvSpPr txBox="1"/>
          <p:nvPr/>
        </p:nvSpPr>
        <p:spPr>
          <a:xfrm>
            <a:off x="1874520" y="5102352"/>
            <a:ext cx="3832708" cy="1005840"/>
          </a:xfrm>
          <a:prstGeom prst="rect">
            <a:avLst/>
          </a:prstGeom>
          <a:noFill/>
          <a:ln/>
        </p:spPr>
        <p:txBody>
          <a:bodyPr wrap="square" lIns="0" tIns="0" rIns="0" bIns="0" rtlCol="0" anchor="t"/>
          <a:lstStyle/>
          <a:p>
            <a:pPr indent="0" marL="0">
              <a:buNone/>
            </a:pPr>
            <a:r>
              <a:rPr lang="en-US" sz="1400" dirty="0">
                <a:solidFill>
                  <a:schemeClr val="tx1"/>
                </a:solidFill>
              </a:rPr>
              <a:t>貴社内の数名でご利用になるか、</a:t>
            </a:r>
            <a:endParaRPr lang="en-US" sz="1400" dirty="0"/>
          </a:p>
          <a:p>
            <a:pPr indent="0" marL="0">
              <a:buNone/>
            </a:pPr>
            <a:r>
              <a:rPr lang="en-US" sz="1400" dirty="0">
                <a:solidFill>
                  <a:schemeClr val="tx1"/>
                </a:solidFill>
              </a:rPr>
              <a:t>社外の方もご利用になるか</a:t>
            </a:r>
            <a:endParaRPr lang="en-US" sz="1400" dirty="0"/>
          </a:p>
          <a:p>
            <a:pPr indent="0" marL="0">
              <a:buNone/>
            </a:pPr>
            <a:r>
              <a:rPr lang="en-US" sz="1400" dirty="0">
                <a:solidFill>
                  <a:schemeClr val="tx1"/>
                </a:solidFill>
              </a:rPr>
              <a:t>(アクセス元の制限の要否)</a:t>
            </a:r>
            <a:endParaRPr lang="en-US" sz="1400" dirty="0"/>
          </a:p>
        </p:txBody>
      </p:sp>
      <p:sp>
        <p:nvSpPr>
          <p:cNvPr id="19" name="ask-card-4"/>
          <p:cNvSpPr/>
          <p:nvPr/>
        </p:nvSpPr>
        <p:spPr>
          <a:xfrm>
            <a:off x="6255868" y="4114800"/>
            <a:ext cx="5387188" cy="2103120"/>
          </a:xfrm>
          <a:prstGeom prst="roundRect">
            <a:avLst>
              <a:gd name="adj" fmla="val 3478"/>
            </a:avLst>
          </a:prstGeom>
          <a:solidFill>
            <a:schemeClr val="bg2"/>
          </a:solidFill>
          <a:ln w="9525">
            <a:solidFill>
              <a:schemeClr val="bg2"/>
            </a:solidFill>
            <a:prstDash val="solid"/>
          </a:ln>
        </p:spPr>
      </p:sp>
      <p:sp>
        <p:nvSpPr>
          <p:cNvPr id="20" name="ask-4-circle"/>
          <p:cNvSpPr/>
          <p:nvPr/>
        </p:nvSpPr>
        <p:spPr>
          <a:xfrm>
            <a:off x="6621628" y="4480560"/>
            <a:ext cx="731520" cy="731520"/>
          </a:xfrm>
          <a:prstGeom prst="ellipse">
            <a:avLst/>
          </a:prstGeom>
          <a:solidFill>
            <a:schemeClr val="accent1"/>
          </a:solidFill>
          <a:ln w="12700">
            <a:solidFill>
              <a:schemeClr val="accent1"/>
            </a:solidFill>
            <a:prstDash val="solid"/>
          </a:ln>
        </p:spPr>
      </p:sp>
      <p:pic>
        <p:nvPicPr>
          <p:cNvPr id="21" name="ask-4-icon" descr="preencoded.png">    </p:cNvPr>
          <p:cNvPicPr>
            <a:picLocks noChangeAspect="1"/>
          </p:cNvPicPr>
          <p:nvPr/>
        </p:nvPicPr>
        <p:blipFill>
          <a:blip r:embed="rId4"/>
          <a:stretch>
            <a:fillRect/>
          </a:stretch>
        </p:blipFill>
        <p:spPr>
          <a:xfrm>
            <a:off x="6782562" y="4641494"/>
            <a:ext cx="409651" cy="409651"/>
          </a:xfrm>
          <a:prstGeom prst="rect">
            <a:avLst/>
          </a:prstGeom>
        </p:spPr>
      </p:pic>
      <p:sp>
        <p:nvSpPr>
          <p:cNvPr id="22" name="ask-head-4"/>
          <p:cNvSpPr txBox="1"/>
          <p:nvPr/>
        </p:nvSpPr>
        <p:spPr>
          <a:xfrm>
            <a:off x="7581748" y="4480560"/>
            <a:ext cx="3832708" cy="548640"/>
          </a:xfrm>
          <a:prstGeom prst="rect">
            <a:avLst/>
          </a:prstGeom>
          <a:noFill/>
          <a:ln/>
        </p:spPr>
        <p:txBody>
          <a:bodyPr wrap="square" lIns="0" tIns="0" rIns="0" bIns="0" rtlCol="0" anchor="ctr"/>
          <a:lstStyle/>
          <a:p>
            <a:pPr indent="0" marL="0">
              <a:buNone/>
            </a:pPr>
            <a:r>
              <a:rPr lang="en-US" sz="1900" b="1" dirty="0">
                <a:solidFill>
                  <a:schemeClr val="tx2"/>
                </a:solidFill>
              </a:rPr>
              <a:t>データの機密性</a:t>
            </a:r>
            <a:endParaRPr lang="en-US" sz="1900" dirty="0"/>
          </a:p>
        </p:txBody>
      </p:sp>
      <p:sp>
        <p:nvSpPr>
          <p:cNvPr id="23" name="ask-body-4"/>
          <p:cNvSpPr txBox="1"/>
          <p:nvPr/>
        </p:nvSpPr>
        <p:spPr>
          <a:xfrm>
            <a:off x="7581748" y="5102352"/>
            <a:ext cx="3832708" cy="1005840"/>
          </a:xfrm>
          <a:prstGeom prst="rect">
            <a:avLst/>
          </a:prstGeom>
          <a:noFill/>
          <a:ln/>
        </p:spPr>
        <p:txBody>
          <a:bodyPr wrap="square" lIns="0" tIns="0" rIns="0" bIns="0" rtlCol="0" anchor="t"/>
          <a:lstStyle/>
          <a:p>
            <a:pPr indent="0" marL="0">
              <a:buNone/>
            </a:pPr>
            <a:r>
              <a:rPr lang="en-US" sz="1400" dirty="0">
                <a:solidFill>
                  <a:schemeClr val="tx1"/>
                </a:solidFill>
              </a:rPr>
              <a:t>個人情報や機密情報を含むか</a:t>
            </a:r>
            <a:endParaRPr lang="en-US" sz="1400" dirty="0"/>
          </a:p>
          <a:p>
            <a:pPr indent="0" marL="0">
              <a:buNone/>
            </a:pPr>
            <a:r>
              <a:rPr lang="en-US" sz="1400" dirty="0">
                <a:solidFill>
                  <a:schemeClr val="tx1"/>
                </a:solidFill>
              </a:rPr>
              <a:t>(保存期間・暗号化の要件)</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22960" y="2514600"/>
            <a:ext cx="10515600" cy="914400"/>
          </a:xfrm>
          <a:prstGeom prst="rect">
            <a:avLst/>
          </a:prstGeom>
          <a:noFill/>
          <a:ln/>
        </p:spPr>
        <p:txBody>
          <a:bodyPr wrap="square" lIns="0" tIns="0" rIns="0" bIns="0" rtlCol="0" anchor="ctr"/>
          <a:lstStyle/>
          <a:p>
            <a:pPr algn="ctr" indent="0" marL="0">
              <a:buNone/>
            </a:pPr>
            <a:r>
              <a:rPr lang="en-US" sz="3200" b="1" dirty="0">
                <a:solidFill>
                  <a:schemeClr val="bg1"/>
                </a:solidFill>
              </a:rPr>
              <a:t>ご検討のほど、よろしくお願い申し上げます</a:t>
            </a:r>
            <a:endParaRPr lang="en-US" sz="3200" dirty="0"/>
          </a:p>
        </p:txBody>
      </p:sp>
      <p:sp>
        <p:nvSpPr>
          <p:cNvPr id="3" name="Text 0"/>
          <p:cNvSpPr/>
          <p:nvPr>
            <p:ph idx="101" type="body" hasCustomPrompt="1"/>
          </p:nvPr>
        </p:nvSpPr>
        <p:spPr>
          <a:xfrm>
            <a:off x="822960" y="3566160"/>
            <a:ext cx="10515600" cy="457200"/>
          </a:xfrm>
          <a:prstGeom prst="rect">
            <a:avLst/>
          </a:prstGeom>
          <a:noFill/>
          <a:ln/>
        </p:spPr>
        <p:txBody>
          <a:bodyPr wrap="square" lIns="0" tIns="0" rIns="0" bIns="0" rtlCol="0"/>
          <a:lstStyle/>
          <a:p>
            <a:pPr algn="ctr" indent="0" marL="0">
              <a:buNone/>
            </a:pPr>
            <a:r>
              <a:rPr lang="en-US" sz="1500" dirty="0">
                <a:solidFill>
                  <a:schemeClr val="bg1"/>
                </a:solidFill>
              </a:rPr>
              <a:t>ご不明な点やご要望がございましたら、お気軽にお問い合わせください</a:t>
            </a:r>
            <a:endParaRPr lang="en-US" sz="1500" dirty="0"/>
          </a:p>
        </p:txBody>
      </p:sp>
      <p:sp>
        <p:nvSpPr>
          <p:cNvPr id="4" name="Text 0"/>
          <p:cNvSpPr/>
          <p:nvPr>
            <p:ph idx="102" type="body" hasCustomPrompt="1"/>
          </p:nvPr>
        </p:nvSpPr>
        <p:spPr>
          <a:xfrm>
            <a:off x="822960" y="5532120"/>
            <a:ext cx="10515600" cy="365760"/>
          </a:xfrm>
          <a:prstGeom prst="rect">
            <a:avLst/>
          </a:prstGeom>
          <a:noFill/>
          <a:ln/>
        </p:spPr>
        <p:txBody>
          <a:bodyPr wrap="square" lIns="0" tIns="0" rIns="0" bIns="0" rtlCol="0"/>
          <a:lstStyle/>
          <a:p>
            <a:pPr algn="ctr" indent="0" marL="0">
              <a:buNone/>
            </a:pPr>
            <a:r>
              <a:rPr lang="en-US" sz="1300" dirty="0">
                <a:solidFill>
                  <a:schemeClr val="bg1"/>
                </a:solidFill>
              </a:rPr>
              <a:t>(提案会社名・担当者名・連絡先)</a:t>
            </a:r>
            <a:endParaRPr lang="en-US" sz="1300" dirty="0"/>
          </a:p>
        </p:txBody>
      </p:sp>
      <p:sp>
        <p:nvSpPr>
          <p:cNvPr id="5" name="motif-line"/>
          <p:cNvSpPr/>
          <p:nvPr/>
        </p:nvSpPr>
        <p:spPr>
          <a:xfrm flipV="1">
            <a:off x="5394960" y="4480560"/>
            <a:ext cx="704088" cy="274320"/>
          </a:xfrm>
          <a:prstGeom prst="line">
            <a:avLst/>
          </a:prstGeom>
          <a:noFill/>
          <a:ln w="12700">
            <a:solidFill>
              <a:schemeClr val="bg1"/>
            </a:solidFill>
            <a:prstDash val="solid"/>
            <a:headEnd type="none"/>
            <a:tailEnd type="none"/>
          </a:ln>
        </p:spPr>
      </p:sp>
      <p:sp>
        <p:nvSpPr>
          <p:cNvPr id="6" name="motif-line"/>
          <p:cNvSpPr/>
          <p:nvPr/>
        </p:nvSpPr>
        <p:spPr>
          <a:xfrm>
            <a:off x="6099048" y="4480560"/>
            <a:ext cx="694944" cy="274320"/>
          </a:xfrm>
          <a:prstGeom prst="line">
            <a:avLst/>
          </a:prstGeom>
          <a:noFill/>
          <a:ln w="12700">
            <a:solidFill>
              <a:schemeClr val="bg1"/>
            </a:solidFill>
            <a:prstDash val="solid"/>
            <a:headEnd type="none"/>
            <a:tailEnd type="none"/>
          </a:ln>
        </p:spPr>
      </p:sp>
      <p:sp>
        <p:nvSpPr>
          <p:cNvPr id="7" name="motif-node"/>
          <p:cNvSpPr/>
          <p:nvPr/>
        </p:nvSpPr>
        <p:spPr>
          <a:xfrm>
            <a:off x="5312664" y="4672584"/>
            <a:ext cx="164592" cy="164592"/>
          </a:xfrm>
          <a:prstGeom prst="ellipse">
            <a:avLst/>
          </a:prstGeom>
          <a:solidFill>
            <a:schemeClr val="accent4"/>
          </a:solidFill>
          <a:ln w="12700">
            <a:solidFill>
              <a:schemeClr val="bg1"/>
            </a:solidFill>
            <a:prstDash val="solid"/>
          </a:ln>
        </p:spPr>
      </p:sp>
      <p:sp>
        <p:nvSpPr>
          <p:cNvPr id="8" name="motif-node"/>
          <p:cNvSpPr/>
          <p:nvPr/>
        </p:nvSpPr>
        <p:spPr>
          <a:xfrm>
            <a:off x="6016752" y="4398264"/>
            <a:ext cx="164592" cy="164592"/>
          </a:xfrm>
          <a:prstGeom prst="ellipse">
            <a:avLst/>
          </a:prstGeom>
          <a:solidFill>
            <a:schemeClr val="accent3"/>
          </a:solidFill>
          <a:ln w="12700">
            <a:solidFill>
              <a:schemeClr val="bg1"/>
            </a:solidFill>
            <a:prstDash val="solid"/>
          </a:ln>
        </p:spPr>
      </p:sp>
      <p:sp>
        <p:nvSpPr>
          <p:cNvPr id="9" name="motif-node"/>
          <p:cNvSpPr/>
          <p:nvPr/>
        </p:nvSpPr>
        <p:spPr>
          <a:xfrm>
            <a:off x="6711696" y="4672584"/>
            <a:ext cx="164592" cy="164592"/>
          </a:xfrm>
          <a:prstGeom prst="ellipse">
            <a:avLst/>
          </a:prstGeom>
          <a:solidFill>
            <a:schemeClr val="accent4"/>
          </a:solidFill>
          <a:ln w="12700">
            <a:solidFill>
              <a:schemeClr val="bg1"/>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40080"/>
          </a:xfrm>
          <a:prstGeom prst="rect">
            <a:avLst/>
          </a:prstGeom>
          <a:noFill/>
          <a:ln/>
        </p:spPr>
        <p:txBody>
          <a:bodyPr wrap="square" lIns="0" tIns="0" rIns="0" bIns="0" rtlCol="0" anchor="ctr"/>
          <a:lstStyle/>
          <a:p>
            <a:pPr algn="l" indent="0" marL="0">
              <a:buNone/>
            </a:pPr>
            <a:r>
              <a:rPr lang="en-US" sz="2800" b="1" dirty="0">
                <a:solidFill>
                  <a:schemeClr val="tx2"/>
                </a:solidFill>
              </a:rPr>
              <a:t>参考資料</a:t>
            </a:r>
            <a:endParaRPr lang="en-US" sz="28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ctr"/>
          <a:lstStyle/>
          <a:p>
            <a:pPr algn="l" indent="0" marL="0">
              <a:buNone/>
            </a:pPr>
            <a:r>
              <a:rPr lang="en-US" sz="1500" dirty="0">
                <a:solidFill>
                  <a:schemeClr val="tx1"/>
                </a:solidFill>
              </a:rPr>
              <a:t>本資料の仕様・料金は、以下の AWS 公式資料に基づきます(2026年10月時点)</a:t>
            </a:r>
            <a:endParaRPr lang="en-US" sz="1500" dirty="0"/>
          </a:p>
        </p:txBody>
      </p:sp>
      <p:graphicFrame>
        <p:nvGraphicFramePr>
          <p:cNvPr id="14" name="refs-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291840"/>
                <a:gridCol w="7802575"/>
              </a:tblGrid>
              <a:tr h="256032">
                <a:tc>
                  <a:txBody>
                    <a:bodyPr/>
                    <a:lstStyle/>
                    <a:p>
                      <a:pPr indent="0" marL="0">
                        <a:buNone/>
                      </a:pPr>
                      <a:r>
                        <a:rPr lang="en-US" sz="1100" b="1" dirty="0">
                          <a:solidFill>
                            <a:schemeClr val="tx2"/>
                          </a:solidFill>
                        </a:rPr>
                        <a:t>Lambda のランタイム</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1" invalidUrl="" action="" tgtFrame="" tooltip="" history="1" highlightClick="0" endSnd="0">
                            <a:extLst>
                              <a:ext uri="{A12FA001-AC4F-418D-AE19-62706E023703}">
                                <ahyp:hlinkClr xmlns:ahyp="http://schemas.microsoft.com/office/drawing/2018/hyperlinkcolor" val="tx"/>
                              </a:ext>
                            </a:extLst>
                          </a:hlinkClick>
                        </a:rPr>
                        <a:t>https://docs.aws.amazon.com/lambda/latest/dg/lambda-runtimes.html</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Lambda の上限</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https://docs.aws.amazon.com/lambda/latest/dg/gettingstarted-limits.html</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Lambda の料金</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3" invalidUrl="" action="" tgtFrame="" tooltip="" history="1" highlightClick="0" endSnd="0">
                            <a:extLst>
                              <a:ext uri="{A12FA001-AC4F-418D-AE19-62706E023703}">
                                <ahyp:hlinkClr xmlns:ahyp="http://schemas.microsoft.com/office/drawing/2018/hyperlinkcolor" val="tx"/>
                              </a:ext>
                            </a:extLst>
                          </a:hlinkClick>
                        </a:rPr>
                        <a:t>https://aws.amazon.com/lambda/pricing/</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API Gateway HTTP API の上限</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4" invalidUrl="" action="" tgtFrame="" tooltip="" history="1" highlightClick="0" endSnd="0">
                            <a:extLst>
                              <a:ext uri="{A12FA001-AC4F-418D-AE19-62706E023703}">
                                <ahyp:hlinkClr xmlns:ahyp="http://schemas.microsoft.com/office/drawing/2018/hyperlinkcolor" val="tx"/>
                              </a:ext>
                            </a:extLst>
                          </a:hlinkClick>
                        </a:rPr>
                        <a:t>https://docs.aws.amazon.com/apigateway/latest/developerguide/http-api-quotas.html</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API Gateway の料金</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5" invalidUrl="" action="" tgtFrame="" tooltip="" history="1" highlightClick="0" endSnd="0">
                            <a:extLst>
                              <a:ext uri="{A12FA001-AC4F-418D-AE19-62706E023703}">
                                <ahyp:hlinkClr xmlns:ahyp="http://schemas.microsoft.com/office/drawing/2018/hyperlinkcolor" val="tx"/>
                              </a:ext>
                            </a:extLst>
                          </a:hlinkClick>
                        </a:rPr>
                        <a:t>https://aws.amazon.com/api-gateway/pricing/</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S3 の署名付き URL</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6" invalidUrl="" action="" tgtFrame="" tooltip="" history="1" highlightClick="0" endSnd="0">
                            <a:extLst>
                              <a:ext uri="{A12FA001-AC4F-418D-AE19-62706E023703}">
                                <ahyp:hlinkClr xmlns:ahyp="http://schemas.microsoft.com/office/drawing/2018/hyperlinkcolor" val="tx"/>
                              </a:ext>
                            </a:extLst>
                          </a:hlinkClick>
                        </a:rPr>
                        <a:t>https://docs.aws.amazon.com/AmazonS3/latest/userguide/using-presigned-url.html</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Amazon S3 の料金</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7" invalidUrl="" action="" tgtFrame="" tooltip="" history="1" highlightClick="0" endSnd="0">
                            <a:extLst>
                              <a:ext uri="{A12FA001-AC4F-418D-AE19-62706E023703}">
                                <ahyp:hlinkClr xmlns:ahyp="http://schemas.microsoft.com/office/drawing/2018/hyperlinkcolor" val="tx"/>
                              </a:ext>
                            </a:extLst>
                          </a:hlinkClick>
                        </a:rPr>
                        <a:t>https://aws.amazon.com/s3/pricing/</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Amazon DynamoDB の料金</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8" invalidUrl="" action="" tgtFrame="" tooltip="" history="1" highlightClick="0" endSnd="0">
                            <a:extLst>
                              <a:ext uri="{A12FA001-AC4F-418D-AE19-62706E023703}">
                                <ahyp:hlinkClr xmlns:ahyp="http://schemas.microsoft.com/office/drawing/2018/hyperlinkcolor" val="tx"/>
                              </a:ext>
                            </a:extLst>
                          </a:hlinkClick>
                        </a:rPr>
                        <a:t>https://aws.amazon.com/dynamodb/pricing/</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CloudFront の定額プラン</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9" invalidUrl="" action="" tgtFrame="" tooltip="" history="1" highlightClick="0" endSnd="0">
                            <a:extLst>
                              <a:ext uri="{A12FA001-AC4F-418D-AE19-62706E023703}">
                                <ahyp:hlinkClr xmlns:ahyp="http://schemas.microsoft.com/office/drawing/2018/hyperlinkcolor" val="tx"/>
                              </a:ext>
                            </a:extLst>
                          </a:hlinkClick>
                        </a:rPr>
                        <a:t>https://docs.aws.amazon.com/PricingPlanManager/latest/UserGuide/plans.html</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CloudFront から S3 への接続(OAC)</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10" invalidUrl="" action="" tgtFrame="" tooltip="" history="1" highlightClick="0" endSnd="0">
                            <a:extLst>
                              <a:ext uri="{A12FA001-AC4F-418D-AE19-62706E023703}">
                                <ahyp:hlinkClr xmlns:ahyp="http://schemas.microsoft.com/office/drawing/2018/hyperlinkcolor" val="tx"/>
                              </a:ext>
                            </a:extLst>
                          </a:hlinkClick>
                        </a:rPr>
                        <a:t>https://docs.aws.amazon.com/AmazonCloudFront/latest/DeveloperGuide/private-content-restricting-access-to-s3.html</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AWS WAF の料金</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11" invalidUrl="" action="" tgtFrame="" tooltip="" history="1" highlightClick="0" endSnd="0">
                            <a:extLst>
                              <a:ext uri="{A12FA001-AC4F-418D-AE19-62706E023703}">
                                <ahyp:hlinkClr xmlns:ahyp="http://schemas.microsoft.com/office/drawing/2018/hyperlinkcolor" val="tx"/>
                              </a:ext>
                            </a:extLst>
                          </a:hlinkClick>
                        </a:rPr>
                        <a:t>https://aws.amazon.com/waf/pricing/</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AWS WAF の IP 制限</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12" invalidUrl="" action="" tgtFrame="" tooltip="" history="1" highlightClick="0" endSnd="0">
                            <a:extLst>
                              <a:ext uri="{A12FA001-AC4F-418D-AE19-62706E023703}">
                                <ahyp:hlinkClr xmlns:ahyp="http://schemas.microsoft.com/office/drawing/2018/hyperlinkcolor" val="tx"/>
                              </a:ext>
                            </a:extLst>
                          </a:hlinkClick>
                        </a:rPr>
                        <a:t>https://docs.aws.amazon.com/waf/latest/developerguide/waf-rule-statement-type-ipset-match.html</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CloudTrail のイベント履歴</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13" invalidUrl="" action="" tgtFrame="" tooltip="" history="1" highlightClick="0" endSnd="0">
                            <a:extLst>
                              <a:ext uri="{A12FA001-AC4F-418D-AE19-62706E023703}">
                                <ahyp:hlinkClr xmlns:ahyp="http://schemas.microsoft.com/office/drawing/2018/hyperlinkcolor" val="tx"/>
                              </a:ext>
                            </a:extLst>
                          </a:hlinkClick>
                        </a:rPr>
                        <a:t>https://docs.aws.amazon.com/awscloudtrail/latest/userguide/view-cloudtrail-events.html</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AWS Budgets の料金</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14" invalidUrl="" action="" tgtFrame="" tooltip="" history="1" highlightClick="0" endSnd="0">
                            <a:extLst>
                              <a:ext uri="{A12FA001-AC4F-418D-AE19-62706E023703}">
                                <ahyp:hlinkClr xmlns:ahyp="http://schemas.microsoft.com/office/drawing/2018/hyperlinkcolor" val="tx"/>
                              </a:ext>
                            </a:extLst>
                          </a:hlinkClick>
                        </a:rPr>
                        <a:t>https://aws.amazon.com/aws-cost-management/aws-budgets/pricing/</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Amazon ECS Express Mode</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15" invalidUrl="" action="" tgtFrame="" tooltip="" history="1" highlightClick="0" endSnd="0">
                            <a:extLst>
                              <a:ext uri="{A12FA001-AC4F-418D-AE19-62706E023703}">
                                <ahyp:hlinkClr xmlns:ahyp="http://schemas.microsoft.com/office/drawing/2018/hyperlinkcolor" val="tx"/>
                              </a:ext>
                            </a:extLst>
                          </a:hlinkClick>
                        </a:rPr>
                        <a:t>https://docs.aws.amazon.com/AmazonECS/latest/developerguide/express-service-overview.html</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chemeClr val="tx2"/>
                          </a:solidFill>
                        </a:rPr>
                        <a:t>AWS App Runner の提供状況</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u="sng" dirty="0">
                          <a:solidFill>
                            <a:schemeClr val="accent2"/>
                          </a:solidFill>
                          <a:hlinkClick r:id="rId16" invalidUrl="" action="" tgtFrame="" tooltip="" history="1" highlightClick="0" endSnd="0">
                            <a:extLst>
                              <a:ext uri="{A12FA001-AC4F-418D-AE19-62706E023703}">
                                <ahyp:hlinkClr xmlns:ahyp="http://schemas.microsoft.com/office/drawing/2018/hyperlinkcolor" val="tx"/>
                              </a:ext>
                            </a:extLst>
                          </a:hlinkClick>
                        </a:rPr>
                        <a:t>https://docs.aws.amazon.com/apprunner/latest/dg/apprunner-availability-change.html</a:t>
                      </a:r>
                      <a:endParaRPr lang="en-US" sz="1100" dirty="0"/>
                    </a:p>
                  </a:txBody>
                  <a:tcPr marL="0" marR="45720" marT="18288" marB="18288" anchor="ctr">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Formal Navy">
  <a:themeElements>
    <a:clrScheme name="Formal Navy">
      <a:dk1>
        <a:srgbClr val="23272F"/>
      </a:dk1>
      <a:lt1>
        <a:srgbClr val="FFFFFF"/>
      </a:lt1>
      <a:dk2>
        <a:srgbClr val="1B2A41"/>
      </a:dk2>
      <a:lt2>
        <a:srgbClr val="EEF2F7"/>
      </a:lt2>
      <a:accent1>
        <a:srgbClr val="1B2A41"/>
      </a:accent1>
      <a:accent2>
        <a:srgbClr val="1D7484"/>
      </a:accent2>
      <a:accent3>
        <a:srgbClr val="C9A23F"/>
      </a:accent3>
      <a:accent4>
        <a:srgbClr val="6B7280"/>
      </a:accent4>
      <a:accent5>
        <a:srgbClr val="3A5A8C"/>
      </a:accent5>
      <a:accent6>
        <a:srgbClr val="A23B3B"/>
      </a:accent6>
      <a:hlink>
        <a:srgbClr val="1D7484"/>
      </a:hlink>
      <a:folHlink>
        <a:srgbClr val="6B7280"/>
      </a:folHlink>
    </a:clrScheme>
    <a:fontScheme name="Formal Navy">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モック環境 システム構成のご提案</dc:title>
  <dc:subject>サンプルデータ解析 Web アプリケーション</dc:subject>
  <dc:creator/>
  <cp:lastModifiedBy/>
  <cp:revision>1</cp:revision>
  <dcterms:created xsi:type="dcterms:W3CDTF">2026-10-08T10:32:01Z</dcterms:created>
  <dcterms:modified xsi:type="dcterms:W3CDTF">2026-10-08T10:32:01Z</dcterms:modified>
</cp:coreProperties>
</file>